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6858000" cy="9144000" type="screen4x3"/>
  <p:notesSz cx="914400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334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4556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7.png"/><Relationship Id="rId4" Type="http://schemas.openxmlformats.org/officeDocument/2006/relationships/image" Target="../media/image1.png"/><Relationship Id="rId9"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6858000" cy="1600200"/>
          </a:xfrm>
          <a:prstGeom prst="rect">
            <a:avLst/>
          </a:prstGeom>
          <a:solidFill>
            <a:srgbClr val="005088"/>
          </a:solidFill>
          <a:ln w="12700">
            <a:solidFill>
              <a:srgbClr val="005088"/>
            </a:solidFill>
            <a:prstDash val="solid"/>
          </a:ln>
        </p:spPr>
        <p:txBody>
          <a:bodyPr/>
          <a:lstStyle/>
          <a:p>
            <a:endParaRPr/>
          </a:p>
        </p:txBody>
      </p:sp>
      <p:sp>
        <p:nvSpPr>
          <p:cNvPr id="3" name="Shape 1"/>
          <p:cNvSpPr/>
          <p:nvPr/>
        </p:nvSpPr>
        <p:spPr>
          <a:xfrm>
            <a:off x="0" y="0"/>
            <a:ext cx="6858000" cy="64008"/>
          </a:xfrm>
          <a:prstGeom prst="rect">
            <a:avLst/>
          </a:prstGeom>
          <a:solidFill>
            <a:srgbClr val="00AEEF"/>
          </a:solidFill>
          <a:ln w="12700">
            <a:solidFill>
              <a:srgbClr val="00AEEF"/>
            </a:solidFill>
            <a:prstDash val="solid"/>
          </a:ln>
        </p:spPr>
        <p:txBody>
          <a:bodyPr/>
          <a:lstStyle/>
          <a:p>
            <a:endParaRPr/>
          </a:p>
        </p:txBody>
      </p:sp>
      <p:pic>
        <p:nvPicPr>
          <p:cNvPr id="4" name="Image 0" descr="preencoded.png"/>
          <p:cNvPicPr>
            <a:picLocks noChangeAspect="1"/>
          </p:cNvPicPr>
          <p:nvPr/>
        </p:nvPicPr>
        <p:blipFill>
          <a:blip r:embed="rId3"/>
          <a:stretch>
            <a:fillRect/>
          </a:stretch>
        </p:blipFill>
        <p:spPr>
          <a:xfrm>
            <a:off x="5559552" y="137160"/>
            <a:ext cx="1115568" cy="795528"/>
          </a:xfrm>
          <a:prstGeom prst="rect">
            <a:avLst/>
          </a:prstGeom>
        </p:spPr>
      </p:pic>
      <p:sp>
        <p:nvSpPr>
          <p:cNvPr id="5" name="Text 2"/>
          <p:cNvSpPr/>
          <p:nvPr/>
        </p:nvSpPr>
        <p:spPr>
          <a:xfrm>
            <a:off x="274320" y="164592"/>
            <a:ext cx="5029200" cy="566928"/>
          </a:xfrm>
          <a:prstGeom prst="rect">
            <a:avLst/>
          </a:prstGeom>
          <a:noFill/>
          <a:ln/>
        </p:spPr>
        <p:txBody>
          <a:bodyPr wrap="square" lIns="0" tIns="0" rIns="0" bIns="0" rtlCol="0" anchor="ctr"/>
          <a:lstStyle/>
          <a:p>
            <a:pPr marL="0" indent="0">
              <a:buNone/>
            </a:pPr>
            <a:r>
              <a:rPr lang="en-US" sz="3000" b="1" kern="0" spc="300" dirty="0">
                <a:solidFill>
                  <a:srgbClr val="FFFFFF"/>
                </a:solidFill>
                <a:latin typeface="Cambria" pitchFamily="34" charset="0"/>
                <a:ea typeface="Cambria" pitchFamily="34" charset="-122"/>
                <a:cs typeface="Cambria" pitchFamily="34" charset="-120"/>
              </a:rPr>
              <a:t>PINNACLE PULSE</a:t>
            </a:r>
            <a:endParaRPr lang="en-US" sz="3000" dirty="0"/>
          </a:p>
        </p:txBody>
      </p:sp>
      <p:sp>
        <p:nvSpPr>
          <p:cNvPr id="6" name="Text 3"/>
          <p:cNvSpPr/>
          <p:nvPr/>
        </p:nvSpPr>
        <p:spPr>
          <a:xfrm>
            <a:off x="274320" y="713232"/>
            <a:ext cx="5029200" cy="347472"/>
          </a:xfrm>
          <a:prstGeom prst="rect">
            <a:avLst/>
          </a:prstGeom>
          <a:noFill/>
          <a:ln/>
        </p:spPr>
        <p:txBody>
          <a:bodyPr wrap="square" lIns="0" tIns="0" rIns="0" bIns="0" rtlCol="0" anchor="ctr"/>
          <a:lstStyle/>
          <a:p>
            <a:pPr marL="0" indent="0">
              <a:buNone/>
            </a:pPr>
            <a:r>
              <a:rPr lang="en-US" sz="1600" kern="0" spc="600" dirty="0">
                <a:solidFill>
                  <a:srgbClr val="00AEEF"/>
                </a:solidFill>
                <a:latin typeface="Calibri" pitchFamily="34" charset="0"/>
                <a:ea typeface="Calibri" pitchFamily="34" charset="-122"/>
                <a:cs typeface="Calibri" pitchFamily="34" charset="-120"/>
              </a:rPr>
              <a:t>NEWSLETTER</a:t>
            </a:r>
            <a:endParaRPr lang="en-US" sz="1600" dirty="0"/>
          </a:p>
        </p:txBody>
      </p:sp>
      <p:sp>
        <p:nvSpPr>
          <p:cNvPr id="7" name="Shape 4"/>
          <p:cNvSpPr/>
          <p:nvPr/>
        </p:nvSpPr>
        <p:spPr>
          <a:xfrm>
            <a:off x="274320" y="1143000"/>
            <a:ext cx="4114800" cy="27432"/>
          </a:xfrm>
          <a:prstGeom prst="rect">
            <a:avLst/>
          </a:prstGeom>
          <a:solidFill>
            <a:srgbClr val="00AEEF">
              <a:alpha val="45000"/>
            </a:srgbClr>
          </a:solidFill>
          <a:ln w="12700">
            <a:solidFill>
              <a:srgbClr val="00AEEF">
                <a:alpha val="45000"/>
              </a:srgbClr>
            </a:solidFill>
            <a:prstDash val="solid"/>
          </a:ln>
        </p:spPr>
        <p:txBody>
          <a:bodyPr/>
          <a:lstStyle/>
          <a:p>
            <a:endParaRPr/>
          </a:p>
        </p:txBody>
      </p:sp>
      <p:sp>
        <p:nvSpPr>
          <p:cNvPr id="8" name="Text 5"/>
          <p:cNvSpPr/>
          <p:nvPr/>
        </p:nvSpPr>
        <p:spPr>
          <a:xfrm>
            <a:off x="274320" y="1207008"/>
            <a:ext cx="5029200" cy="256032"/>
          </a:xfrm>
          <a:prstGeom prst="rect">
            <a:avLst/>
          </a:prstGeom>
          <a:noFill/>
          <a:ln/>
        </p:spPr>
        <p:txBody>
          <a:bodyPr wrap="square" lIns="0" tIns="0" rIns="0" bIns="0" rtlCol="0" anchor="ctr"/>
          <a:lstStyle/>
          <a:p>
            <a:pPr marL="0" indent="0">
              <a:buNone/>
            </a:pPr>
            <a:r>
              <a:rPr lang="en-US" sz="900" kern="0" spc="200" dirty="0">
                <a:solidFill>
                  <a:srgbClr val="7AB8D8"/>
                </a:solidFill>
                <a:latin typeface="Calibri" pitchFamily="34" charset="0"/>
                <a:ea typeface="Calibri" pitchFamily="34" charset="-122"/>
                <a:cs typeface="Calibri" pitchFamily="34" charset="-120"/>
              </a:rPr>
              <a:t>AUGUST 2026  •  ISSUE 01</a:t>
            </a:r>
            <a:endParaRPr lang="en-US" sz="900" dirty="0"/>
          </a:p>
        </p:txBody>
      </p:sp>
      <p:sp>
        <p:nvSpPr>
          <p:cNvPr id="9" name="Text 6"/>
          <p:cNvSpPr/>
          <p:nvPr/>
        </p:nvSpPr>
        <p:spPr>
          <a:xfrm>
            <a:off x="201168" y="2551176"/>
            <a:ext cx="4572000" cy="256032"/>
          </a:xfrm>
          <a:prstGeom prst="rect">
            <a:avLst/>
          </a:prstGeom>
          <a:noFill/>
          <a:ln/>
        </p:spPr>
        <p:txBody>
          <a:bodyPr wrap="square" lIns="0" tIns="0" rIns="0" bIns="0" rtlCol="0" anchor="ctr"/>
          <a:lstStyle/>
          <a:p>
            <a:pPr marL="0" indent="0">
              <a:buNone/>
            </a:pPr>
            <a:r>
              <a:rPr lang="en-US" sz="1150" b="1" kern="0" spc="200" dirty="0">
                <a:solidFill>
                  <a:srgbClr val="005088"/>
                </a:solidFill>
                <a:latin typeface="Cambria" pitchFamily="34" charset="0"/>
                <a:ea typeface="Cambria" pitchFamily="34" charset="-122"/>
                <a:cs typeface="Cambria" pitchFamily="34" charset="-120"/>
              </a:rPr>
              <a:t>STORE NOMINEES</a:t>
            </a:r>
            <a:endParaRPr lang="en-US" sz="1150" dirty="0"/>
          </a:p>
        </p:txBody>
      </p:sp>
      <p:sp>
        <p:nvSpPr>
          <p:cNvPr id="10" name="Text 7"/>
          <p:cNvSpPr/>
          <p:nvPr/>
        </p:nvSpPr>
        <p:spPr>
          <a:xfrm>
            <a:off x="201168" y="2788920"/>
            <a:ext cx="3474720" cy="164592"/>
          </a:xfrm>
          <a:prstGeom prst="rect">
            <a:avLst/>
          </a:prstGeom>
          <a:noFill/>
          <a:ln/>
        </p:spPr>
        <p:txBody>
          <a:bodyPr wrap="square" lIns="0" tIns="0" rIns="0" bIns="0"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Each store's best this month — one will be crowned Pinnacle MVP.</a:t>
            </a:r>
            <a:endParaRPr lang="en-US" sz="800" dirty="0"/>
          </a:p>
        </p:txBody>
      </p:sp>
      <p:sp>
        <p:nvSpPr>
          <p:cNvPr id="11" name="Text 8"/>
          <p:cNvSpPr/>
          <p:nvPr/>
        </p:nvSpPr>
        <p:spPr>
          <a:xfrm>
            <a:off x="3493008" y="2788920"/>
            <a:ext cx="3145536" cy="164592"/>
          </a:xfrm>
          <a:prstGeom prst="rect">
            <a:avLst/>
          </a:prstGeom>
          <a:noFill/>
          <a:ln/>
        </p:spPr>
        <p:txBody>
          <a:bodyPr wrap="square" lIns="0" tIns="0" rIns="0" bIns="0" rtlCol="0" anchor="ctr"/>
          <a:lstStyle/>
          <a:p>
            <a:pPr marL="0" indent="0" algn="r">
              <a:buNone/>
            </a:pPr>
            <a:r>
              <a:rPr lang="en-US" sz="750" i="1" dirty="0">
                <a:solidFill>
                  <a:srgbClr val="00AEEF"/>
                </a:solidFill>
                <a:latin typeface="Calibri" pitchFamily="34" charset="0"/>
                <a:ea typeface="Calibri" pitchFamily="34" charset="-122"/>
                <a:cs typeface="Calibri" pitchFamily="34" charset="-120"/>
              </a:rPr>
              <a:t>Nominations based on teamwork, guest feedback, reliability, leadership &amp; living our values.</a:t>
            </a:r>
            <a:endParaRPr lang="en-US" sz="750" dirty="0"/>
          </a:p>
        </p:txBody>
      </p:sp>
      <p:sp>
        <p:nvSpPr>
          <p:cNvPr id="12" name="Shape 9"/>
          <p:cNvSpPr/>
          <p:nvPr/>
        </p:nvSpPr>
        <p:spPr>
          <a:xfrm>
            <a:off x="201168" y="3008376"/>
            <a:ext cx="3108960" cy="402336"/>
          </a:xfrm>
          <a:prstGeom prst="roundRect">
            <a:avLst>
              <a:gd name="adj" fmla="val 18182"/>
            </a:avLst>
          </a:prstGeom>
          <a:solidFill>
            <a:srgbClr val="EAF5FC"/>
          </a:solidFill>
          <a:ln w="12700">
            <a:solidFill>
              <a:srgbClr val="00AEEF">
                <a:alpha val="45000"/>
              </a:srgbClr>
            </a:solidFill>
            <a:prstDash val="solid"/>
          </a:ln>
          <a:effectLst>
            <a:outerShdw blurRad="76200" dist="25400" dir="2700000" algn="bl" rotWithShape="0">
              <a:srgbClr val="000000">
                <a:alpha val="10000"/>
              </a:srgbClr>
            </a:outerShdw>
          </a:effectLst>
        </p:spPr>
        <p:txBody>
          <a:bodyPr/>
          <a:lstStyle/>
          <a:p>
            <a:endParaRPr/>
          </a:p>
        </p:txBody>
      </p:sp>
      <p:sp>
        <p:nvSpPr>
          <p:cNvPr id="13" name="Shape 10"/>
          <p:cNvSpPr/>
          <p:nvPr/>
        </p:nvSpPr>
        <p:spPr>
          <a:xfrm>
            <a:off x="310896" y="3145536"/>
            <a:ext cx="118872" cy="118872"/>
          </a:xfrm>
          <a:prstGeom prst="ellipse">
            <a:avLst/>
          </a:prstGeom>
          <a:solidFill>
            <a:srgbClr val="00AEEF"/>
          </a:solidFill>
          <a:ln w="12700">
            <a:solidFill>
              <a:srgbClr val="00AEEF"/>
            </a:solidFill>
            <a:prstDash val="solid"/>
          </a:ln>
        </p:spPr>
        <p:txBody>
          <a:bodyPr/>
          <a:lstStyle/>
          <a:p>
            <a:endParaRPr/>
          </a:p>
        </p:txBody>
      </p:sp>
      <p:sp>
        <p:nvSpPr>
          <p:cNvPr id="14" name="Text 11"/>
          <p:cNvSpPr/>
          <p:nvPr/>
        </p:nvSpPr>
        <p:spPr>
          <a:xfrm>
            <a:off x="493776" y="3044952"/>
            <a:ext cx="2651760" cy="182880"/>
          </a:xfrm>
          <a:prstGeom prst="rect">
            <a:avLst/>
          </a:prstGeom>
          <a:noFill/>
          <a:ln/>
        </p:spPr>
        <p:txBody>
          <a:bodyPr wrap="square" lIns="0" tIns="0" rIns="0" bIns="0" rtlCol="0" anchor="ctr"/>
          <a:lstStyle/>
          <a:p>
            <a:pPr marL="0" indent="0">
              <a:buNone/>
            </a:pPr>
            <a:r>
              <a:rPr lang="en-US" sz="1000" b="1" dirty="0">
                <a:solidFill>
                  <a:srgbClr val="005088"/>
                </a:solidFill>
                <a:latin typeface="Calibri" pitchFamily="34" charset="0"/>
                <a:ea typeface="Calibri" pitchFamily="34" charset="-122"/>
                <a:cs typeface="Calibri" pitchFamily="34" charset="-120"/>
              </a:rPr>
              <a:t>[Name]</a:t>
            </a:r>
            <a:endParaRPr lang="en-US" sz="1000" dirty="0"/>
          </a:p>
        </p:txBody>
      </p:sp>
      <p:sp>
        <p:nvSpPr>
          <p:cNvPr id="15" name="Text 12"/>
          <p:cNvSpPr/>
          <p:nvPr/>
        </p:nvSpPr>
        <p:spPr>
          <a:xfrm>
            <a:off x="493776" y="3227832"/>
            <a:ext cx="2651760" cy="146304"/>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Oporto Ulladulla</a:t>
            </a:r>
            <a:endParaRPr lang="en-US" sz="750" dirty="0"/>
          </a:p>
        </p:txBody>
      </p:sp>
      <p:sp>
        <p:nvSpPr>
          <p:cNvPr id="16" name="Shape 13"/>
          <p:cNvSpPr/>
          <p:nvPr/>
        </p:nvSpPr>
        <p:spPr>
          <a:xfrm>
            <a:off x="3493008" y="3008376"/>
            <a:ext cx="3108960" cy="402336"/>
          </a:xfrm>
          <a:prstGeom prst="roundRect">
            <a:avLst>
              <a:gd name="adj" fmla="val 18182"/>
            </a:avLst>
          </a:prstGeom>
          <a:solidFill>
            <a:srgbClr val="EAF5FC"/>
          </a:solidFill>
          <a:ln w="12700">
            <a:solidFill>
              <a:srgbClr val="00AEEF">
                <a:alpha val="45000"/>
              </a:srgbClr>
            </a:solidFill>
            <a:prstDash val="solid"/>
          </a:ln>
          <a:effectLst>
            <a:outerShdw blurRad="76200" dist="25400" dir="2700000" algn="bl" rotWithShape="0">
              <a:srgbClr val="000000">
                <a:alpha val="10000"/>
              </a:srgbClr>
            </a:outerShdw>
          </a:effectLst>
        </p:spPr>
        <p:txBody>
          <a:bodyPr/>
          <a:lstStyle/>
          <a:p>
            <a:endParaRPr/>
          </a:p>
        </p:txBody>
      </p:sp>
      <p:sp>
        <p:nvSpPr>
          <p:cNvPr id="17" name="Shape 14"/>
          <p:cNvSpPr/>
          <p:nvPr/>
        </p:nvSpPr>
        <p:spPr>
          <a:xfrm>
            <a:off x="3602736" y="3145536"/>
            <a:ext cx="118872" cy="118872"/>
          </a:xfrm>
          <a:prstGeom prst="ellipse">
            <a:avLst/>
          </a:prstGeom>
          <a:solidFill>
            <a:srgbClr val="00AEEF"/>
          </a:solidFill>
          <a:ln w="12700">
            <a:solidFill>
              <a:srgbClr val="00AEEF"/>
            </a:solidFill>
            <a:prstDash val="solid"/>
          </a:ln>
        </p:spPr>
        <p:txBody>
          <a:bodyPr/>
          <a:lstStyle/>
          <a:p>
            <a:endParaRPr/>
          </a:p>
        </p:txBody>
      </p:sp>
      <p:sp>
        <p:nvSpPr>
          <p:cNvPr id="18" name="Text 15"/>
          <p:cNvSpPr/>
          <p:nvPr/>
        </p:nvSpPr>
        <p:spPr>
          <a:xfrm>
            <a:off x="3785616" y="3044952"/>
            <a:ext cx="2651760" cy="182880"/>
          </a:xfrm>
          <a:prstGeom prst="rect">
            <a:avLst/>
          </a:prstGeom>
          <a:noFill/>
          <a:ln/>
        </p:spPr>
        <p:txBody>
          <a:bodyPr wrap="square" lIns="0" tIns="0" rIns="0" bIns="0" rtlCol="0" anchor="ctr"/>
          <a:lstStyle/>
          <a:p>
            <a:pPr marL="0" indent="0">
              <a:buNone/>
            </a:pPr>
            <a:r>
              <a:rPr lang="en-US" sz="1000" b="1" dirty="0">
                <a:solidFill>
                  <a:srgbClr val="005088"/>
                </a:solidFill>
                <a:latin typeface="Calibri" pitchFamily="34" charset="0"/>
                <a:ea typeface="Calibri" pitchFamily="34" charset="-122"/>
                <a:cs typeface="Calibri" pitchFamily="34" charset="-120"/>
              </a:rPr>
              <a:t>[Name]</a:t>
            </a:r>
            <a:endParaRPr lang="en-US" sz="1000" dirty="0"/>
          </a:p>
        </p:txBody>
      </p:sp>
      <p:sp>
        <p:nvSpPr>
          <p:cNvPr id="19" name="Text 16"/>
          <p:cNvSpPr/>
          <p:nvPr/>
        </p:nvSpPr>
        <p:spPr>
          <a:xfrm>
            <a:off x="3785616" y="3227832"/>
            <a:ext cx="2651760" cy="146304"/>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Oporto Warrawong</a:t>
            </a:r>
            <a:endParaRPr lang="en-US" sz="750" dirty="0"/>
          </a:p>
        </p:txBody>
      </p:sp>
      <p:sp>
        <p:nvSpPr>
          <p:cNvPr id="20" name="Shape 17"/>
          <p:cNvSpPr/>
          <p:nvPr/>
        </p:nvSpPr>
        <p:spPr>
          <a:xfrm>
            <a:off x="201168" y="3483864"/>
            <a:ext cx="3108960" cy="402336"/>
          </a:xfrm>
          <a:prstGeom prst="roundRect">
            <a:avLst>
              <a:gd name="adj" fmla="val 18182"/>
            </a:avLst>
          </a:prstGeom>
          <a:solidFill>
            <a:srgbClr val="EAF5FC"/>
          </a:solidFill>
          <a:ln w="12700">
            <a:solidFill>
              <a:srgbClr val="00AEEF">
                <a:alpha val="45000"/>
              </a:srgbClr>
            </a:solidFill>
            <a:prstDash val="solid"/>
          </a:ln>
          <a:effectLst>
            <a:outerShdw blurRad="76200" dist="25400" dir="2700000" algn="bl" rotWithShape="0">
              <a:srgbClr val="000000">
                <a:alpha val="10000"/>
              </a:srgbClr>
            </a:outerShdw>
          </a:effectLst>
        </p:spPr>
        <p:txBody>
          <a:bodyPr/>
          <a:lstStyle/>
          <a:p>
            <a:endParaRPr/>
          </a:p>
        </p:txBody>
      </p:sp>
      <p:sp>
        <p:nvSpPr>
          <p:cNvPr id="21" name="Shape 18"/>
          <p:cNvSpPr/>
          <p:nvPr/>
        </p:nvSpPr>
        <p:spPr>
          <a:xfrm>
            <a:off x="310896" y="3621024"/>
            <a:ext cx="118872" cy="118872"/>
          </a:xfrm>
          <a:prstGeom prst="ellipse">
            <a:avLst/>
          </a:prstGeom>
          <a:solidFill>
            <a:srgbClr val="00AEEF"/>
          </a:solidFill>
          <a:ln w="12700">
            <a:solidFill>
              <a:srgbClr val="00AEEF"/>
            </a:solidFill>
            <a:prstDash val="solid"/>
          </a:ln>
        </p:spPr>
        <p:txBody>
          <a:bodyPr/>
          <a:lstStyle/>
          <a:p>
            <a:endParaRPr/>
          </a:p>
        </p:txBody>
      </p:sp>
      <p:sp>
        <p:nvSpPr>
          <p:cNvPr id="22" name="Text 19"/>
          <p:cNvSpPr/>
          <p:nvPr/>
        </p:nvSpPr>
        <p:spPr>
          <a:xfrm>
            <a:off x="493776" y="3520440"/>
            <a:ext cx="2651760" cy="182880"/>
          </a:xfrm>
          <a:prstGeom prst="rect">
            <a:avLst/>
          </a:prstGeom>
          <a:noFill/>
          <a:ln/>
        </p:spPr>
        <p:txBody>
          <a:bodyPr wrap="square" lIns="0" tIns="0" rIns="0" bIns="0" rtlCol="0" anchor="ctr"/>
          <a:lstStyle/>
          <a:p>
            <a:pPr marL="0" indent="0">
              <a:buNone/>
            </a:pPr>
            <a:r>
              <a:rPr lang="en-US" sz="1000" b="1" dirty="0">
                <a:solidFill>
                  <a:srgbClr val="005088"/>
                </a:solidFill>
                <a:latin typeface="Calibri" pitchFamily="34" charset="0"/>
                <a:ea typeface="Calibri" pitchFamily="34" charset="-122"/>
                <a:cs typeface="Calibri" pitchFamily="34" charset="-120"/>
              </a:rPr>
              <a:t>[Name]</a:t>
            </a:r>
            <a:endParaRPr lang="en-US" sz="1000" dirty="0"/>
          </a:p>
        </p:txBody>
      </p:sp>
      <p:sp>
        <p:nvSpPr>
          <p:cNvPr id="23" name="Text 20"/>
          <p:cNvSpPr/>
          <p:nvPr/>
        </p:nvSpPr>
        <p:spPr>
          <a:xfrm>
            <a:off x="493776" y="3703320"/>
            <a:ext cx="2651760" cy="146304"/>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Oporto Wodonga</a:t>
            </a:r>
            <a:endParaRPr lang="en-US" sz="750" dirty="0"/>
          </a:p>
        </p:txBody>
      </p:sp>
      <p:sp>
        <p:nvSpPr>
          <p:cNvPr id="24" name="Shape 21"/>
          <p:cNvSpPr/>
          <p:nvPr/>
        </p:nvSpPr>
        <p:spPr>
          <a:xfrm>
            <a:off x="3493008" y="3483864"/>
            <a:ext cx="3108960" cy="402336"/>
          </a:xfrm>
          <a:prstGeom prst="roundRect">
            <a:avLst>
              <a:gd name="adj" fmla="val 18182"/>
            </a:avLst>
          </a:prstGeom>
          <a:solidFill>
            <a:srgbClr val="EAF5FC"/>
          </a:solidFill>
          <a:ln w="12700">
            <a:solidFill>
              <a:srgbClr val="00AEEF">
                <a:alpha val="45000"/>
              </a:srgbClr>
            </a:solidFill>
            <a:prstDash val="solid"/>
          </a:ln>
          <a:effectLst>
            <a:outerShdw blurRad="76200" dist="25400" dir="2700000" algn="bl" rotWithShape="0">
              <a:srgbClr val="000000">
                <a:alpha val="10000"/>
              </a:srgbClr>
            </a:outerShdw>
          </a:effectLst>
        </p:spPr>
        <p:txBody>
          <a:bodyPr/>
          <a:lstStyle/>
          <a:p>
            <a:endParaRPr/>
          </a:p>
        </p:txBody>
      </p:sp>
      <p:sp>
        <p:nvSpPr>
          <p:cNvPr id="25" name="Shape 22"/>
          <p:cNvSpPr/>
          <p:nvPr/>
        </p:nvSpPr>
        <p:spPr>
          <a:xfrm>
            <a:off x="3602736" y="3621024"/>
            <a:ext cx="118872" cy="118872"/>
          </a:xfrm>
          <a:prstGeom prst="ellipse">
            <a:avLst/>
          </a:prstGeom>
          <a:solidFill>
            <a:srgbClr val="00AEEF"/>
          </a:solidFill>
          <a:ln w="12700">
            <a:solidFill>
              <a:srgbClr val="00AEEF"/>
            </a:solidFill>
            <a:prstDash val="solid"/>
          </a:ln>
        </p:spPr>
        <p:txBody>
          <a:bodyPr/>
          <a:lstStyle/>
          <a:p>
            <a:endParaRPr/>
          </a:p>
        </p:txBody>
      </p:sp>
      <p:sp>
        <p:nvSpPr>
          <p:cNvPr id="26" name="Text 23"/>
          <p:cNvSpPr/>
          <p:nvPr/>
        </p:nvSpPr>
        <p:spPr>
          <a:xfrm>
            <a:off x="3785616" y="3520440"/>
            <a:ext cx="2651760" cy="182880"/>
          </a:xfrm>
          <a:prstGeom prst="rect">
            <a:avLst/>
          </a:prstGeom>
          <a:noFill/>
          <a:ln/>
        </p:spPr>
        <p:txBody>
          <a:bodyPr wrap="square" lIns="0" tIns="0" rIns="0" bIns="0" rtlCol="0" anchor="ctr"/>
          <a:lstStyle/>
          <a:p>
            <a:pPr marL="0" indent="0">
              <a:buNone/>
            </a:pPr>
            <a:r>
              <a:rPr lang="en-US" sz="1000" b="1" dirty="0">
                <a:solidFill>
                  <a:srgbClr val="005088"/>
                </a:solidFill>
                <a:latin typeface="Calibri" pitchFamily="34" charset="0"/>
                <a:ea typeface="Calibri" pitchFamily="34" charset="-122"/>
                <a:cs typeface="Calibri" pitchFamily="34" charset="-120"/>
              </a:rPr>
              <a:t>[Name]</a:t>
            </a:r>
            <a:endParaRPr lang="en-US" sz="1000" dirty="0"/>
          </a:p>
        </p:txBody>
      </p:sp>
      <p:sp>
        <p:nvSpPr>
          <p:cNvPr id="27" name="Text 24"/>
          <p:cNvSpPr/>
          <p:nvPr/>
        </p:nvSpPr>
        <p:spPr>
          <a:xfrm>
            <a:off x="3785616" y="3703320"/>
            <a:ext cx="2651760" cy="146304"/>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Zambrero Cessnock</a:t>
            </a:r>
            <a:endParaRPr lang="en-US" sz="750" dirty="0"/>
          </a:p>
        </p:txBody>
      </p:sp>
      <p:sp>
        <p:nvSpPr>
          <p:cNvPr id="28" name="Shape 25"/>
          <p:cNvSpPr/>
          <p:nvPr/>
        </p:nvSpPr>
        <p:spPr>
          <a:xfrm>
            <a:off x="201168" y="3959352"/>
            <a:ext cx="3108960" cy="402336"/>
          </a:xfrm>
          <a:prstGeom prst="roundRect">
            <a:avLst>
              <a:gd name="adj" fmla="val 18182"/>
            </a:avLst>
          </a:prstGeom>
          <a:solidFill>
            <a:srgbClr val="EAF5FC"/>
          </a:solidFill>
          <a:ln w="12700">
            <a:solidFill>
              <a:srgbClr val="00AEEF">
                <a:alpha val="45000"/>
              </a:srgbClr>
            </a:solidFill>
            <a:prstDash val="solid"/>
          </a:ln>
          <a:effectLst>
            <a:outerShdw blurRad="76200" dist="25400" dir="2700000" algn="bl" rotWithShape="0">
              <a:srgbClr val="000000">
                <a:alpha val="10000"/>
              </a:srgbClr>
            </a:outerShdw>
          </a:effectLst>
        </p:spPr>
        <p:txBody>
          <a:bodyPr/>
          <a:lstStyle/>
          <a:p>
            <a:endParaRPr/>
          </a:p>
        </p:txBody>
      </p:sp>
      <p:sp>
        <p:nvSpPr>
          <p:cNvPr id="29" name="Shape 26"/>
          <p:cNvSpPr/>
          <p:nvPr/>
        </p:nvSpPr>
        <p:spPr>
          <a:xfrm>
            <a:off x="310896" y="4096512"/>
            <a:ext cx="118872" cy="118872"/>
          </a:xfrm>
          <a:prstGeom prst="ellipse">
            <a:avLst/>
          </a:prstGeom>
          <a:solidFill>
            <a:srgbClr val="00AEEF"/>
          </a:solidFill>
          <a:ln w="12700">
            <a:solidFill>
              <a:srgbClr val="00AEEF"/>
            </a:solidFill>
            <a:prstDash val="solid"/>
          </a:ln>
        </p:spPr>
        <p:txBody>
          <a:bodyPr/>
          <a:lstStyle/>
          <a:p>
            <a:endParaRPr/>
          </a:p>
        </p:txBody>
      </p:sp>
      <p:sp>
        <p:nvSpPr>
          <p:cNvPr id="30" name="Text 27"/>
          <p:cNvSpPr/>
          <p:nvPr/>
        </p:nvSpPr>
        <p:spPr>
          <a:xfrm>
            <a:off x="493776" y="3995928"/>
            <a:ext cx="2651760" cy="182880"/>
          </a:xfrm>
          <a:prstGeom prst="rect">
            <a:avLst/>
          </a:prstGeom>
          <a:noFill/>
          <a:ln/>
        </p:spPr>
        <p:txBody>
          <a:bodyPr wrap="square" lIns="0" tIns="0" rIns="0" bIns="0" rtlCol="0" anchor="ctr"/>
          <a:lstStyle/>
          <a:p>
            <a:pPr marL="0" indent="0">
              <a:buNone/>
            </a:pPr>
            <a:r>
              <a:rPr lang="en-US" sz="1000" b="1" dirty="0">
                <a:solidFill>
                  <a:srgbClr val="005088"/>
                </a:solidFill>
                <a:latin typeface="Calibri" pitchFamily="34" charset="0"/>
                <a:ea typeface="Calibri" pitchFamily="34" charset="-122"/>
                <a:cs typeface="Calibri" pitchFamily="34" charset="-120"/>
              </a:rPr>
              <a:t>[Name]</a:t>
            </a:r>
            <a:endParaRPr lang="en-US" sz="1000" dirty="0"/>
          </a:p>
        </p:txBody>
      </p:sp>
      <p:sp>
        <p:nvSpPr>
          <p:cNvPr id="31" name="Text 28"/>
          <p:cNvSpPr/>
          <p:nvPr/>
        </p:nvSpPr>
        <p:spPr>
          <a:xfrm>
            <a:off x="493776" y="4178808"/>
            <a:ext cx="2651760" cy="146304"/>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Zambrero Coogee</a:t>
            </a:r>
            <a:endParaRPr lang="en-US" sz="750" dirty="0"/>
          </a:p>
        </p:txBody>
      </p:sp>
      <p:sp>
        <p:nvSpPr>
          <p:cNvPr id="32" name="Shape 29"/>
          <p:cNvSpPr/>
          <p:nvPr/>
        </p:nvSpPr>
        <p:spPr>
          <a:xfrm>
            <a:off x="3493008" y="3959352"/>
            <a:ext cx="3108960" cy="402336"/>
          </a:xfrm>
          <a:prstGeom prst="roundRect">
            <a:avLst>
              <a:gd name="adj" fmla="val 18182"/>
            </a:avLst>
          </a:prstGeom>
          <a:solidFill>
            <a:srgbClr val="EAF5FC"/>
          </a:solidFill>
          <a:ln w="12700">
            <a:solidFill>
              <a:srgbClr val="00AEEF">
                <a:alpha val="45000"/>
              </a:srgbClr>
            </a:solidFill>
            <a:prstDash val="solid"/>
          </a:ln>
          <a:effectLst>
            <a:outerShdw blurRad="76200" dist="25400" dir="2700000" algn="bl" rotWithShape="0">
              <a:srgbClr val="000000">
                <a:alpha val="10000"/>
              </a:srgbClr>
            </a:outerShdw>
          </a:effectLst>
        </p:spPr>
        <p:txBody>
          <a:bodyPr/>
          <a:lstStyle/>
          <a:p>
            <a:endParaRPr/>
          </a:p>
        </p:txBody>
      </p:sp>
      <p:sp>
        <p:nvSpPr>
          <p:cNvPr id="33" name="Shape 30"/>
          <p:cNvSpPr/>
          <p:nvPr/>
        </p:nvSpPr>
        <p:spPr>
          <a:xfrm>
            <a:off x="3602736" y="4096512"/>
            <a:ext cx="118872" cy="118872"/>
          </a:xfrm>
          <a:prstGeom prst="ellipse">
            <a:avLst/>
          </a:prstGeom>
          <a:solidFill>
            <a:srgbClr val="00AEEF"/>
          </a:solidFill>
          <a:ln w="12700">
            <a:solidFill>
              <a:srgbClr val="00AEEF"/>
            </a:solidFill>
            <a:prstDash val="solid"/>
          </a:ln>
        </p:spPr>
        <p:txBody>
          <a:bodyPr/>
          <a:lstStyle/>
          <a:p>
            <a:endParaRPr/>
          </a:p>
        </p:txBody>
      </p:sp>
      <p:sp>
        <p:nvSpPr>
          <p:cNvPr id="34" name="Text 31"/>
          <p:cNvSpPr/>
          <p:nvPr/>
        </p:nvSpPr>
        <p:spPr>
          <a:xfrm>
            <a:off x="3785616" y="3995928"/>
            <a:ext cx="2651760" cy="182880"/>
          </a:xfrm>
          <a:prstGeom prst="rect">
            <a:avLst/>
          </a:prstGeom>
          <a:noFill/>
          <a:ln/>
        </p:spPr>
        <p:txBody>
          <a:bodyPr wrap="square" lIns="0" tIns="0" rIns="0" bIns="0" rtlCol="0" anchor="ctr"/>
          <a:lstStyle/>
          <a:p>
            <a:pPr marL="0" indent="0">
              <a:buNone/>
            </a:pPr>
            <a:r>
              <a:rPr lang="en-US" sz="1000" b="1" dirty="0">
                <a:solidFill>
                  <a:srgbClr val="005088"/>
                </a:solidFill>
                <a:latin typeface="Calibri" pitchFamily="34" charset="0"/>
                <a:ea typeface="Calibri" pitchFamily="34" charset="-122"/>
                <a:cs typeface="Calibri" pitchFamily="34" charset="-120"/>
              </a:rPr>
              <a:t>[Name]</a:t>
            </a:r>
            <a:endParaRPr lang="en-US" sz="1000" dirty="0"/>
          </a:p>
        </p:txBody>
      </p:sp>
      <p:sp>
        <p:nvSpPr>
          <p:cNvPr id="35" name="Text 32"/>
          <p:cNvSpPr/>
          <p:nvPr/>
        </p:nvSpPr>
        <p:spPr>
          <a:xfrm>
            <a:off x="3785616" y="4178808"/>
            <a:ext cx="2651760" cy="146304"/>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Zambrero Coffs Harbour</a:t>
            </a:r>
            <a:endParaRPr lang="en-US" sz="750" dirty="0"/>
          </a:p>
        </p:txBody>
      </p:sp>
      <p:pic>
        <p:nvPicPr>
          <p:cNvPr id="40" name="Image 1" descr="preencoded.png"/>
          <p:cNvPicPr>
            <a:picLocks noChangeAspect="1"/>
          </p:cNvPicPr>
          <p:nvPr/>
        </p:nvPicPr>
        <p:blipFill>
          <a:blip r:embed="rId4"/>
          <a:stretch>
            <a:fillRect/>
          </a:stretch>
        </p:blipFill>
        <p:spPr>
          <a:xfrm>
            <a:off x="201168" y="4983480"/>
            <a:ext cx="329184" cy="329184"/>
          </a:xfrm>
          <a:prstGeom prst="rect">
            <a:avLst/>
          </a:prstGeom>
        </p:spPr>
      </p:pic>
      <p:sp>
        <p:nvSpPr>
          <p:cNvPr id="41" name="Text 37"/>
          <p:cNvSpPr/>
          <p:nvPr/>
        </p:nvSpPr>
        <p:spPr>
          <a:xfrm>
            <a:off x="621792" y="5010912"/>
            <a:ext cx="5943600" cy="256032"/>
          </a:xfrm>
          <a:prstGeom prst="rect">
            <a:avLst/>
          </a:prstGeom>
          <a:noFill/>
          <a:ln/>
        </p:spPr>
        <p:txBody>
          <a:bodyPr wrap="square" lIns="0" tIns="0" rIns="0" bIns="0" rtlCol="0" anchor="ctr"/>
          <a:lstStyle/>
          <a:p>
            <a:pPr marL="0" indent="0">
              <a:buNone/>
            </a:pPr>
            <a:r>
              <a:rPr lang="en-US" sz="950" b="1" kern="0" spc="150" dirty="0">
                <a:solidFill>
                  <a:srgbClr val="005088"/>
                </a:solidFill>
                <a:latin typeface="Cambria" pitchFamily="34" charset="0"/>
                <a:ea typeface="Cambria" pitchFamily="34" charset="-122"/>
                <a:cs typeface="Cambria" pitchFamily="34" charset="-120"/>
              </a:rPr>
              <a:t>PINNACLE MVP  •  CREW MEMBER OF THE MONTH</a:t>
            </a:r>
            <a:endParaRPr lang="en-US" sz="950" dirty="0"/>
          </a:p>
        </p:txBody>
      </p:sp>
      <p:sp>
        <p:nvSpPr>
          <p:cNvPr id="42" name="Shape 38"/>
          <p:cNvSpPr/>
          <p:nvPr/>
        </p:nvSpPr>
        <p:spPr>
          <a:xfrm>
            <a:off x="201168" y="5312664"/>
            <a:ext cx="6455664" cy="2084832"/>
          </a:xfrm>
          <a:prstGeom prst="roundRect">
            <a:avLst>
              <a:gd name="adj" fmla="val 6140"/>
            </a:avLst>
          </a:prstGeom>
          <a:solidFill>
            <a:srgbClr val="005088"/>
          </a:solidFill>
          <a:ln w="12700">
            <a:solidFill>
              <a:srgbClr val="005088"/>
            </a:solidFill>
            <a:prstDash val="solid"/>
          </a:ln>
          <a:effectLst>
            <a:outerShdw blurRad="76200" dist="25400" dir="2700000" algn="bl" rotWithShape="0">
              <a:srgbClr val="000000">
                <a:alpha val="10000"/>
              </a:srgbClr>
            </a:outerShdw>
          </a:effectLst>
        </p:spPr>
        <p:txBody>
          <a:bodyPr/>
          <a:lstStyle/>
          <a:p>
            <a:endParaRPr/>
          </a:p>
        </p:txBody>
      </p:sp>
      <p:sp>
        <p:nvSpPr>
          <p:cNvPr id="43" name="Shape 39"/>
          <p:cNvSpPr/>
          <p:nvPr/>
        </p:nvSpPr>
        <p:spPr>
          <a:xfrm>
            <a:off x="475488" y="5458968"/>
            <a:ext cx="1719072" cy="1719072"/>
          </a:xfrm>
          <a:prstGeom prst="roundRect">
            <a:avLst>
              <a:gd name="adj" fmla="val 5319"/>
            </a:avLst>
          </a:prstGeom>
          <a:solidFill>
            <a:srgbClr val="003A66"/>
          </a:solidFill>
          <a:ln w="12700">
            <a:solidFill>
              <a:srgbClr val="00AEEF">
                <a:alpha val="70000"/>
              </a:srgbClr>
            </a:solidFill>
            <a:prstDash val="solid"/>
          </a:ln>
        </p:spPr>
        <p:txBody>
          <a:bodyPr/>
          <a:lstStyle/>
          <a:p>
            <a:endParaRPr/>
          </a:p>
        </p:txBody>
      </p:sp>
      <p:sp>
        <p:nvSpPr>
          <p:cNvPr id="44" name="Text 40"/>
          <p:cNvSpPr/>
          <p:nvPr/>
        </p:nvSpPr>
        <p:spPr>
          <a:xfrm>
            <a:off x="475488" y="5458968"/>
            <a:ext cx="1719072" cy="1719072"/>
          </a:xfrm>
          <a:prstGeom prst="rect">
            <a:avLst/>
          </a:prstGeom>
          <a:noFill/>
          <a:ln/>
        </p:spPr>
        <p:txBody>
          <a:bodyPr wrap="square" rtlCol="0" anchor="ctr"/>
          <a:lstStyle/>
          <a:p>
            <a:pPr marL="0" indent="0" algn="ctr">
              <a:buNone/>
            </a:pPr>
            <a:r>
              <a:rPr lang="en-US" sz="900" i="1" dirty="0">
                <a:solidFill>
                  <a:srgbClr val="4A7FA8"/>
                </a:solidFill>
                <a:latin typeface="Calibri" pitchFamily="34" charset="0"/>
                <a:ea typeface="Calibri" pitchFamily="34" charset="-122"/>
                <a:cs typeface="Calibri" pitchFamily="34" charset="-120"/>
              </a:rPr>
              <a:t>[ PHOTO ]</a:t>
            </a:r>
            <a:endParaRPr lang="en-US" sz="900" dirty="0"/>
          </a:p>
        </p:txBody>
      </p:sp>
      <p:pic>
        <p:nvPicPr>
          <p:cNvPr id="45" name="Image 2" descr="preencoded.png"/>
          <p:cNvPicPr>
            <a:picLocks noChangeAspect="1"/>
          </p:cNvPicPr>
          <p:nvPr/>
        </p:nvPicPr>
        <p:blipFill>
          <a:blip r:embed="rId5"/>
          <a:stretch>
            <a:fillRect/>
          </a:stretch>
        </p:blipFill>
        <p:spPr>
          <a:xfrm>
            <a:off x="2395728" y="5532120"/>
            <a:ext cx="256032" cy="256032"/>
          </a:xfrm>
          <a:prstGeom prst="rect">
            <a:avLst/>
          </a:prstGeom>
        </p:spPr>
      </p:pic>
      <p:sp>
        <p:nvSpPr>
          <p:cNvPr id="46" name="Text 41"/>
          <p:cNvSpPr/>
          <p:nvPr/>
        </p:nvSpPr>
        <p:spPr>
          <a:xfrm>
            <a:off x="2706624" y="5550408"/>
            <a:ext cx="3840480" cy="219456"/>
          </a:xfrm>
          <a:prstGeom prst="rect">
            <a:avLst/>
          </a:prstGeom>
          <a:noFill/>
          <a:ln/>
        </p:spPr>
        <p:txBody>
          <a:bodyPr wrap="square" lIns="0" tIns="0" rIns="0" bIns="0" rtlCol="0" anchor="ctr"/>
          <a:lstStyle/>
          <a:p>
            <a:pPr marL="0" indent="0">
              <a:buNone/>
            </a:pPr>
            <a:r>
              <a:rPr lang="en-US" sz="750" b="1" kern="0" spc="200" dirty="0">
                <a:solidFill>
                  <a:srgbClr val="00AEEF"/>
                </a:solidFill>
                <a:latin typeface="Calibri" pitchFamily="34" charset="0"/>
                <a:ea typeface="Calibri" pitchFamily="34" charset="-122"/>
                <a:cs typeface="Calibri" pitchFamily="34" charset="-120"/>
              </a:rPr>
              <a:t>PINNACLE MVP</a:t>
            </a:r>
            <a:endParaRPr lang="en-US" sz="750" dirty="0"/>
          </a:p>
        </p:txBody>
      </p:sp>
      <p:sp>
        <p:nvSpPr>
          <p:cNvPr id="47" name="Text 42"/>
          <p:cNvSpPr/>
          <p:nvPr/>
        </p:nvSpPr>
        <p:spPr>
          <a:xfrm>
            <a:off x="2395728" y="5788152"/>
            <a:ext cx="4114800" cy="384048"/>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[Employee Name]</a:t>
            </a:r>
            <a:endParaRPr lang="en-US" sz="1500" dirty="0"/>
          </a:p>
        </p:txBody>
      </p:sp>
      <p:sp>
        <p:nvSpPr>
          <p:cNvPr id="48" name="Text 43"/>
          <p:cNvSpPr/>
          <p:nvPr/>
        </p:nvSpPr>
        <p:spPr>
          <a:xfrm>
            <a:off x="2395728" y="6172200"/>
            <a:ext cx="4114800" cy="219456"/>
          </a:xfrm>
          <a:prstGeom prst="rect">
            <a:avLst/>
          </a:prstGeom>
          <a:noFill/>
          <a:ln/>
        </p:spPr>
        <p:txBody>
          <a:bodyPr wrap="square" lIns="0" tIns="0" rIns="0" bIns="0" rtlCol="0" anchor="ctr"/>
          <a:lstStyle/>
          <a:p>
            <a:pPr marL="0" indent="0">
              <a:buNone/>
            </a:pPr>
            <a:r>
              <a:rPr lang="en-US" sz="1000" dirty="0">
                <a:solidFill>
                  <a:srgbClr val="00AEEF"/>
                </a:solidFill>
                <a:latin typeface="Calibri" pitchFamily="34" charset="0"/>
                <a:ea typeface="Calibri" pitchFamily="34" charset="-122"/>
                <a:cs typeface="Calibri" pitchFamily="34" charset="-120"/>
              </a:rPr>
              <a:t>[Store Name]</a:t>
            </a:r>
            <a:endParaRPr lang="en-US" sz="1000" dirty="0"/>
          </a:p>
        </p:txBody>
      </p:sp>
      <p:sp>
        <p:nvSpPr>
          <p:cNvPr id="49" name="Shape 44"/>
          <p:cNvSpPr/>
          <p:nvPr/>
        </p:nvSpPr>
        <p:spPr>
          <a:xfrm>
            <a:off x="2395728" y="6446520"/>
            <a:ext cx="4114800" cy="22860"/>
          </a:xfrm>
          <a:prstGeom prst="rect">
            <a:avLst/>
          </a:prstGeom>
          <a:solidFill>
            <a:srgbClr val="00AEEF">
              <a:alpha val="40000"/>
            </a:srgbClr>
          </a:solidFill>
          <a:ln w="12700">
            <a:solidFill>
              <a:srgbClr val="00AEEF">
                <a:alpha val="40000"/>
              </a:srgbClr>
            </a:solidFill>
            <a:prstDash val="solid"/>
          </a:ln>
        </p:spPr>
        <p:txBody>
          <a:bodyPr/>
          <a:lstStyle/>
          <a:p>
            <a:endParaRPr/>
          </a:p>
        </p:txBody>
      </p:sp>
      <p:sp>
        <p:nvSpPr>
          <p:cNvPr id="50" name="Text 45"/>
          <p:cNvSpPr/>
          <p:nvPr/>
        </p:nvSpPr>
        <p:spPr>
          <a:xfrm>
            <a:off x="2395728" y="6519672"/>
            <a:ext cx="4114800" cy="749808"/>
          </a:xfrm>
          <a:prstGeom prst="rect">
            <a:avLst/>
          </a:prstGeom>
          <a:noFill/>
          <a:ln/>
        </p:spPr>
        <p:txBody>
          <a:bodyPr wrap="square" lIns="0" tIns="0" rIns="0" bIns="0" rtlCol="0" anchor="t"/>
          <a:lstStyle/>
          <a:p>
            <a:pPr marL="0" indent="0">
              <a:buNone/>
            </a:pPr>
            <a:r>
              <a:rPr lang="en-US" sz="900" i="1" dirty="0">
                <a:solidFill>
                  <a:srgbClr val="AACDE8"/>
                </a:solidFill>
                <a:latin typeface="Calibri" pitchFamily="34" charset="0"/>
                <a:ea typeface="Calibri" pitchFamily="34" charset="-122"/>
                <a:cs typeface="Calibri" pitchFamily="34" charset="-120"/>
              </a:rPr>
              <a:t>Write 2–3 sentences about what makes this person exceptional — their attitude, reliability, and the impact they have on the team and customers.</a:t>
            </a:r>
            <a:endParaRPr lang="en-US" sz="900" dirty="0"/>
          </a:p>
        </p:txBody>
      </p:sp>
      <p:sp>
        <p:nvSpPr>
          <p:cNvPr id="51" name="Shape 46"/>
          <p:cNvSpPr/>
          <p:nvPr/>
        </p:nvSpPr>
        <p:spPr>
          <a:xfrm>
            <a:off x="0" y="7882128"/>
            <a:ext cx="6858000" cy="1261872"/>
          </a:xfrm>
          <a:prstGeom prst="rect">
            <a:avLst/>
          </a:prstGeom>
          <a:solidFill>
            <a:srgbClr val="005088"/>
          </a:solidFill>
          <a:ln w="12700">
            <a:solidFill>
              <a:srgbClr val="005088"/>
            </a:solidFill>
            <a:prstDash val="solid"/>
          </a:ln>
        </p:spPr>
        <p:txBody>
          <a:bodyPr/>
          <a:lstStyle/>
          <a:p>
            <a:endParaRPr/>
          </a:p>
        </p:txBody>
      </p:sp>
      <p:sp>
        <p:nvSpPr>
          <p:cNvPr id="52" name="Shape 47"/>
          <p:cNvSpPr/>
          <p:nvPr/>
        </p:nvSpPr>
        <p:spPr>
          <a:xfrm>
            <a:off x="0" y="7882128"/>
            <a:ext cx="6858000" cy="36576"/>
          </a:xfrm>
          <a:prstGeom prst="rect">
            <a:avLst/>
          </a:prstGeom>
          <a:solidFill>
            <a:srgbClr val="00AEEF"/>
          </a:solidFill>
          <a:ln w="12700">
            <a:solidFill>
              <a:srgbClr val="00AEEF"/>
            </a:solidFill>
            <a:prstDash val="solid"/>
          </a:ln>
        </p:spPr>
        <p:txBody>
          <a:bodyPr/>
          <a:lstStyle/>
          <a:p>
            <a:endParaRPr/>
          </a:p>
        </p:txBody>
      </p:sp>
      <p:pic>
        <p:nvPicPr>
          <p:cNvPr id="53" name="Image 3" descr="preencoded.png"/>
          <p:cNvPicPr>
            <a:picLocks noChangeAspect="1"/>
          </p:cNvPicPr>
          <p:nvPr/>
        </p:nvPicPr>
        <p:blipFill>
          <a:blip r:embed="rId3"/>
          <a:srcRect/>
          <a:stretch/>
        </p:blipFill>
        <p:spPr>
          <a:xfrm>
            <a:off x="201168" y="7955280"/>
            <a:ext cx="457200" cy="329184"/>
          </a:xfrm>
          <a:prstGeom prst="rect">
            <a:avLst/>
          </a:prstGeom>
        </p:spPr>
      </p:pic>
      <p:sp>
        <p:nvSpPr>
          <p:cNvPr id="54" name="Text 48"/>
          <p:cNvSpPr/>
          <p:nvPr/>
        </p:nvSpPr>
        <p:spPr>
          <a:xfrm>
            <a:off x="749808" y="7973568"/>
            <a:ext cx="4114800" cy="219456"/>
          </a:xfrm>
          <a:prstGeom prst="rect">
            <a:avLst/>
          </a:prstGeom>
          <a:noFill/>
          <a:ln/>
        </p:spPr>
        <p:txBody>
          <a:bodyPr wrap="square" lIns="0" tIns="0" rIns="0" bIns="0" rtlCol="0" anchor="ctr"/>
          <a:lstStyle/>
          <a:p>
            <a:pPr marL="0" indent="0">
              <a:buNone/>
            </a:pPr>
            <a:r>
              <a:rPr lang="en-US" sz="800" b="1" kern="0" spc="200" dirty="0">
                <a:solidFill>
                  <a:srgbClr val="00AEEF"/>
                </a:solidFill>
                <a:latin typeface="Cambria" pitchFamily="34" charset="0"/>
                <a:ea typeface="Cambria" pitchFamily="34" charset="-122"/>
                <a:cs typeface="Cambria" pitchFamily="34" charset="-120"/>
              </a:rPr>
              <a:t>PINNACLE HOSPITALITY GROUP VALUES</a:t>
            </a:r>
            <a:endParaRPr lang="en-US" sz="800" dirty="0"/>
          </a:p>
        </p:txBody>
      </p:sp>
      <p:sp>
        <p:nvSpPr>
          <p:cNvPr id="55" name="Text 49"/>
          <p:cNvSpPr/>
          <p:nvPr/>
        </p:nvSpPr>
        <p:spPr>
          <a:xfrm>
            <a:off x="274320" y="8247888"/>
            <a:ext cx="2029968"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Cambria" pitchFamily="34" charset="0"/>
                <a:ea typeface="Cambria" pitchFamily="34" charset="-122"/>
                <a:cs typeface="Cambria" pitchFamily="34" charset="-120"/>
              </a:rPr>
              <a:t>Our Purpose</a:t>
            </a:r>
            <a:endParaRPr lang="en-US" sz="850" dirty="0"/>
          </a:p>
        </p:txBody>
      </p:sp>
      <p:sp>
        <p:nvSpPr>
          <p:cNvPr id="56" name="Text 50"/>
          <p:cNvSpPr/>
          <p:nvPr/>
        </p:nvSpPr>
        <p:spPr>
          <a:xfrm>
            <a:off x="274320" y="8467344"/>
            <a:ext cx="2029968" cy="530352"/>
          </a:xfrm>
          <a:prstGeom prst="rect">
            <a:avLst/>
          </a:prstGeom>
          <a:noFill/>
          <a:ln/>
        </p:spPr>
        <p:txBody>
          <a:bodyPr wrap="square" lIns="0" tIns="0" rIns="0" bIns="0" rtlCol="0" anchor="t"/>
          <a:lstStyle/>
          <a:p>
            <a:pPr marL="0" indent="0" algn="ctr">
              <a:buNone/>
            </a:pPr>
            <a:r>
              <a:rPr lang="en-US" sz="720" i="1" dirty="0">
                <a:solidFill>
                  <a:srgbClr val="AACDE8"/>
                </a:solidFill>
                <a:latin typeface="Calibri" pitchFamily="34" charset="0"/>
                <a:ea typeface="Calibri" pitchFamily="34" charset="-122"/>
                <a:cs typeface="Calibri" pitchFamily="34" charset="-120"/>
              </a:rPr>
              <a:t>To create feel good moments — one person, one brand, and one neighbourhood at a time.</a:t>
            </a:r>
            <a:endParaRPr lang="en-US" sz="720" dirty="0"/>
          </a:p>
        </p:txBody>
      </p:sp>
      <p:sp>
        <p:nvSpPr>
          <p:cNvPr id="57" name="Shape 51"/>
          <p:cNvSpPr/>
          <p:nvPr/>
        </p:nvSpPr>
        <p:spPr>
          <a:xfrm>
            <a:off x="2350008" y="8247888"/>
            <a:ext cx="18288" cy="749808"/>
          </a:xfrm>
          <a:prstGeom prst="rect">
            <a:avLst/>
          </a:prstGeom>
          <a:solidFill>
            <a:srgbClr val="00AEEF">
              <a:alpha val="50000"/>
            </a:srgbClr>
          </a:solidFill>
          <a:ln w="12700">
            <a:solidFill>
              <a:srgbClr val="00AEEF">
                <a:alpha val="50000"/>
              </a:srgbClr>
            </a:solidFill>
            <a:prstDash val="solid"/>
          </a:ln>
        </p:spPr>
        <p:txBody>
          <a:bodyPr/>
          <a:lstStyle/>
          <a:p>
            <a:endParaRPr/>
          </a:p>
        </p:txBody>
      </p:sp>
      <p:sp>
        <p:nvSpPr>
          <p:cNvPr id="58" name="Text 52"/>
          <p:cNvSpPr/>
          <p:nvPr/>
        </p:nvSpPr>
        <p:spPr>
          <a:xfrm>
            <a:off x="2414016" y="8247888"/>
            <a:ext cx="2029968"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Cambria" pitchFamily="34" charset="0"/>
                <a:ea typeface="Cambria" pitchFamily="34" charset="-122"/>
                <a:cs typeface="Cambria" pitchFamily="34" charset="-120"/>
              </a:rPr>
              <a:t>Our Promise</a:t>
            </a:r>
            <a:endParaRPr lang="en-US" sz="850" dirty="0"/>
          </a:p>
        </p:txBody>
      </p:sp>
      <p:sp>
        <p:nvSpPr>
          <p:cNvPr id="59" name="Text 53"/>
          <p:cNvSpPr/>
          <p:nvPr/>
        </p:nvSpPr>
        <p:spPr>
          <a:xfrm>
            <a:off x="2414016" y="8467344"/>
            <a:ext cx="2029968" cy="530352"/>
          </a:xfrm>
          <a:prstGeom prst="rect">
            <a:avLst/>
          </a:prstGeom>
          <a:noFill/>
          <a:ln/>
        </p:spPr>
        <p:txBody>
          <a:bodyPr wrap="square" lIns="0" tIns="0" rIns="0" bIns="0" rtlCol="0" anchor="t"/>
          <a:lstStyle/>
          <a:p>
            <a:pPr marL="0" indent="0" algn="ctr">
              <a:buNone/>
            </a:pPr>
            <a:r>
              <a:rPr lang="en-US" sz="720" i="1" dirty="0">
                <a:solidFill>
                  <a:srgbClr val="AACDE8"/>
                </a:solidFill>
                <a:latin typeface="Calibri" pitchFamily="34" charset="0"/>
                <a:ea typeface="Calibri" pitchFamily="34" charset="-122"/>
                <a:cs typeface="Calibri" pitchFamily="34" charset="-120"/>
              </a:rPr>
              <a:t>Our customer is the most important visitor in our 'world'</a:t>
            </a:r>
            <a:endParaRPr lang="en-US" sz="720" dirty="0"/>
          </a:p>
        </p:txBody>
      </p:sp>
      <p:sp>
        <p:nvSpPr>
          <p:cNvPr id="60" name="Shape 54"/>
          <p:cNvSpPr/>
          <p:nvPr/>
        </p:nvSpPr>
        <p:spPr>
          <a:xfrm>
            <a:off x="4489704" y="8247888"/>
            <a:ext cx="18288" cy="749808"/>
          </a:xfrm>
          <a:prstGeom prst="rect">
            <a:avLst/>
          </a:prstGeom>
          <a:solidFill>
            <a:srgbClr val="00AEEF">
              <a:alpha val="50000"/>
            </a:srgbClr>
          </a:solidFill>
          <a:ln w="12700">
            <a:solidFill>
              <a:srgbClr val="00AEEF">
                <a:alpha val="50000"/>
              </a:srgbClr>
            </a:solidFill>
            <a:prstDash val="solid"/>
          </a:ln>
        </p:spPr>
        <p:txBody>
          <a:bodyPr/>
          <a:lstStyle/>
          <a:p>
            <a:endParaRPr/>
          </a:p>
        </p:txBody>
      </p:sp>
      <p:sp>
        <p:nvSpPr>
          <p:cNvPr id="61" name="Text 55"/>
          <p:cNvSpPr/>
          <p:nvPr/>
        </p:nvSpPr>
        <p:spPr>
          <a:xfrm>
            <a:off x="4553712" y="8247888"/>
            <a:ext cx="2029968"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Cambria" pitchFamily="34" charset="0"/>
                <a:ea typeface="Cambria" pitchFamily="34" charset="-122"/>
                <a:cs typeface="Cambria" pitchFamily="34" charset="-120"/>
              </a:rPr>
              <a:t>Our Values</a:t>
            </a:r>
            <a:endParaRPr lang="en-US" sz="850" dirty="0"/>
          </a:p>
        </p:txBody>
      </p:sp>
      <p:sp>
        <p:nvSpPr>
          <p:cNvPr id="62" name="Text 56"/>
          <p:cNvSpPr/>
          <p:nvPr/>
        </p:nvSpPr>
        <p:spPr>
          <a:xfrm>
            <a:off x="4553712" y="8467344"/>
            <a:ext cx="2029968" cy="530352"/>
          </a:xfrm>
          <a:prstGeom prst="rect">
            <a:avLst/>
          </a:prstGeom>
          <a:noFill/>
          <a:ln/>
        </p:spPr>
        <p:txBody>
          <a:bodyPr wrap="square" lIns="0" tIns="0" rIns="0" bIns="0" rtlCol="0" anchor="t"/>
          <a:lstStyle/>
          <a:p>
            <a:pPr marL="0" indent="0" algn="ctr">
              <a:buNone/>
            </a:pPr>
            <a:r>
              <a:rPr lang="en-US" sz="720" i="1" dirty="0">
                <a:solidFill>
                  <a:srgbClr val="AACDE8"/>
                </a:solidFill>
                <a:latin typeface="Calibri" pitchFamily="34" charset="0"/>
                <a:ea typeface="Calibri" pitchFamily="34" charset="-122"/>
                <a:cs typeface="Calibri" pitchFamily="34" charset="-120"/>
              </a:rPr>
              <a:t>Place of warmth  •  We work together  •  Be your best self  •  Be great neighbours  •  Have fun</a:t>
            </a:r>
            <a:endParaRPr lang="en-US" sz="720" dirty="0"/>
          </a:p>
        </p:txBody>
      </p:sp>
      <p:sp>
        <p:nvSpPr>
          <p:cNvPr id="63" name="Rounded Rectangle 62"/>
          <p:cNvSpPr/>
          <p:nvPr/>
        </p:nvSpPr>
        <p:spPr>
          <a:xfrm>
            <a:off x="146304" y="1650492"/>
            <a:ext cx="6455664" cy="841248"/>
          </a:xfrm>
          <a:prstGeom prst="roundRect">
            <a:avLst/>
          </a:prstGeom>
          <a:solidFill>
            <a:srgbClr val="005487"/>
          </a:solidFill>
          <a:ln w="12700">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384048" y="1700784"/>
            <a:ext cx="6080760" cy="146304"/>
          </a:xfrm>
          <a:prstGeom prst="rect">
            <a:avLst/>
          </a:prstGeom>
          <a:noFill/>
        </p:spPr>
        <p:txBody>
          <a:bodyPr wrap="none" lIns="45720" tIns="18288" rIns="45720" bIns="18288">
            <a:spAutoFit/>
          </a:bodyPr>
          <a:lstStyle/>
          <a:p>
            <a:pPr>
              <a:defRPr sz="750" b="1" i="0">
                <a:solidFill>
                  <a:srgbClr val="00AEEF"/>
                </a:solidFill>
                <a:latin typeface="Aptos"/>
              </a:defRPr>
            </a:pPr>
            <a:r>
              <a:rPr dirty="0"/>
              <a:t>A MESSAGE FROM LEADERSHIP</a:t>
            </a:r>
          </a:p>
        </p:txBody>
      </p:sp>
      <p:sp>
        <p:nvSpPr>
          <p:cNvPr id="65" name="TextBox 64"/>
          <p:cNvSpPr txBox="1"/>
          <p:nvPr/>
        </p:nvSpPr>
        <p:spPr>
          <a:xfrm>
            <a:off x="384048" y="1865376"/>
            <a:ext cx="6080760" cy="438912"/>
          </a:xfrm>
          <a:prstGeom prst="rect">
            <a:avLst/>
          </a:prstGeom>
          <a:noFill/>
        </p:spPr>
        <p:txBody>
          <a:bodyPr wrap="square" lIns="45720" tIns="18288" rIns="45720" bIns="18288">
            <a:spAutoFit/>
          </a:bodyPr>
          <a:lstStyle/>
          <a:p>
            <a:pPr>
              <a:defRPr sz="980" b="0" i="0">
                <a:solidFill>
                  <a:srgbClr val="FFFFFF"/>
                </a:solidFill>
                <a:latin typeface="Aptos"/>
              </a:defRPr>
            </a:pPr>
            <a:r>
              <a:rPr dirty="0"/>
              <a:t>Welcome to the first edition of Pinnacle Pulse and the start of FY26. Across PHG, every shift, guest interaction and team effort helps build the group we are proud of. Thank you for the energy you bring every day — this newsletter is here to celebrate our people, share wins and keep every store connected.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6858000" cy="1051560"/>
          </a:xfrm>
          <a:prstGeom prst="rect">
            <a:avLst/>
          </a:prstGeom>
          <a:solidFill>
            <a:srgbClr val="005088"/>
          </a:solidFill>
          <a:ln w="12700">
            <a:solidFill>
              <a:srgbClr val="005088"/>
            </a:solidFill>
            <a:prstDash val="solid"/>
          </a:ln>
        </p:spPr>
        <p:txBody>
          <a:bodyPr/>
          <a:lstStyle/>
          <a:p>
            <a:endParaRPr/>
          </a:p>
        </p:txBody>
      </p:sp>
      <p:sp>
        <p:nvSpPr>
          <p:cNvPr id="3" name="Shape 1"/>
          <p:cNvSpPr/>
          <p:nvPr/>
        </p:nvSpPr>
        <p:spPr>
          <a:xfrm>
            <a:off x="0" y="0"/>
            <a:ext cx="6858000" cy="64008"/>
          </a:xfrm>
          <a:prstGeom prst="rect">
            <a:avLst/>
          </a:prstGeom>
          <a:solidFill>
            <a:srgbClr val="00AEEF"/>
          </a:solidFill>
          <a:ln w="12700">
            <a:solidFill>
              <a:srgbClr val="00AEEF"/>
            </a:solidFill>
            <a:prstDash val="solid"/>
          </a:ln>
        </p:spPr>
        <p:txBody>
          <a:bodyPr/>
          <a:lstStyle/>
          <a:p>
            <a:endParaRPr/>
          </a:p>
        </p:txBody>
      </p:sp>
      <p:pic>
        <p:nvPicPr>
          <p:cNvPr id="4" name="Image 0" descr="preencoded.png"/>
          <p:cNvPicPr>
            <a:picLocks noChangeAspect="1"/>
          </p:cNvPicPr>
          <p:nvPr/>
        </p:nvPicPr>
        <p:blipFill>
          <a:blip r:embed="rId3"/>
          <a:stretch>
            <a:fillRect/>
          </a:stretch>
        </p:blipFill>
        <p:spPr>
          <a:xfrm>
            <a:off x="228600" y="274320"/>
            <a:ext cx="438912" cy="438912"/>
          </a:xfrm>
          <a:prstGeom prst="rect">
            <a:avLst/>
          </a:prstGeom>
        </p:spPr>
      </p:pic>
      <p:sp>
        <p:nvSpPr>
          <p:cNvPr id="5" name="Text 2"/>
          <p:cNvSpPr/>
          <p:nvPr/>
        </p:nvSpPr>
        <p:spPr>
          <a:xfrm>
            <a:off x="777240" y="164592"/>
            <a:ext cx="4206240" cy="438912"/>
          </a:xfrm>
          <a:prstGeom prst="rect">
            <a:avLst/>
          </a:prstGeom>
          <a:noFill/>
          <a:ln/>
        </p:spPr>
        <p:txBody>
          <a:bodyPr wrap="square" lIns="0" tIns="0" rIns="0" bIns="0" rtlCol="0" anchor="ctr"/>
          <a:lstStyle/>
          <a:p>
            <a:pPr marL="0" indent="0">
              <a:buNone/>
            </a:pPr>
            <a:r>
              <a:rPr lang="en-US" sz="2100" b="1" kern="0" spc="200" dirty="0">
                <a:solidFill>
                  <a:srgbClr val="FFFFFF"/>
                </a:solidFill>
                <a:latin typeface="Cambria" pitchFamily="34" charset="0"/>
                <a:ea typeface="Cambria" pitchFamily="34" charset="-122"/>
                <a:cs typeface="Cambria" pitchFamily="34" charset="-120"/>
              </a:rPr>
              <a:t>FROM THE FLOOR</a:t>
            </a:r>
            <a:endParaRPr lang="en-US" sz="2100" dirty="0"/>
          </a:p>
        </p:txBody>
      </p:sp>
      <p:sp>
        <p:nvSpPr>
          <p:cNvPr id="6" name="Text 3"/>
          <p:cNvSpPr/>
          <p:nvPr/>
        </p:nvSpPr>
        <p:spPr>
          <a:xfrm>
            <a:off x="777240" y="612648"/>
            <a:ext cx="4572000" cy="256032"/>
          </a:xfrm>
          <a:prstGeom prst="rect">
            <a:avLst/>
          </a:prstGeom>
          <a:noFill/>
          <a:ln/>
        </p:spPr>
        <p:txBody>
          <a:bodyPr wrap="square" lIns="0" tIns="0" rIns="0" bIns="0" rtlCol="0" anchor="ctr"/>
          <a:lstStyle/>
          <a:p>
            <a:pPr marL="0" indent="0">
              <a:buNone/>
            </a:pPr>
            <a:r>
              <a:rPr lang="en-US" sz="850" kern="0" spc="100" dirty="0">
                <a:solidFill>
                  <a:srgbClr val="00AEEF"/>
                </a:solidFill>
                <a:latin typeface="Calibri" pitchFamily="34" charset="0"/>
                <a:ea typeface="Calibri" pitchFamily="34" charset="-122"/>
                <a:cs typeface="Calibri" pitchFamily="34" charset="-120"/>
              </a:rPr>
              <a:t>Tips &amp; insights from across our stores  •  JULY 2025</a:t>
            </a:r>
            <a:endParaRPr lang="en-US" sz="850" dirty="0"/>
          </a:p>
        </p:txBody>
      </p:sp>
      <p:pic>
        <p:nvPicPr>
          <p:cNvPr id="7" name="Image 1" descr="preencoded.png"/>
          <p:cNvPicPr>
            <a:picLocks noChangeAspect="1"/>
          </p:cNvPicPr>
          <p:nvPr/>
        </p:nvPicPr>
        <p:blipFill>
          <a:blip r:embed="rId4"/>
          <a:stretch>
            <a:fillRect/>
          </a:stretch>
        </p:blipFill>
        <p:spPr>
          <a:xfrm>
            <a:off x="5559552" y="109728"/>
            <a:ext cx="1115568" cy="795528"/>
          </a:xfrm>
          <a:prstGeom prst="rect">
            <a:avLst/>
          </a:prstGeom>
        </p:spPr>
      </p:pic>
      <p:sp>
        <p:nvSpPr>
          <p:cNvPr id="10" name="Shape 6"/>
          <p:cNvSpPr/>
          <p:nvPr/>
        </p:nvSpPr>
        <p:spPr>
          <a:xfrm>
            <a:off x="201168" y="1261872"/>
            <a:ext cx="6455664" cy="2331720"/>
          </a:xfrm>
          <a:prstGeom prst="roundRect">
            <a:avLst>
              <a:gd name="adj" fmla="val 4706"/>
            </a:avLst>
          </a:prstGeom>
          <a:solidFill>
            <a:srgbClr val="EAF5FC"/>
          </a:solidFill>
          <a:ln w="12700">
            <a:solidFill>
              <a:srgbClr val="00AEEF">
                <a:alpha val="45000"/>
              </a:srgbClr>
            </a:solidFill>
            <a:prstDash val="solid"/>
          </a:ln>
          <a:effectLst>
            <a:outerShdw blurRad="76200" dist="25400" dir="2700000" algn="bl" rotWithShape="0">
              <a:srgbClr val="000000">
                <a:alpha val="10000"/>
              </a:srgbClr>
            </a:outerShdw>
          </a:effectLst>
        </p:spPr>
        <p:txBody>
          <a:bodyPr/>
          <a:lstStyle/>
          <a:p>
            <a:endParaRPr/>
          </a:p>
        </p:txBody>
      </p:sp>
      <p:sp>
        <p:nvSpPr>
          <p:cNvPr id="11" name="Shape 7"/>
          <p:cNvSpPr/>
          <p:nvPr/>
        </p:nvSpPr>
        <p:spPr>
          <a:xfrm>
            <a:off x="347472" y="1426464"/>
            <a:ext cx="914400" cy="914400"/>
          </a:xfrm>
          <a:prstGeom prst="ellipse">
            <a:avLst/>
          </a:prstGeom>
          <a:solidFill>
            <a:srgbClr val="D0E8F5"/>
          </a:solidFill>
          <a:ln w="12700">
            <a:solidFill>
              <a:srgbClr val="00AEEF">
                <a:alpha val="70000"/>
              </a:srgbClr>
            </a:solidFill>
            <a:prstDash val="solid"/>
          </a:ln>
        </p:spPr>
        <p:txBody>
          <a:bodyPr/>
          <a:lstStyle/>
          <a:p>
            <a:endParaRPr/>
          </a:p>
        </p:txBody>
      </p:sp>
      <p:sp>
        <p:nvSpPr>
          <p:cNvPr id="12" name="Text 8"/>
          <p:cNvSpPr/>
          <p:nvPr/>
        </p:nvSpPr>
        <p:spPr>
          <a:xfrm>
            <a:off x="347472" y="1426464"/>
            <a:ext cx="914400" cy="914400"/>
          </a:xfrm>
          <a:prstGeom prst="rect">
            <a:avLst/>
          </a:prstGeom>
          <a:noFill/>
          <a:ln/>
        </p:spPr>
        <p:txBody>
          <a:bodyPr wrap="square" rtlCol="0" anchor="ctr"/>
          <a:lstStyle/>
          <a:p>
            <a:pPr marL="0" indent="0" algn="ctr">
              <a:buNone/>
            </a:pPr>
            <a:r>
              <a:rPr lang="en-US" sz="800" i="1" dirty="0">
                <a:solidFill>
                  <a:srgbClr val="4A7FA8"/>
                </a:solidFill>
                <a:latin typeface="Calibri" pitchFamily="34" charset="0"/>
                <a:ea typeface="Calibri" pitchFamily="34" charset="-122"/>
                <a:cs typeface="Calibri" pitchFamily="34" charset="-120"/>
              </a:rPr>
              <a:t>PHOTO</a:t>
            </a:r>
            <a:endParaRPr lang="en-US" sz="800" dirty="0"/>
          </a:p>
        </p:txBody>
      </p:sp>
      <p:sp>
        <p:nvSpPr>
          <p:cNvPr id="13" name="Text 9"/>
          <p:cNvSpPr/>
          <p:nvPr/>
        </p:nvSpPr>
        <p:spPr>
          <a:xfrm>
            <a:off x="1389888" y="1444752"/>
            <a:ext cx="5212080" cy="329184"/>
          </a:xfrm>
          <a:prstGeom prst="rect">
            <a:avLst/>
          </a:prstGeom>
          <a:noFill/>
          <a:ln/>
        </p:spPr>
        <p:txBody>
          <a:bodyPr wrap="square" lIns="0" tIns="0" rIns="0" bIns="0" rtlCol="0" anchor="ctr"/>
          <a:lstStyle/>
          <a:p>
            <a:pPr marL="0" indent="0">
              <a:buNone/>
            </a:pPr>
            <a:r>
              <a:rPr lang="en-US" sz="1400" b="1" dirty="0">
                <a:solidFill>
                  <a:srgbClr val="005088"/>
                </a:solidFill>
                <a:latin typeface="Cambria" pitchFamily="34" charset="0"/>
                <a:ea typeface="Cambria" pitchFamily="34" charset="-122"/>
                <a:cs typeface="Cambria" pitchFamily="34" charset="-120"/>
              </a:rPr>
              <a:t>[Manager Name]</a:t>
            </a:r>
            <a:endParaRPr lang="en-US" sz="1400" dirty="0"/>
          </a:p>
        </p:txBody>
      </p:sp>
      <p:sp>
        <p:nvSpPr>
          <p:cNvPr id="14" name="Text 10"/>
          <p:cNvSpPr/>
          <p:nvPr/>
        </p:nvSpPr>
        <p:spPr>
          <a:xfrm>
            <a:off x="1389888" y="1773936"/>
            <a:ext cx="5212080" cy="219456"/>
          </a:xfrm>
          <a:prstGeom prst="rect">
            <a:avLst/>
          </a:prstGeom>
          <a:noFill/>
          <a:ln/>
        </p:spPr>
        <p:txBody>
          <a:bodyPr wrap="square" lIns="0" tIns="0" rIns="0" bIns="0" rtlCol="0" anchor="ctr"/>
          <a:lstStyle/>
          <a:p>
            <a:pPr marL="0" indent="0">
              <a:buNone/>
            </a:pPr>
            <a:r>
              <a:rPr lang="en-US" sz="850" dirty="0">
                <a:solidFill>
                  <a:srgbClr val="00AEEF"/>
                </a:solidFill>
                <a:latin typeface="Calibri" pitchFamily="34" charset="0"/>
                <a:ea typeface="Calibri" pitchFamily="34" charset="-122"/>
                <a:cs typeface="Calibri" pitchFamily="34" charset="-120"/>
              </a:rPr>
              <a:t>[Role]  |  [Store]</a:t>
            </a:r>
            <a:endParaRPr lang="en-US" sz="850" dirty="0"/>
          </a:p>
        </p:txBody>
      </p:sp>
      <p:sp>
        <p:nvSpPr>
          <p:cNvPr id="15" name="Shape 11"/>
          <p:cNvSpPr/>
          <p:nvPr/>
        </p:nvSpPr>
        <p:spPr>
          <a:xfrm>
            <a:off x="347472" y="2139696"/>
            <a:ext cx="6163056" cy="22860"/>
          </a:xfrm>
          <a:prstGeom prst="rect">
            <a:avLst/>
          </a:prstGeom>
          <a:solidFill>
            <a:srgbClr val="00AEEF">
              <a:alpha val="40000"/>
            </a:srgbClr>
          </a:solidFill>
          <a:ln w="12700">
            <a:solidFill>
              <a:srgbClr val="00AEEF">
                <a:alpha val="40000"/>
              </a:srgbClr>
            </a:solidFill>
            <a:prstDash val="solid"/>
          </a:ln>
        </p:spPr>
        <p:txBody>
          <a:bodyPr/>
          <a:lstStyle/>
          <a:p>
            <a:endParaRPr/>
          </a:p>
        </p:txBody>
      </p:sp>
      <p:sp>
        <p:nvSpPr>
          <p:cNvPr id="16" name="Text 12"/>
          <p:cNvSpPr/>
          <p:nvPr/>
        </p:nvSpPr>
        <p:spPr>
          <a:xfrm>
            <a:off x="347472" y="2194560"/>
            <a:ext cx="1280160" cy="146304"/>
          </a:xfrm>
          <a:prstGeom prst="rect">
            <a:avLst/>
          </a:prstGeom>
          <a:noFill/>
          <a:ln/>
        </p:spPr>
        <p:txBody>
          <a:bodyPr wrap="square" lIns="0" tIns="0" rIns="0" bIns="0" rtlCol="0" anchor="ctr"/>
          <a:lstStyle/>
          <a:p>
            <a:pPr marL="0" indent="0">
              <a:buNone/>
            </a:pPr>
            <a:r>
              <a:rPr lang="en-US" sz="600" b="1" kern="0" spc="150" dirty="0">
                <a:solidFill>
                  <a:srgbClr val="00AEEF"/>
                </a:solidFill>
                <a:latin typeface="Calibri" pitchFamily="34" charset="0"/>
                <a:ea typeface="Calibri" pitchFamily="34" charset="-122"/>
                <a:cs typeface="Calibri" pitchFamily="34" charset="-120"/>
              </a:rPr>
              <a:t>THEIR TIP</a:t>
            </a:r>
            <a:endParaRPr lang="en-US" sz="600" dirty="0"/>
          </a:p>
        </p:txBody>
      </p:sp>
      <p:sp>
        <p:nvSpPr>
          <p:cNvPr id="17" name="Text 13"/>
          <p:cNvSpPr/>
          <p:nvPr/>
        </p:nvSpPr>
        <p:spPr>
          <a:xfrm>
            <a:off x="347472" y="2340864"/>
            <a:ext cx="6217920" cy="347472"/>
          </a:xfrm>
          <a:prstGeom prst="rect">
            <a:avLst/>
          </a:prstGeom>
          <a:noFill/>
          <a:ln/>
        </p:spPr>
        <p:txBody>
          <a:bodyPr wrap="square" lIns="0" tIns="0" rIns="0" bIns="0" rtlCol="0" anchor="t"/>
          <a:lstStyle/>
          <a:p>
            <a:pPr marL="0" indent="0">
              <a:buNone/>
            </a:pPr>
            <a:r>
              <a:rPr lang="en-US" sz="1000" i="1" dirty="0">
                <a:solidFill>
                  <a:srgbClr val="1A2B3C"/>
                </a:solidFill>
                <a:latin typeface="Calibri" pitchFamily="34" charset="0"/>
                <a:ea typeface="Calibri" pitchFamily="34" charset="-122"/>
                <a:cs typeface="Calibri" pitchFamily="34" charset="-120"/>
              </a:rPr>
              <a:t>[Write their tip here — practical, specific, in their own voice. 2–3 sentences.]</a:t>
            </a:r>
            <a:endParaRPr lang="en-US" sz="1000" dirty="0"/>
          </a:p>
        </p:txBody>
      </p:sp>
      <p:sp>
        <p:nvSpPr>
          <p:cNvPr id="18" name="Shape 14"/>
          <p:cNvSpPr/>
          <p:nvPr/>
        </p:nvSpPr>
        <p:spPr>
          <a:xfrm>
            <a:off x="347472" y="2706624"/>
            <a:ext cx="6163056" cy="13716"/>
          </a:xfrm>
          <a:prstGeom prst="rect">
            <a:avLst/>
          </a:prstGeom>
          <a:solidFill>
            <a:srgbClr val="00AEEF">
              <a:alpha val="25000"/>
            </a:srgbClr>
          </a:solidFill>
          <a:ln w="12700">
            <a:solidFill>
              <a:srgbClr val="00AEEF">
                <a:alpha val="25000"/>
              </a:srgbClr>
            </a:solidFill>
            <a:prstDash val="solid"/>
          </a:ln>
        </p:spPr>
        <p:txBody>
          <a:bodyPr/>
          <a:lstStyle/>
          <a:p>
            <a:endParaRPr/>
          </a:p>
        </p:txBody>
      </p:sp>
      <p:sp>
        <p:nvSpPr>
          <p:cNvPr id="19" name="Text 15"/>
          <p:cNvSpPr/>
          <p:nvPr/>
        </p:nvSpPr>
        <p:spPr>
          <a:xfrm>
            <a:off x="347472" y="2724912"/>
            <a:ext cx="1645920" cy="146304"/>
          </a:xfrm>
          <a:prstGeom prst="rect">
            <a:avLst/>
          </a:prstGeom>
          <a:noFill/>
          <a:ln/>
        </p:spPr>
        <p:txBody>
          <a:bodyPr wrap="square" lIns="0" tIns="0" rIns="0" bIns="0" rtlCol="0" anchor="ctr"/>
          <a:lstStyle/>
          <a:p>
            <a:pPr marL="0" indent="0">
              <a:buNone/>
            </a:pPr>
            <a:r>
              <a:rPr lang="en-US" sz="600" b="1" kern="0" spc="150" dirty="0">
                <a:solidFill>
                  <a:srgbClr val="00AEEF"/>
                </a:solidFill>
                <a:latin typeface="Calibri" pitchFamily="34" charset="0"/>
                <a:ea typeface="Calibri" pitchFamily="34" charset="-122"/>
                <a:cs typeface="Calibri" pitchFamily="34" charset="-120"/>
              </a:rPr>
              <a:t>WHY IT MATTERS</a:t>
            </a:r>
            <a:endParaRPr lang="en-US" sz="600" dirty="0"/>
          </a:p>
        </p:txBody>
      </p:sp>
      <p:sp>
        <p:nvSpPr>
          <p:cNvPr id="20" name="Text 16"/>
          <p:cNvSpPr/>
          <p:nvPr/>
        </p:nvSpPr>
        <p:spPr>
          <a:xfrm>
            <a:off x="347472" y="2871216"/>
            <a:ext cx="6217920" cy="219456"/>
          </a:xfrm>
          <a:prstGeom prst="rect">
            <a:avLst/>
          </a:prstGeom>
          <a:noFill/>
          <a:ln/>
        </p:spPr>
        <p:txBody>
          <a:bodyPr wrap="square" lIns="0" tIns="0" rIns="0" bIns="0" rtlCol="0" anchor="t"/>
          <a:lstStyle/>
          <a:p>
            <a:pPr marL="0" indent="0">
              <a:buNone/>
            </a:pPr>
            <a:r>
              <a:rPr lang="en-US" sz="900" i="1" dirty="0">
                <a:solidFill>
                  <a:srgbClr val="64748B"/>
                </a:solidFill>
                <a:latin typeface="Calibri" pitchFamily="34" charset="0"/>
                <a:ea typeface="Calibri" pitchFamily="34" charset="-122"/>
                <a:cs typeface="Calibri" pitchFamily="34" charset="-120"/>
              </a:rPr>
              <a:t>[Impact on customer experience, sales or team morale — one sentence.]</a:t>
            </a:r>
            <a:endParaRPr lang="en-US" sz="900" dirty="0"/>
          </a:p>
        </p:txBody>
      </p:sp>
      <p:sp>
        <p:nvSpPr>
          <p:cNvPr id="21" name="Shape 17"/>
          <p:cNvSpPr/>
          <p:nvPr/>
        </p:nvSpPr>
        <p:spPr>
          <a:xfrm>
            <a:off x="347472" y="3108960"/>
            <a:ext cx="6163056" cy="13716"/>
          </a:xfrm>
          <a:prstGeom prst="rect">
            <a:avLst/>
          </a:prstGeom>
          <a:solidFill>
            <a:srgbClr val="00AEEF">
              <a:alpha val="25000"/>
            </a:srgbClr>
          </a:solidFill>
          <a:ln w="12700">
            <a:solidFill>
              <a:srgbClr val="00AEEF">
                <a:alpha val="25000"/>
              </a:srgbClr>
            </a:solidFill>
            <a:prstDash val="solid"/>
          </a:ln>
        </p:spPr>
        <p:txBody>
          <a:bodyPr/>
          <a:lstStyle/>
          <a:p>
            <a:endParaRPr/>
          </a:p>
        </p:txBody>
      </p:sp>
      <p:sp>
        <p:nvSpPr>
          <p:cNvPr id="22" name="Text 18"/>
          <p:cNvSpPr/>
          <p:nvPr/>
        </p:nvSpPr>
        <p:spPr>
          <a:xfrm>
            <a:off x="347472" y="3127248"/>
            <a:ext cx="2560320" cy="146304"/>
          </a:xfrm>
          <a:prstGeom prst="rect">
            <a:avLst/>
          </a:prstGeom>
          <a:noFill/>
          <a:ln/>
        </p:spPr>
        <p:txBody>
          <a:bodyPr wrap="square" lIns="0" tIns="0" rIns="0" bIns="0" rtlCol="0" anchor="ctr"/>
          <a:lstStyle/>
          <a:p>
            <a:pPr marL="0" indent="0">
              <a:buNone/>
            </a:pPr>
            <a:r>
              <a:rPr lang="en-US" sz="600" b="1" kern="0" spc="150" dirty="0">
                <a:solidFill>
                  <a:srgbClr val="00AEEF"/>
                </a:solidFill>
                <a:latin typeface="Calibri" pitchFamily="34" charset="0"/>
                <a:ea typeface="Calibri" pitchFamily="34" charset="-122"/>
                <a:cs typeface="Calibri" pitchFamily="34" charset="-120"/>
              </a:rPr>
              <a:t>TRY THIS ON YOUR NEXT SHIFT →</a:t>
            </a:r>
            <a:endParaRPr lang="en-US" sz="600" dirty="0"/>
          </a:p>
        </p:txBody>
      </p:sp>
      <p:sp>
        <p:nvSpPr>
          <p:cNvPr id="23" name="Text 19"/>
          <p:cNvSpPr/>
          <p:nvPr/>
        </p:nvSpPr>
        <p:spPr>
          <a:xfrm>
            <a:off x="347472" y="3273552"/>
            <a:ext cx="6217920" cy="182880"/>
          </a:xfrm>
          <a:prstGeom prst="rect">
            <a:avLst/>
          </a:prstGeom>
          <a:noFill/>
          <a:ln/>
        </p:spPr>
        <p:txBody>
          <a:bodyPr wrap="square" lIns="0" tIns="0" rIns="0" bIns="0" rtlCol="0" anchor="t"/>
          <a:lstStyle/>
          <a:p>
            <a:pPr marL="0" indent="0">
              <a:buNone/>
            </a:pPr>
            <a:r>
              <a:rPr lang="en-US" sz="900" i="1" dirty="0">
                <a:solidFill>
                  <a:srgbClr val="64748B"/>
                </a:solidFill>
                <a:latin typeface="Calibri" pitchFamily="34" charset="0"/>
                <a:ea typeface="Calibri" pitchFamily="34" charset="-122"/>
                <a:cs typeface="Calibri" pitchFamily="34" charset="-120"/>
              </a:rPr>
              <a:t>[One clear, immediate action the team can take.]</a:t>
            </a:r>
            <a:endParaRPr lang="en-US" sz="900" dirty="0"/>
          </a:p>
        </p:txBody>
      </p:sp>
      <p:sp>
        <p:nvSpPr>
          <p:cNvPr id="24" name="Shape 20"/>
          <p:cNvSpPr/>
          <p:nvPr/>
        </p:nvSpPr>
        <p:spPr>
          <a:xfrm>
            <a:off x="201168" y="3749040"/>
            <a:ext cx="6455664" cy="2331720"/>
          </a:xfrm>
          <a:prstGeom prst="roundRect">
            <a:avLst>
              <a:gd name="adj" fmla="val 4706"/>
            </a:avLst>
          </a:prstGeom>
          <a:solidFill>
            <a:srgbClr val="EAF5FC"/>
          </a:solidFill>
          <a:ln w="12700">
            <a:solidFill>
              <a:srgbClr val="00AEEF">
                <a:alpha val="45000"/>
              </a:srgbClr>
            </a:solidFill>
            <a:prstDash val="solid"/>
          </a:ln>
          <a:effectLst>
            <a:outerShdw blurRad="76200" dist="25400" dir="2700000" algn="bl" rotWithShape="0">
              <a:srgbClr val="000000">
                <a:alpha val="10000"/>
              </a:srgbClr>
            </a:outerShdw>
          </a:effectLst>
        </p:spPr>
        <p:txBody>
          <a:bodyPr/>
          <a:lstStyle/>
          <a:p>
            <a:endParaRPr/>
          </a:p>
        </p:txBody>
      </p:sp>
      <p:sp>
        <p:nvSpPr>
          <p:cNvPr id="25" name="Shape 21"/>
          <p:cNvSpPr/>
          <p:nvPr/>
        </p:nvSpPr>
        <p:spPr>
          <a:xfrm>
            <a:off x="347472" y="3913632"/>
            <a:ext cx="914400" cy="914400"/>
          </a:xfrm>
          <a:prstGeom prst="ellipse">
            <a:avLst/>
          </a:prstGeom>
          <a:solidFill>
            <a:srgbClr val="D0E8F5"/>
          </a:solidFill>
          <a:ln w="12700">
            <a:solidFill>
              <a:srgbClr val="00AEEF">
                <a:alpha val="70000"/>
              </a:srgbClr>
            </a:solidFill>
            <a:prstDash val="solid"/>
          </a:ln>
        </p:spPr>
        <p:txBody>
          <a:bodyPr/>
          <a:lstStyle/>
          <a:p>
            <a:endParaRPr/>
          </a:p>
        </p:txBody>
      </p:sp>
      <p:sp>
        <p:nvSpPr>
          <p:cNvPr id="26" name="Text 22"/>
          <p:cNvSpPr/>
          <p:nvPr/>
        </p:nvSpPr>
        <p:spPr>
          <a:xfrm>
            <a:off x="347472" y="3913632"/>
            <a:ext cx="914400" cy="914400"/>
          </a:xfrm>
          <a:prstGeom prst="rect">
            <a:avLst/>
          </a:prstGeom>
          <a:noFill/>
          <a:ln/>
        </p:spPr>
        <p:txBody>
          <a:bodyPr wrap="square" rtlCol="0" anchor="ctr"/>
          <a:lstStyle/>
          <a:p>
            <a:pPr marL="0" indent="0" algn="ctr">
              <a:buNone/>
            </a:pPr>
            <a:r>
              <a:rPr lang="en-US" sz="800" i="1" dirty="0">
                <a:solidFill>
                  <a:srgbClr val="4A7FA8"/>
                </a:solidFill>
                <a:latin typeface="Calibri" pitchFamily="34" charset="0"/>
                <a:ea typeface="Calibri" pitchFamily="34" charset="-122"/>
                <a:cs typeface="Calibri" pitchFamily="34" charset="-120"/>
              </a:rPr>
              <a:t>PHOTO</a:t>
            </a:r>
            <a:endParaRPr lang="en-US" sz="800" dirty="0"/>
          </a:p>
        </p:txBody>
      </p:sp>
      <p:sp>
        <p:nvSpPr>
          <p:cNvPr id="27" name="Text 23"/>
          <p:cNvSpPr/>
          <p:nvPr/>
        </p:nvSpPr>
        <p:spPr>
          <a:xfrm>
            <a:off x="1389888" y="3931920"/>
            <a:ext cx="5212080" cy="329184"/>
          </a:xfrm>
          <a:prstGeom prst="rect">
            <a:avLst/>
          </a:prstGeom>
          <a:noFill/>
          <a:ln/>
        </p:spPr>
        <p:txBody>
          <a:bodyPr wrap="square" lIns="0" tIns="0" rIns="0" bIns="0" rtlCol="0" anchor="ctr"/>
          <a:lstStyle/>
          <a:p>
            <a:pPr marL="0" indent="0">
              <a:buNone/>
            </a:pPr>
            <a:r>
              <a:rPr lang="en-US" sz="1400" b="1" dirty="0">
                <a:solidFill>
                  <a:srgbClr val="005088"/>
                </a:solidFill>
                <a:latin typeface="Cambria" pitchFamily="34" charset="0"/>
                <a:ea typeface="Cambria" pitchFamily="34" charset="-122"/>
                <a:cs typeface="Cambria" pitchFamily="34" charset="-120"/>
              </a:rPr>
              <a:t>[Manager Name]</a:t>
            </a:r>
            <a:endParaRPr lang="en-US" sz="1400" dirty="0"/>
          </a:p>
        </p:txBody>
      </p:sp>
      <p:sp>
        <p:nvSpPr>
          <p:cNvPr id="28" name="Text 24"/>
          <p:cNvSpPr/>
          <p:nvPr/>
        </p:nvSpPr>
        <p:spPr>
          <a:xfrm>
            <a:off x="1389888" y="4261104"/>
            <a:ext cx="5212080" cy="219456"/>
          </a:xfrm>
          <a:prstGeom prst="rect">
            <a:avLst/>
          </a:prstGeom>
          <a:noFill/>
          <a:ln/>
        </p:spPr>
        <p:txBody>
          <a:bodyPr wrap="square" lIns="0" tIns="0" rIns="0" bIns="0" rtlCol="0" anchor="ctr"/>
          <a:lstStyle/>
          <a:p>
            <a:pPr marL="0" indent="0">
              <a:buNone/>
            </a:pPr>
            <a:r>
              <a:rPr lang="en-US" sz="850" dirty="0">
                <a:solidFill>
                  <a:srgbClr val="00AEEF"/>
                </a:solidFill>
                <a:latin typeface="Calibri" pitchFamily="34" charset="0"/>
                <a:ea typeface="Calibri" pitchFamily="34" charset="-122"/>
                <a:cs typeface="Calibri" pitchFamily="34" charset="-120"/>
              </a:rPr>
              <a:t>[Role]  |  [Store]</a:t>
            </a:r>
            <a:endParaRPr lang="en-US" sz="850" dirty="0"/>
          </a:p>
        </p:txBody>
      </p:sp>
      <p:sp>
        <p:nvSpPr>
          <p:cNvPr id="29" name="Shape 25"/>
          <p:cNvSpPr/>
          <p:nvPr/>
        </p:nvSpPr>
        <p:spPr>
          <a:xfrm>
            <a:off x="347472" y="4626864"/>
            <a:ext cx="6163056" cy="22860"/>
          </a:xfrm>
          <a:prstGeom prst="rect">
            <a:avLst/>
          </a:prstGeom>
          <a:solidFill>
            <a:srgbClr val="00AEEF">
              <a:alpha val="40000"/>
            </a:srgbClr>
          </a:solidFill>
          <a:ln w="12700">
            <a:solidFill>
              <a:srgbClr val="00AEEF">
                <a:alpha val="40000"/>
              </a:srgbClr>
            </a:solidFill>
            <a:prstDash val="solid"/>
          </a:ln>
        </p:spPr>
        <p:txBody>
          <a:bodyPr/>
          <a:lstStyle/>
          <a:p>
            <a:endParaRPr/>
          </a:p>
        </p:txBody>
      </p:sp>
      <p:sp>
        <p:nvSpPr>
          <p:cNvPr id="30" name="Text 26"/>
          <p:cNvSpPr/>
          <p:nvPr/>
        </p:nvSpPr>
        <p:spPr>
          <a:xfrm>
            <a:off x="347472" y="4681728"/>
            <a:ext cx="1280160" cy="146304"/>
          </a:xfrm>
          <a:prstGeom prst="rect">
            <a:avLst/>
          </a:prstGeom>
          <a:noFill/>
          <a:ln/>
        </p:spPr>
        <p:txBody>
          <a:bodyPr wrap="square" lIns="0" tIns="0" rIns="0" bIns="0" rtlCol="0" anchor="ctr"/>
          <a:lstStyle/>
          <a:p>
            <a:pPr marL="0" indent="0">
              <a:buNone/>
            </a:pPr>
            <a:r>
              <a:rPr lang="en-US" sz="600" b="1" kern="0" spc="150" dirty="0">
                <a:solidFill>
                  <a:srgbClr val="00AEEF"/>
                </a:solidFill>
                <a:latin typeface="Calibri" pitchFamily="34" charset="0"/>
                <a:ea typeface="Calibri" pitchFamily="34" charset="-122"/>
                <a:cs typeface="Calibri" pitchFamily="34" charset="-120"/>
              </a:rPr>
              <a:t>THEIR TIP</a:t>
            </a:r>
            <a:endParaRPr lang="en-US" sz="600" dirty="0"/>
          </a:p>
        </p:txBody>
      </p:sp>
      <p:sp>
        <p:nvSpPr>
          <p:cNvPr id="31" name="Text 27"/>
          <p:cNvSpPr/>
          <p:nvPr/>
        </p:nvSpPr>
        <p:spPr>
          <a:xfrm>
            <a:off x="347472" y="4828032"/>
            <a:ext cx="6217920" cy="347472"/>
          </a:xfrm>
          <a:prstGeom prst="rect">
            <a:avLst/>
          </a:prstGeom>
          <a:noFill/>
          <a:ln/>
        </p:spPr>
        <p:txBody>
          <a:bodyPr wrap="square" lIns="0" tIns="0" rIns="0" bIns="0" rtlCol="0" anchor="t"/>
          <a:lstStyle/>
          <a:p>
            <a:pPr marL="0" indent="0">
              <a:buNone/>
            </a:pPr>
            <a:r>
              <a:rPr lang="en-US" sz="1000" i="1" dirty="0">
                <a:solidFill>
                  <a:srgbClr val="1A2B3C"/>
                </a:solidFill>
                <a:latin typeface="Calibri" pitchFamily="34" charset="0"/>
                <a:ea typeface="Calibri" pitchFamily="34" charset="-122"/>
                <a:cs typeface="Calibri" pitchFamily="34" charset="-120"/>
              </a:rPr>
              <a:t>[Write their tip here — practical, specific, in their own voice. 2–3 sentences.]</a:t>
            </a:r>
            <a:endParaRPr lang="en-US" sz="1000" dirty="0"/>
          </a:p>
        </p:txBody>
      </p:sp>
      <p:sp>
        <p:nvSpPr>
          <p:cNvPr id="32" name="Shape 28"/>
          <p:cNvSpPr/>
          <p:nvPr/>
        </p:nvSpPr>
        <p:spPr>
          <a:xfrm>
            <a:off x="347472" y="5193792"/>
            <a:ext cx="6163056" cy="13716"/>
          </a:xfrm>
          <a:prstGeom prst="rect">
            <a:avLst/>
          </a:prstGeom>
          <a:solidFill>
            <a:srgbClr val="00AEEF">
              <a:alpha val="25000"/>
            </a:srgbClr>
          </a:solidFill>
          <a:ln w="12700">
            <a:solidFill>
              <a:srgbClr val="00AEEF">
                <a:alpha val="25000"/>
              </a:srgbClr>
            </a:solidFill>
            <a:prstDash val="solid"/>
          </a:ln>
        </p:spPr>
        <p:txBody>
          <a:bodyPr/>
          <a:lstStyle/>
          <a:p>
            <a:endParaRPr/>
          </a:p>
        </p:txBody>
      </p:sp>
      <p:sp>
        <p:nvSpPr>
          <p:cNvPr id="33" name="Text 29"/>
          <p:cNvSpPr/>
          <p:nvPr/>
        </p:nvSpPr>
        <p:spPr>
          <a:xfrm>
            <a:off x="347472" y="5212080"/>
            <a:ext cx="1645920" cy="146304"/>
          </a:xfrm>
          <a:prstGeom prst="rect">
            <a:avLst/>
          </a:prstGeom>
          <a:noFill/>
          <a:ln/>
        </p:spPr>
        <p:txBody>
          <a:bodyPr wrap="square" lIns="0" tIns="0" rIns="0" bIns="0" rtlCol="0" anchor="ctr"/>
          <a:lstStyle/>
          <a:p>
            <a:pPr marL="0" indent="0">
              <a:buNone/>
            </a:pPr>
            <a:r>
              <a:rPr lang="en-US" sz="600" b="1" kern="0" spc="150" dirty="0">
                <a:solidFill>
                  <a:srgbClr val="00AEEF"/>
                </a:solidFill>
                <a:latin typeface="Calibri" pitchFamily="34" charset="0"/>
                <a:ea typeface="Calibri" pitchFamily="34" charset="-122"/>
                <a:cs typeface="Calibri" pitchFamily="34" charset="-120"/>
              </a:rPr>
              <a:t>WHY IT MATTERS</a:t>
            </a:r>
            <a:endParaRPr lang="en-US" sz="600" dirty="0"/>
          </a:p>
        </p:txBody>
      </p:sp>
      <p:sp>
        <p:nvSpPr>
          <p:cNvPr id="34" name="Text 30"/>
          <p:cNvSpPr/>
          <p:nvPr/>
        </p:nvSpPr>
        <p:spPr>
          <a:xfrm>
            <a:off x="347472" y="5358384"/>
            <a:ext cx="6217920" cy="219456"/>
          </a:xfrm>
          <a:prstGeom prst="rect">
            <a:avLst/>
          </a:prstGeom>
          <a:noFill/>
          <a:ln/>
        </p:spPr>
        <p:txBody>
          <a:bodyPr wrap="square" lIns="0" tIns="0" rIns="0" bIns="0" rtlCol="0" anchor="t"/>
          <a:lstStyle/>
          <a:p>
            <a:pPr marL="0" indent="0">
              <a:buNone/>
            </a:pPr>
            <a:r>
              <a:rPr lang="en-US" sz="900" i="1" dirty="0">
                <a:solidFill>
                  <a:srgbClr val="64748B"/>
                </a:solidFill>
                <a:latin typeface="Calibri" pitchFamily="34" charset="0"/>
                <a:ea typeface="Calibri" pitchFamily="34" charset="-122"/>
                <a:cs typeface="Calibri" pitchFamily="34" charset="-120"/>
              </a:rPr>
              <a:t>[Impact on customer experience, sales or team morale — one sentence.]</a:t>
            </a:r>
            <a:endParaRPr lang="en-US" sz="900" dirty="0"/>
          </a:p>
        </p:txBody>
      </p:sp>
      <p:sp>
        <p:nvSpPr>
          <p:cNvPr id="35" name="Shape 31"/>
          <p:cNvSpPr/>
          <p:nvPr/>
        </p:nvSpPr>
        <p:spPr>
          <a:xfrm>
            <a:off x="347472" y="5596128"/>
            <a:ext cx="6163056" cy="13716"/>
          </a:xfrm>
          <a:prstGeom prst="rect">
            <a:avLst/>
          </a:prstGeom>
          <a:solidFill>
            <a:srgbClr val="00AEEF">
              <a:alpha val="25000"/>
            </a:srgbClr>
          </a:solidFill>
          <a:ln w="12700">
            <a:solidFill>
              <a:srgbClr val="00AEEF">
                <a:alpha val="25000"/>
              </a:srgbClr>
            </a:solidFill>
            <a:prstDash val="solid"/>
          </a:ln>
        </p:spPr>
        <p:txBody>
          <a:bodyPr/>
          <a:lstStyle/>
          <a:p>
            <a:endParaRPr/>
          </a:p>
        </p:txBody>
      </p:sp>
      <p:sp>
        <p:nvSpPr>
          <p:cNvPr id="36" name="Text 32"/>
          <p:cNvSpPr/>
          <p:nvPr/>
        </p:nvSpPr>
        <p:spPr>
          <a:xfrm>
            <a:off x="347472" y="5614416"/>
            <a:ext cx="2560320" cy="146304"/>
          </a:xfrm>
          <a:prstGeom prst="rect">
            <a:avLst/>
          </a:prstGeom>
          <a:noFill/>
          <a:ln/>
        </p:spPr>
        <p:txBody>
          <a:bodyPr wrap="square" lIns="0" tIns="0" rIns="0" bIns="0" rtlCol="0" anchor="ctr"/>
          <a:lstStyle/>
          <a:p>
            <a:pPr marL="0" indent="0">
              <a:buNone/>
            </a:pPr>
            <a:r>
              <a:rPr lang="en-US" sz="600" b="1" kern="0" spc="150" dirty="0">
                <a:solidFill>
                  <a:srgbClr val="00AEEF"/>
                </a:solidFill>
                <a:latin typeface="Calibri" pitchFamily="34" charset="0"/>
                <a:ea typeface="Calibri" pitchFamily="34" charset="-122"/>
                <a:cs typeface="Calibri" pitchFamily="34" charset="-120"/>
              </a:rPr>
              <a:t>TRY THIS ON YOUR NEXT SHIFT →</a:t>
            </a:r>
            <a:endParaRPr lang="en-US" sz="600" dirty="0"/>
          </a:p>
        </p:txBody>
      </p:sp>
      <p:sp>
        <p:nvSpPr>
          <p:cNvPr id="37" name="Text 33"/>
          <p:cNvSpPr/>
          <p:nvPr/>
        </p:nvSpPr>
        <p:spPr>
          <a:xfrm>
            <a:off x="347472" y="5760720"/>
            <a:ext cx="6217920" cy="182880"/>
          </a:xfrm>
          <a:prstGeom prst="rect">
            <a:avLst/>
          </a:prstGeom>
          <a:noFill/>
          <a:ln/>
        </p:spPr>
        <p:txBody>
          <a:bodyPr wrap="square" lIns="0" tIns="0" rIns="0" bIns="0" rtlCol="0" anchor="t"/>
          <a:lstStyle/>
          <a:p>
            <a:pPr marL="0" indent="0">
              <a:buNone/>
            </a:pPr>
            <a:r>
              <a:rPr lang="en-US" sz="900" i="1" dirty="0">
                <a:solidFill>
                  <a:srgbClr val="64748B"/>
                </a:solidFill>
                <a:latin typeface="Calibri" pitchFamily="34" charset="0"/>
                <a:ea typeface="Calibri" pitchFamily="34" charset="-122"/>
                <a:cs typeface="Calibri" pitchFamily="34" charset="-120"/>
              </a:rPr>
              <a:t>[One clear, immediate action the team can take.]</a:t>
            </a:r>
            <a:endParaRPr lang="en-US" sz="900" dirty="0"/>
          </a:p>
        </p:txBody>
      </p:sp>
      <p:sp>
        <p:nvSpPr>
          <p:cNvPr id="38" name="Shape 34"/>
          <p:cNvSpPr/>
          <p:nvPr/>
        </p:nvSpPr>
        <p:spPr>
          <a:xfrm>
            <a:off x="201168" y="6236208"/>
            <a:ext cx="6455664" cy="2130552"/>
          </a:xfrm>
          <a:prstGeom prst="roundRect">
            <a:avLst>
              <a:gd name="adj" fmla="val 4706"/>
            </a:avLst>
          </a:prstGeom>
          <a:solidFill>
            <a:srgbClr val="EAF5FC"/>
          </a:solidFill>
          <a:ln w="12700">
            <a:solidFill>
              <a:srgbClr val="00AEEF">
                <a:alpha val="45000"/>
              </a:srgbClr>
            </a:solidFill>
            <a:prstDash val="solid"/>
          </a:ln>
          <a:effectLst>
            <a:outerShdw blurRad="76200" dist="25400" dir="2700000" algn="bl" rotWithShape="0">
              <a:srgbClr val="000000">
                <a:alpha val="10000"/>
              </a:srgbClr>
            </a:outerShdw>
          </a:effectLst>
        </p:spPr>
        <p:txBody>
          <a:bodyPr/>
          <a:lstStyle/>
          <a:p>
            <a:endParaRPr/>
          </a:p>
        </p:txBody>
      </p:sp>
      <p:sp>
        <p:nvSpPr>
          <p:cNvPr id="39" name="Shape 35"/>
          <p:cNvSpPr/>
          <p:nvPr/>
        </p:nvSpPr>
        <p:spPr>
          <a:xfrm>
            <a:off x="347472" y="6400800"/>
            <a:ext cx="914400" cy="914400"/>
          </a:xfrm>
          <a:prstGeom prst="ellipse">
            <a:avLst/>
          </a:prstGeom>
          <a:solidFill>
            <a:srgbClr val="D0E8F5"/>
          </a:solidFill>
          <a:ln w="12700">
            <a:solidFill>
              <a:srgbClr val="00AEEF">
                <a:alpha val="70000"/>
              </a:srgbClr>
            </a:solidFill>
            <a:prstDash val="solid"/>
          </a:ln>
        </p:spPr>
        <p:txBody>
          <a:bodyPr/>
          <a:lstStyle/>
          <a:p>
            <a:endParaRPr/>
          </a:p>
        </p:txBody>
      </p:sp>
      <p:sp>
        <p:nvSpPr>
          <p:cNvPr id="40" name="Text 36"/>
          <p:cNvSpPr/>
          <p:nvPr/>
        </p:nvSpPr>
        <p:spPr>
          <a:xfrm>
            <a:off x="347472" y="6400800"/>
            <a:ext cx="914400" cy="914400"/>
          </a:xfrm>
          <a:prstGeom prst="rect">
            <a:avLst/>
          </a:prstGeom>
          <a:noFill/>
          <a:ln/>
        </p:spPr>
        <p:txBody>
          <a:bodyPr wrap="square" rtlCol="0" anchor="ctr"/>
          <a:lstStyle/>
          <a:p>
            <a:pPr marL="0" indent="0" algn="ctr">
              <a:buNone/>
            </a:pPr>
            <a:r>
              <a:rPr lang="en-US" sz="800" i="1" dirty="0">
                <a:solidFill>
                  <a:srgbClr val="4A7FA8"/>
                </a:solidFill>
                <a:latin typeface="Calibri" pitchFamily="34" charset="0"/>
                <a:ea typeface="Calibri" pitchFamily="34" charset="-122"/>
                <a:cs typeface="Calibri" pitchFamily="34" charset="-120"/>
              </a:rPr>
              <a:t>PHOTO</a:t>
            </a:r>
            <a:endParaRPr lang="en-US" sz="800" dirty="0"/>
          </a:p>
        </p:txBody>
      </p:sp>
      <p:sp>
        <p:nvSpPr>
          <p:cNvPr id="41" name="Text 37"/>
          <p:cNvSpPr/>
          <p:nvPr/>
        </p:nvSpPr>
        <p:spPr>
          <a:xfrm>
            <a:off x="1389888" y="6419088"/>
            <a:ext cx="5212080" cy="329184"/>
          </a:xfrm>
          <a:prstGeom prst="rect">
            <a:avLst/>
          </a:prstGeom>
          <a:noFill/>
          <a:ln/>
        </p:spPr>
        <p:txBody>
          <a:bodyPr wrap="square" lIns="0" tIns="0" rIns="0" bIns="0" rtlCol="0" anchor="ctr"/>
          <a:lstStyle/>
          <a:p>
            <a:pPr marL="0" indent="0">
              <a:buNone/>
            </a:pPr>
            <a:r>
              <a:rPr lang="en-US" sz="1400" b="1" dirty="0">
                <a:solidFill>
                  <a:srgbClr val="005088"/>
                </a:solidFill>
                <a:latin typeface="Cambria" pitchFamily="34" charset="0"/>
                <a:ea typeface="Cambria" pitchFamily="34" charset="-122"/>
                <a:cs typeface="Cambria" pitchFamily="34" charset="-120"/>
              </a:rPr>
              <a:t>[Manager Name]</a:t>
            </a:r>
            <a:endParaRPr lang="en-US" sz="1400" dirty="0"/>
          </a:p>
        </p:txBody>
      </p:sp>
      <p:sp>
        <p:nvSpPr>
          <p:cNvPr id="42" name="Text 38"/>
          <p:cNvSpPr/>
          <p:nvPr/>
        </p:nvSpPr>
        <p:spPr>
          <a:xfrm>
            <a:off x="1389888" y="6748272"/>
            <a:ext cx="5212080" cy="219456"/>
          </a:xfrm>
          <a:prstGeom prst="rect">
            <a:avLst/>
          </a:prstGeom>
          <a:noFill/>
          <a:ln/>
        </p:spPr>
        <p:txBody>
          <a:bodyPr wrap="square" lIns="0" tIns="0" rIns="0" bIns="0" rtlCol="0" anchor="ctr"/>
          <a:lstStyle/>
          <a:p>
            <a:pPr marL="0" indent="0">
              <a:buNone/>
            </a:pPr>
            <a:r>
              <a:rPr lang="en-US" sz="850" dirty="0">
                <a:solidFill>
                  <a:srgbClr val="00AEEF"/>
                </a:solidFill>
                <a:latin typeface="Calibri" pitchFamily="34" charset="0"/>
                <a:ea typeface="Calibri" pitchFamily="34" charset="-122"/>
                <a:cs typeface="Calibri" pitchFamily="34" charset="-120"/>
              </a:rPr>
              <a:t>[Role]  |  [Store]</a:t>
            </a:r>
            <a:endParaRPr lang="en-US" sz="850" dirty="0"/>
          </a:p>
        </p:txBody>
      </p:sp>
      <p:sp>
        <p:nvSpPr>
          <p:cNvPr id="43" name="Shape 39"/>
          <p:cNvSpPr/>
          <p:nvPr/>
        </p:nvSpPr>
        <p:spPr>
          <a:xfrm>
            <a:off x="347472" y="7114032"/>
            <a:ext cx="6163056" cy="22860"/>
          </a:xfrm>
          <a:prstGeom prst="rect">
            <a:avLst/>
          </a:prstGeom>
          <a:solidFill>
            <a:srgbClr val="00AEEF">
              <a:alpha val="40000"/>
            </a:srgbClr>
          </a:solidFill>
          <a:ln w="12700">
            <a:solidFill>
              <a:srgbClr val="00AEEF">
                <a:alpha val="40000"/>
              </a:srgbClr>
            </a:solidFill>
            <a:prstDash val="solid"/>
          </a:ln>
        </p:spPr>
        <p:txBody>
          <a:bodyPr/>
          <a:lstStyle/>
          <a:p>
            <a:endParaRPr/>
          </a:p>
        </p:txBody>
      </p:sp>
      <p:sp>
        <p:nvSpPr>
          <p:cNvPr id="44" name="Text 40"/>
          <p:cNvSpPr/>
          <p:nvPr/>
        </p:nvSpPr>
        <p:spPr>
          <a:xfrm>
            <a:off x="347472" y="7168896"/>
            <a:ext cx="1280160" cy="146304"/>
          </a:xfrm>
          <a:prstGeom prst="rect">
            <a:avLst/>
          </a:prstGeom>
          <a:noFill/>
          <a:ln/>
        </p:spPr>
        <p:txBody>
          <a:bodyPr wrap="square" lIns="0" tIns="0" rIns="0" bIns="0" rtlCol="0" anchor="ctr"/>
          <a:lstStyle/>
          <a:p>
            <a:pPr marL="0" indent="0">
              <a:buNone/>
            </a:pPr>
            <a:r>
              <a:rPr lang="en-US" sz="600" b="1" kern="0" spc="150" dirty="0">
                <a:solidFill>
                  <a:srgbClr val="00AEEF"/>
                </a:solidFill>
                <a:latin typeface="Calibri" pitchFamily="34" charset="0"/>
                <a:ea typeface="Calibri" pitchFamily="34" charset="-122"/>
                <a:cs typeface="Calibri" pitchFamily="34" charset="-120"/>
              </a:rPr>
              <a:t>THEIR TIP</a:t>
            </a:r>
            <a:endParaRPr lang="en-US" sz="600" dirty="0"/>
          </a:p>
        </p:txBody>
      </p:sp>
      <p:sp>
        <p:nvSpPr>
          <p:cNvPr id="45" name="Text 41"/>
          <p:cNvSpPr/>
          <p:nvPr/>
        </p:nvSpPr>
        <p:spPr>
          <a:xfrm>
            <a:off x="347472" y="7315200"/>
            <a:ext cx="6217920" cy="347472"/>
          </a:xfrm>
          <a:prstGeom prst="rect">
            <a:avLst/>
          </a:prstGeom>
          <a:noFill/>
          <a:ln/>
        </p:spPr>
        <p:txBody>
          <a:bodyPr wrap="square" lIns="0" tIns="0" rIns="0" bIns="0" rtlCol="0" anchor="t"/>
          <a:lstStyle/>
          <a:p>
            <a:pPr marL="0" indent="0">
              <a:buNone/>
            </a:pPr>
            <a:r>
              <a:rPr lang="en-US" sz="1000" i="1" dirty="0">
                <a:solidFill>
                  <a:srgbClr val="1A2B3C"/>
                </a:solidFill>
                <a:latin typeface="Calibri" pitchFamily="34" charset="0"/>
                <a:ea typeface="Calibri" pitchFamily="34" charset="-122"/>
                <a:cs typeface="Calibri" pitchFamily="34" charset="-120"/>
              </a:rPr>
              <a:t>[Write their tip here — practical, specific, in their own voice. 2–3 sentences.]</a:t>
            </a:r>
            <a:endParaRPr lang="en-US" sz="1000" dirty="0"/>
          </a:p>
        </p:txBody>
      </p:sp>
      <p:sp>
        <p:nvSpPr>
          <p:cNvPr id="46" name="Shape 42"/>
          <p:cNvSpPr/>
          <p:nvPr/>
        </p:nvSpPr>
        <p:spPr>
          <a:xfrm>
            <a:off x="347472" y="7680960"/>
            <a:ext cx="6163056" cy="13716"/>
          </a:xfrm>
          <a:prstGeom prst="rect">
            <a:avLst/>
          </a:prstGeom>
          <a:solidFill>
            <a:srgbClr val="00AEEF">
              <a:alpha val="25000"/>
            </a:srgbClr>
          </a:solidFill>
          <a:ln w="12700">
            <a:solidFill>
              <a:srgbClr val="00AEEF">
                <a:alpha val="25000"/>
              </a:srgbClr>
            </a:solidFill>
            <a:prstDash val="solid"/>
          </a:ln>
        </p:spPr>
        <p:txBody>
          <a:bodyPr/>
          <a:lstStyle/>
          <a:p>
            <a:endParaRPr/>
          </a:p>
        </p:txBody>
      </p:sp>
      <p:sp>
        <p:nvSpPr>
          <p:cNvPr id="47" name="Text 43"/>
          <p:cNvSpPr/>
          <p:nvPr/>
        </p:nvSpPr>
        <p:spPr>
          <a:xfrm>
            <a:off x="347472" y="7699248"/>
            <a:ext cx="1645920" cy="146304"/>
          </a:xfrm>
          <a:prstGeom prst="rect">
            <a:avLst/>
          </a:prstGeom>
          <a:noFill/>
          <a:ln/>
        </p:spPr>
        <p:txBody>
          <a:bodyPr wrap="square" lIns="0" tIns="0" rIns="0" bIns="0" rtlCol="0" anchor="ctr"/>
          <a:lstStyle/>
          <a:p>
            <a:pPr marL="0" indent="0">
              <a:buNone/>
            </a:pPr>
            <a:r>
              <a:rPr lang="en-US" sz="600" b="1" kern="0" spc="150" dirty="0">
                <a:solidFill>
                  <a:srgbClr val="00AEEF"/>
                </a:solidFill>
                <a:latin typeface="Calibri" pitchFamily="34" charset="0"/>
                <a:ea typeface="Calibri" pitchFamily="34" charset="-122"/>
                <a:cs typeface="Calibri" pitchFamily="34" charset="-120"/>
              </a:rPr>
              <a:t>WHY IT MATTERS</a:t>
            </a:r>
            <a:endParaRPr lang="en-US" sz="600" dirty="0"/>
          </a:p>
        </p:txBody>
      </p:sp>
      <p:sp>
        <p:nvSpPr>
          <p:cNvPr id="48" name="Text 44"/>
          <p:cNvSpPr/>
          <p:nvPr/>
        </p:nvSpPr>
        <p:spPr>
          <a:xfrm>
            <a:off x="347472" y="7845552"/>
            <a:ext cx="6217920" cy="219456"/>
          </a:xfrm>
          <a:prstGeom prst="rect">
            <a:avLst/>
          </a:prstGeom>
          <a:noFill/>
          <a:ln/>
        </p:spPr>
        <p:txBody>
          <a:bodyPr wrap="square" lIns="0" tIns="0" rIns="0" bIns="0" rtlCol="0" anchor="t"/>
          <a:lstStyle/>
          <a:p>
            <a:pPr marL="0" indent="0">
              <a:buNone/>
            </a:pPr>
            <a:r>
              <a:rPr lang="en-US" sz="900" i="1" dirty="0">
                <a:solidFill>
                  <a:srgbClr val="64748B"/>
                </a:solidFill>
                <a:latin typeface="Calibri" pitchFamily="34" charset="0"/>
                <a:ea typeface="Calibri" pitchFamily="34" charset="-122"/>
                <a:cs typeface="Calibri" pitchFamily="34" charset="-120"/>
              </a:rPr>
              <a:t>[Impact on customer experience, sales or team morale — one sentence.]</a:t>
            </a:r>
            <a:endParaRPr lang="en-US" sz="900" dirty="0"/>
          </a:p>
        </p:txBody>
      </p:sp>
      <p:sp>
        <p:nvSpPr>
          <p:cNvPr id="49" name="Shape 45"/>
          <p:cNvSpPr/>
          <p:nvPr/>
        </p:nvSpPr>
        <p:spPr>
          <a:xfrm>
            <a:off x="347472" y="7991856"/>
            <a:ext cx="6163056" cy="13716"/>
          </a:xfrm>
          <a:prstGeom prst="rect">
            <a:avLst/>
          </a:prstGeom>
          <a:solidFill>
            <a:srgbClr val="00AEEF">
              <a:alpha val="25000"/>
            </a:srgbClr>
          </a:solidFill>
          <a:ln w="12700">
            <a:solidFill>
              <a:srgbClr val="00AEEF">
                <a:alpha val="25000"/>
              </a:srgbClr>
            </a:solidFill>
            <a:prstDash val="solid"/>
          </a:ln>
        </p:spPr>
        <p:txBody>
          <a:bodyPr/>
          <a:lstStyle/>
          <a:p>
            <a:endParaRPr/>
          </a:p>
        </p:txBody>
      </p:sp>
      <p:sp>
        <p:nvSpPr>
          <p:cNvPr id="50" name="Text 46"/>
          <p:cNvSpPr/>
          <p:nvPr/>
        </p:nvSpPr>
        <p:spPr>
          <a:xfrm>
            <a:off x="347472" y="8028431"/>
            <a:ext cx="2560320" cy="146304"/>
          </a:xfrm>
          <a:prstGeom prst="rect">
            <a:avLst/>
          </a:prstGeom>
          <a:noFill/>
          <a:ln/>
        </p:spPr>
        <p:txBody>
          <a:bodyPr wrap="square" lIns="0" tIns="0" rIns="0" bIns="0" rtlCol="0" anchor="ctr"/>
          <a:lstStyle/>
          <a:p>
            <a:pPr marL="0" indent="0">
              <a:buNone/>
            </a:pPr>
            <a:r>
              <a:rPr lang="en-US" sz="600" b="1" kern="0" spc="150" dirty="0">
                <a:solidFill>
                  <a:srgbClr val="00AEEF"/>
                </a:solidFill>
                <a:latin typeface="Calibri" pitchFamily="34" charset="0"/>
                <a:ea typeface="Calibri" pitchFamily="34" charset="-122"/>
                <a:cs typeface="Calibri" pitchFamily="34" charset="-120"/>
              </a:rPr>
              <a:t>TRY THIS ON YOUR NEXT SHIFT →</a:t>
            </a:r>
            <a:endParaRPr lang="en-US" sz="600" dirty="0"/>
          </a:p>
        </p:txBody>
      </p:sp>
      <p:sp>
        <p:nvSpPr>
          <p:cNvPr id="51" name="Text 47"/>
          <p:cNvSpPr/>
          <p:nvPr/>
        </p:nvSpPr>
        <p:spPr>
          <a:xfrm>
            <a:off x="347472" y="8174736"/>
            <a:ext cx="6217920" cy="182880"/>
          </a:xfrm>
          <a:prstGeom prst="rect">
            <a:avLst/>
          </a:prstGeom>
          <a:noFill/>
          <a:ln/>
        </p:spPr>
        <p:txBody>
          <a:bodyPr wrap="square" lIns="0" tIns="0" rIns="0" bIns="0" rtlCol="0" anchor="t"/>
          <a:lstStyle/>
          <a:p>
            <a:pPr marL="0" indent="0">
              <a:buNone/>
            </a:pPr>
            <a:r>
              <a:rPr lang="en-US" sz="900" i="1" dirty="0">
                <a:solidFill>
                  <a:srgbClr val="64748B"/>
                </a:solidFill>
                <a:latin typeface="Calibri" pitchFamily="34" charset="0"/>
                <a:ea typeface="Calibri" pitchFamily="34" charset="-122"/>
                <a:cs typeface="Calibri" pitchFamily="34" charset="-120"/>
              </a:rPr>
              <a:t>[One clear, immediate action the team can take.]</a:t>
            </a:r>
            <a:endParaRPr lang="en-US" sz="900" dirty="0"/>
          </a:p>
        </p:txBody>
      </p:sp>
      <p:sp>
        <p:nvSpPr>
          <p:cNvPr id="52" name="Shape 48"/>
          <p:cNvSpPr/>
          <p:nvPr/>
        </p:nvSpPr>
        <p:spPr>
          <a:xfrm>
            <a:off x="0" y="8412480"/>
            <a:ext cx="6858000" cy="731520"/>
          </a:xfrm>
          <a:prstGeom prst="rect">
            <a:avLst/>
          </a:prstGeom>
          <a:solidFill>
            <a:srgbClr val="F4F8FB"/>
          </a:solidFill>
          <a:ln w="12700">
            <a:solidFill>
              <a:srgbClr val="D8E8F2"/>
            </a:solidFill>
            <a:prstDash val="solid"/>
          </a:ln>
        </p:spPr>
        <p:txBody>
          <a:bodyPr/>
          <a:lstStyle/>
          <a:p>
            <a:endParaRPr/>
          </a:p>
        </p:txBody>
      </p:sp>
      <p:sp>
        <p:nvSpPr>
          <p:cNvPr id="53" name="Text 49"/>
          <p:cNvSpPr/>
          <p:nvPr/>
        </p:nvSpPr>
        <p:spPr>
          <a:xfrm>
            <a:off x="182880" y="8467344"/>
            <a:ext cx="6492240" cy="182880"/>
          </a:xfrm>
          <a:prstGeom prst="rect">
            <a:avLst/>
          </a:prstGeom>
          <a:noFill/>
          <a:ln/>
        </p:spPr>
        <p:txBody>
          <a:bodyPr wrap="square" lIns="0" tIns="0" rIns="0" bIns="0" rtlCol="0" anchor="ctr"/>
          <a:lstStyle/>
          <a:p>
            <a:pPr marL="0" indent="0" algn="ctr">
              <a:buNone/>
            </a:pPr>
            <a:r>
              <a:rPr lang="en-US" sz="600" kern="0" spc="150" dirty="0">
                <a:solidFill>
                  <a:srgbClr val="64748B"/>
                </a:solidFill>
                <a:latin typeface="Calibri" pitchFamily="34" charset="0"/>
                <a:ea typeface="Calibri" pitchFamily="34" charset="-122"/>
                <a:cs typeface="Calibri" pitchFamily="34" charset="-120"/>
              </a:rPr>
              <a:t>A PINNACLE HOSPITALITY GROUP COMPANY</a:t>
            </a:r>
            <a:endParaRPr lang="en-US" sz="600" dirty="0"/>
          </a:p>
        </p:txBody>
      </p:sp>
      <p:pic>
        <p:nvPicPr>
          <p:cNvPr id="54" name="Image 2" descr="preencoded.png"/>
          <p:cNvPicPr>
            <a:picLocks noChangeAspect="1"/>
          </p:cNvPicPr>
          <p:nvPr/>
        </p:nvPicPr>
        <p:blipFill>
          <a:blip r:embed="rId5"/>
          <a:stretch>
            <a:fillRect/>
          </a:stretch>
        </p:blipFill>
        <p:spPr>
          <a:xfrm>
            <a:off x="2331720" y="8686800"/>
            <a:ext cx="274320" cy="274320"/>
          </a:xfrm>
          <a:prstGeom prst="rect">
            <a:avLst/>
          </a:prstGeom>
        </p:spPr>
      </p:pic>
      <p:pic>
        <p:nvPicPr>
          <p:cNvPr id="55" name="Image 3" descr="preencoded.png"/>
          <p:cNvPicPr>
            <a:picLocks noChangeAspect="1"/>
          </p:cNvPicPr>
          <p:nvPr/>
        </p:nvPicPr>
        <p:blipFill>
          <a:blip r:embed="rId6"/>
          <a:stretch>
            <a:fillRect/>
          </a:stretch>
        </p:blipFill>
        <p:spPr>
          <a:xfrm>
            <a:off x="3063240" y="8686800"/>
            <a:ext cx="493776" cy="274320"/>
          </a:xfrm>
          <a:prstGeom prst="rect">
            <a:avLst/>
          </a:prstGeom>
        </p:spPr>
      </p:pic>
      <p:pic>
        <p:nvPicPr>
          <p:cNvPr id="57" name="Image 5" descr="preencoded.png"/>
          <p:cNvPicPr>
            <a:picLocks noChangeAspect="1"/>
          </p:cNvPicPr>
          <p:nvPr/>
        </p:nvPicPr>
        <p:blipFill>
          <a:blip r:embed="rId7"/>
          <a:stretch>
            <a:fillRect/>
          </a:stretch>
        </p:blipFill>
        <p:spPr>
          <a:xfrm>
            <a:off x="3794760" y="8686800"/>
            <a:ext cx="460858" cy="2743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6858000" cy="1051560"/>
          </a:xfrm>
          <a:prstGeom prst="rect">
            <a:avLst/>
          </a:prstGeom>
          <a:solidFill>
            <a:srgbClr val="005088"/>
          </a:solidFill>
          <a:ln w="12700">
            <a:solidFill>
              <a:srgbClr val="005088"/>
            </a:solidFill>
            <a:prstDash val="solid"/>
          </a:ln>
        </p:spPr>
        <p:txBody>
          <a:bodyPr/>
          <a:lstStyle/>
          <a:p>
            <a:endParaRPr/>
          </a:p>
        </p:txBody>
      </p:sp>
      <p:sp>
        <p:nvSpPr>
          <p:cNvPr id="3" name="Shape 1"/>
          <p:cNvSpPr/>
          <p:nvPr/>
        </p:nvSpPr>
        <p:spPr>
          <a:xfrm>
            <a:off x="0" y="0"/>
            <a:ext cx="6858000" cy="64008"/>
          </a:xfrm>
          <a:prstGeom prst="rect">
            <a:avLst/>
          </a:prstGeom>
          <a:solidFill>
            <a:srgbClr val="00AEEF"/>
          </a:solidFill>
          <a:ln w="12700">
            <a:solidFill>
              <a:srgbClr val="00AEEF"/>
            </a:solidFill>
            <a:prstDash val="solid"/>
          </a:ln>
        </p:spPr>
        <p:txBody>
          <a:bodyPr/>
          <a:lstStyle/>
          <a:p>
            <a:endParaRPr/>
          </a:p>
        </p:txBody>
      </p:sp>
      <p:pic>
        <p:nvPicPr>
          <p:cNvPr id="4" name="Image 0" descr="preencoded.png"/>
          <p:cNvPicPr>
            <a:picLocks noChangeAspect="1"/>
          </p:cNvPicPr>
          <p:nvPr/>
        </p:nvPicPr>
        <p:blipFill>
          <a:blip r:embed="rId3"/>
          <a:stretch>
            <a:fillRect/>
          </a:stretch>
        </p:blipFill>
        <p:spPr>
          <a:xfrm>
            <a:off x="228600" y="274320"/>
            <a:ext cx="438912" cy="438912"/>
          </a:xfrm>
          <a:prstGeom prst="rect">
            <a:avLst/>
          </a:prstGeom>
        </p:spPr>
      </p:pic>
      <p:sp>
        <p:nvSpPr>
          <p:cNvPr id="5" name="Text 2"/>
          <p:cNvSpPr/>
          <p:nvPr/>
        </p:nvSpPr>
        <p:spPr>
          <a:xfrm>
            <a:off x="777240" y="164592"/>
            <a:ext cx="4206240" cy="438912"/>
          </a:xfrm>
          <a:prstGeom prst="rect">
            <a:avLst/>
          </a:prstGeom>
          <a:noFill/>
          <a:ln/>
        </p:spPr>
        <p:txBody>
          <a:bodyPr wrap="square" lIns="0" tIns="0" rIns="0" bIns="0" rtlCol="0" anchor="ctr"/>
          <a:lstStyle/>
          <a:p>
            <a:pPr marL="0" indent="0">
              <a:buNone/>
            </a:pPr>
            <a:r>
              <a:rPr lang="en-US" sz="2100" b="1" kern="0" spc="200" dirty="0">
                <a:solidFill>
                  <a:srgbClr val="FFFFFF"/>
                </a:solidFill>
                <a:latin typeface="Cambria" pitchFamily="34" charset="0"/>
                <a:ea typeface="Cambria" pitchFamily="34" charset="-122"/>
                <a:cs typeface="Cambria" pitchFamily="34" charset="-120"/>
              </a:rPr>
              <a:t>PEOPLE &amp; MILESTONES</a:t>
            </a:r>
            <a:endParaRPr lang="en-US" sz="2100" dirty="0"/>
          </a:p>
        </p:txBody>
      </p:sp>
      <p:sp>
        <p:nvSpPr>
          <p:cNvPr id="6" name="Text 3"/>
          <p:cNvSpPr/>
          <p:nvPr/>
        </p:nvSpPr>
        <p:spPr>
          <a:xfrm>
            <a:off x="777240" y="612648"/>
            <a:ext cx="4572000" cy="256032"/>
          </a:xfrm>
          <a:prstGeom prst="rect">
            <a:avLst/>
          </a:prstGeom>
          <a:noFill/>
          <a:ln/>
        </p:spPr>
        <p:txBody>
          <a:bodyPr wrap="square" lIns="0" tIns="0" rIns="0" bIns="0" rtlCol="0" anchor="ctr"/>
          <a:lstStyle/>
          <a:p>
            <a:pPr marL="0" indent="0">
              <a:buNone/>
            </a:pPr>
            <a:r>
              <a:rPr lang="en-US" sz="850" kern="0" spc="100" dirty="0">
                <a:solidFill>
                  <a:srgbClr val="00AEEF"/>
                </a:solidFill>
                <a:latin typeface="Calibri" pitchFamily="34" charset="0"/>
                <a:ea typeface="Calibri" pitchFamily="34" charset="-122"/>
                <a:cs typeface="Calibri" pitchFamily="34" charset="-120"/>
              </a:rPr>
              <a:t>Promotions  •  New starters  •  Anniversaries  •  Birthdays</a:t>
            </a:r>
            <a:endParaRPr lang="en-US" sz="850" dirty="0"/>
          </a:p>
        </p:txBody>
      </p:sp>
      <p:pic>
        <p:nvPicPr>
          <p:cNvPr id="7" name="Image 1" descr="preencoded.png"/>
          <p:cNvPicPr>
            <a:picLocks noChangeAspect="1"/>
          </p:cNvPicPr>
          <p:nvPr/>
        </p:nvPicPr>
        <p:blipFill>
          <a:blip r:embed="rId4"/>
          <a:stretch>
            <a:fillRect/>
          </a:stretch>
        </p:blipFill>
        <p:spPr>
          <a:xfrm>
            <a:off x="5559552" y="109728"/>
            <a:ext cx="1115568" cy="795528"/>
          </a:xfrm>
          <a:prstGeom prst="rect">
            <a:avLst/>
          </a:prstGeom>
        </p:spPr>
      </p:pic>
      <p:sp>
        <p:nvSpPr>
          <p:cNvPr id="57" name="Shape 52"/>
          <p:cNvSpPr/>
          <p:nvPr/>
        </p:nvSpPr>
        <p:spPr>
          <a:xfrm>
            <a:off x="0" y="8412480"/>
            <a:ext cx="6858000" cy="731520"/>
          </a:xfrm>
          <a:prstGeom prst="rect">
            <a:avLst/>
          </a:prstGeom>
          <a:solidFill>
            <a:srgbClr val="F4F8FB"/>
          </a:solidFill>
          <a:ln w="12700">
            <a:solidFill>
              <a:srgbClr val="D8E8F2"/>
            </a:solidFill>
            <a:prstDash val="solid"/>
          </a:ln>
        </p:spPr>
        <p:txBody>
          <a:bodyPr/>
          <a:lstStyle/>
          <a:p>
            <a:endParaRPr/>
          </a:p>
        </p:txBody>
      </p:sp>
      <p:sp>
        <p:nvSpPr>
          <p:cNvPr id="58" name="Text 53"/>
          <p:cNvSpPr/>
          <p:nvPr/>
        </p:nvSpPr>
        <p:spPr>
          <a:xfrm>
            <a:off x="182880" y="8467344"/>
            <a:ext cx="6492240" cy="182880"/>
          </a:xfrm>
          <a:prstGeom prst="rect">
            <a:avLst/>
          </a:prstGeom>
          <a:noFill/>
          <a:ln/>
        </p:spPr>
        <p:txBody>
          <a:bodyPr wrap="square" lIns="0" tIns="0" rIns="0" bIns="0" rtlCol="0" anchor="ctr"/>
          <a:lstStyle/>
          <a:p>
            <a:pPr marL="0" indent="0" algn="ctr">
              <a:buNone/>
            </a:pPr>
            <a:r>
              <a:rPr lang="en-US" sz="600" kern="0" spc="150" dirty="0">
                <a:solidFill>
                  <a:srgbClr val="64748B"/>
                </a:solidFill>
                <a:latin typeface="Calibri" pitchFamily="34" charset="0"/>
                <a:ea typeface="Calibri" pitchFamily="34" charset="-122"/>
                <a:cs typeface="Calibri" pitchFamily="34" charset="-120"/>
              </a:rPr>
              <a:t>A PINNACLE HOSPITALITY GROUP COMPANY</a:t>
            </a:r>
            <a:endParaRPr lang="en-US" sz="600" dirty="0"/>
          </a:p>
        </p:txBody>
      </p:sp>
      <p:pic>
        <p:nvPicPr>
          <p:cNvPr id="59" name="Image 3" descr="preencoded.png"/>
          <p:cNvPicPr>
            <a:picLocks noChangeAspect="1"/>
          </p:cNvPicPr>
          <p:nvPr/>
        </p:nvPicPr>
        <p:blipFill>
          <a:blip r:embed="rId5"/>
          <a:stretch>
            <a:fillRect/>
          </a:stretch>
        </p:blipFill>
        <p:spPr>
          <a:xfrm>
            <a:off x="2331720" y="8686800"/>
            <a:ext cx="274320" cy="274320"/>
          </a:xfrm>
          <a:prstGeom prst="rect">
            <a:avLst/>
          </a:prstGeom>
        </p:spPr>
      </p:pic>
      <p:pic>
        <p:nvPicPr>
          <p:cNvPr id="60" name="Image 4" descr="preencoded.png"/>
          <p:cNvPicPr>
            <a:picLocks noChangeAspect="1"/>
          </p:cNvPicPr>
          <p:nvPr/>
        </p:nvPicPr>
        <p:blipFill>
          <a:blip r:embed="rId6"/>
          <a:stretch>
            <a:fillRect/>
          </a:stretch>
        </p:blipFill>
        <p:spPr>
          <a:xfrm>
            <a:off x="3063240" y="8686800"/>
            <a:ext cx="493776" cy="274320"/>
          </a:xfrm>
          <a:prstGeom prst="rect">
            <a:avLst/>
          </a:prstGeom>
        </p:spPr>
      </p:pic>
      <p:pic>
        <p:nvPicPr>
          <p:cNvPr id="62" name="Image 6" descr="preencoded.png"/>
          <p:cNvPicPr>
            <a:picLocks noChangeAspect="1"/>
          </p:cNvPicPr>
          <p:nvPr/>
        </p:nvPicPr>
        <p:blipFill>
          <a:blip r:embed="rId7"/>
          <a:stretch>
            <a:fillRect/>
          </a:stretch>
        </p:blipFill>
        <p:spPr>
          <a:xfrm>
            <a:off x="3794760" y="8686800"/>
            <a:ext cx="460858" cy="274320"/>
          </a:xfrm>
          <a:prstGeom prst="rect">
            <a:avLst/>
          </a:prstGeom>
        </p:spPr>
      </p:pic>
      <p:sp>
        <p:nvSpPr>
          <p:cNvPr id="63" name="Rounded Rectangle 62"/>
          <p:cNvSpPr/>
          <p:nvPr/>
        </p:nvSpPr>
        <p:spPr>
          <a:xfrm>
            <a:off x="201168" y="1143000"/>
            <a:ext cx="6455664" cy="1673352"/>
          </a:xfrm>
          <a:prstGeom prst="roundRect">
            <a:avLst/>
          </a:prstGeom>
          <a:solidFill>
            <a:srgbClr val="E8F6FC"/>
          </a:solidFill>
          <a:ln w="12700">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411480" y="1298448"/>
            <a:ext cx="5943600" cy="210312"/>
          </a:xfrm>
          <a:prstGeom prst="rect">
            <a:avLst/>
          </a:prstGeom>
          <a:noFill/>
        </p:spPr>
        <p:txBody>
          <a:bodyPr wrap="none" lIns="18288" tIns="9144" rIns="18288" bIns="9144">
            <a:spAutoFit/>
          </a:bodyPr>
          <a:lstStyle/>
          <a:p>
            <a:pPr>
              <a:defRPr sz="1200" b="1" i="0">
                <a:solidFill>
                  <a:srgbClr val="005487"/>
                </a:solidFill>
                <a:latin typeface="Georgia"/>
              </a:defRPr>
            </a:pPr>
            <a:r>
              <a:t>PROMOTIONS &amp; NEW STARTERS</a:t>
            </a:r>
          </a:p>
        </p:txBody>
      </p:sp>
      <p:sp>
        <p:nvSpPr>
          <p:cNvPr id="65" name="Oval 64"/>
          <p:cNvSpPr/>
          <p:nvPr/>
        </p:nvSpPr>
        <p:spPr>
          <a:xfrm>
            <a:off x="411480" y="1664208"/>
            <a:ext cx="109728" cy="109728"/>
          </a:xfrm>
          <a:prstGeom prst="ellipse">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594360" y="1618488"/>
            <a:ext cx="1645920" cy="201168"/>
          </a:xfrm>
          <a:prstGeom prst="rect">
            <a:avLst/>
          </a:prstGeom>
          <a:noFill/>
        </p:spPr>
        <p:txBody>
          <a:bodyPr wrap="none" lIns="18288" tIns="9144" rIns="18288" bIns="9144">
            <a:spAutoFit/>
          </a:bodyPr>
          <a:lstStyle/>
          <a:p>
            <a:pPr>
              <a:defRPr sz="1050" b="1" i="0">
                <a:solidFill>
                  <a:srgbClr val="005487"/>
                </a:solidFill>
                <a:latin typeface="Aptos"/>
              </a:defRPr>
            </a:pPr>
            <a:r>
              <a:t>Barbara Glendenning</a:t>
            </a:r>
          </a:p>
        </p:txBody>
      </p:sp>
      <p:sp>
        <p:nvSpPr>
          <p:cNvPr id="67" name="TextBox 66"/>
          <p:cNvSpPr txBox="1"/>
          <p:nvPr/>
        </p:nvSpPr>
        <p:spPr>
          <a:xfrm>
            <a:off x="2240280" y="1618488"/>
            <a:ext cx="4206240" cy="201168"/>
          </a:xfrm>
          <a:prstGeom prst="rect">
            <a:avLst/>
          </a:prstGeom>
          <a:noFill/>
        </p:spPr>
        <p:txBody>
          <a:bodyPr wrap="none" lIns="18288" tIns="9144" rIns="18288" bIns="9144">
            <a:spAutoFit/>
          </a:bodyPr>
          <a:lstStyle/>
          <a:p>
            <a:pPr>
              <a:defRPr sz="1050" b="0" i="0">
                <a:solidFill>
                  <a:srgbClr val="5B7387"/>
                </a:solidFill>
                <a:latin typeface="Aptos"/>
              </a:defRPr>
            </a:pPr>
            <a:r>
              <a:t>Joined PHG — Oporto Wodonga</a:t>
            </a:r>
          </a:p>
        </p:txBody>
      </p:sp>
      <p:sp>
        <p:nvSpPr>
          <p:cNvPr id="68" name="Oval 67"/>
          <p:cNvSpPr/>
          <p:nvPr/>
        </p:nvSpPr>
        <p:spPr>
          <a:xfrm>
            <a:off x="411480" y="1901952"/>
            <a:ext cx="109728" cy="109728"/>
          </a:xfrm>
          <a:prstGeom prst="ellipse">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594360" y="1856232"/>
            <a:ext cx="1645920" cy="201168"/>
          </a:xfrm>
          <a:prstGeom prst="rect">
            <a:avLst/>
          </a:prstGeom>
          <a:noFill/>
        </p:spPr>
        <p:txBody>
          <a:bodyPr wrap="none" lIns="18288" tIns="9144" rIns="18288" bIns="9144">
            <a:spAutoFit/>
          </a:bodyPr>
          <a:lstStyle/>
          <a:p>
            <a:pPr>
              <a:defRPr sz="1050" b="1" i="0">
                <a:solidFill>
                  <a:srgbClr val="005487"/>
                </a:solidFill>
                <a:latin typeface="Aptos"/>
              </a:defRPr>
            </a:pPr>
            <a:r>
              <a:t>Koen Loader</a:t>
            </a:r>
          </a:p>
        </p:txBody>
      </p:sp>
      <p:sp>
        <p:nvSpPr>
          <p:cNvPr id="70" name="TextBox 69"/>
          <p:cNvSpPr txBox="1"/>
          <p:nvPr/>
        </p:nvSpPr>
        <p:spPr>
          <a:xfrm>
            <a:off x="2240280" y="1856232"/>
            <a:ext cx="4206240" cy="201168"/>
          </a:xfrm>
          <a:prstGeom prst="rect">
            <a:avLst/>
          </a:prstGeom>
          <a:noFill/>
        </p:spPr>
        <p:txBody>
          <a:bodyPr wrap="none" lIns="18288" tIns="9144" rIns="18288" bIns="9144">
            <a:spAutoFit/>
          </a:bodyPr>
          <a:lstStyle/>
          <a:p>
            <a:pPr>
              <a:defRPr sz="1050" b="0" i="0">
                <a:solidFill>
                  <a:srgbClr val="5B7387"/>
                </a:solidFill>
                <a:latin typeface="Aptos"/>
              </a:defRPr>
            </a:pPr>
            <a:r>
              <a:t>Joined PHG — Zambrero Coffs Harbour</a:t>
            </a:r>
          </a:p>
        </p:txBody>
      </p:sp>
      <p:sp>
        <p:nvSpPr>
          <p:cNvPr id="71" name="Oval 70"/>
          <p:cNvSpPr/>
          <p:nvPr/>
        </p:nvSpPr>
        <p:spPr>
          <a:xfrm>
            <a:off x="411480" y="2139696"/>
            <a:ext cx="109728" cy="109728"/>
          </a:xfrm>
          <a:prstGeom prst="ellipse">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594360" y="2093976"/>
            <a:ext cx="1645920" cy="201168"/>
          </a:xfrm>
          <a:prstGeom prst="rect">
            <a:avLst/>
          </a:prstGeom>
          <a:noFill/>
        </p:spPr>
        <p:txBody>
          <a:bodyPr wrap="none" lIns="18288" tIns="9144" rIns="18288" bIns="9144">
            <a:spAutoFit/>
          </a:bodyPr>
          <a:lstStyle/>
          <a:p>
            <a:pPr>
              <a:defRPr sz="1050" b="1" i="0">
                <a:solidFill>
                  <a:srgbClr val="005487"/>
                </a:solidFill>
                <a:latin typeface="Aptos"/>
              </a:defRPr>
            </a:pPr>
            <a:r>
              <a:t>Thailer Drewe</a:t>
            </a:r>
          </a:p>
        </p:txBody>
      </p:sp>
      <p:sp>
        <p:nvSpPr>
          <p:cNvPr id="73" name="TextBox 72"/>
          <p:cNvSpPr txBox="1"/>
          <p:nvPr/>
        </p:nvSpPr>
        <p:spPr>
          <a:xfrm>
            <a:off x="2240280" y="2093976"/>
            <a:ext cx="4206240" cy="201168"/>
          </a:xfrm>
          <a:prstGeom prst="rect">
            <a:avLst/>
          </a:prstGeom>
          <a:noFill/>
        </p:spPr>
        <p:txBody>
          <a:bodyPr wrap="none" lIns="18288" tIns="9144" rIns="18288" bIns="9144">
            <a:spAutoFit/>
          </a:bodyPr>
          <a:lstStyle/>
          <a:p>
            <a:pPr>
              <a:defRPr sz="1050" b="0" i="0">
                <a:solidFill>
                  <a:srgbClr val="5B7387"/>
                </a:solidFill>
                <a:latin typeface="Aptos"/>
              </a:defRPr>
            </a:pPr>
            <a:r>
              <a:t>Joined PHG — Zambrero Cessnock</a:t>
            </a:r>
          </a:p>
        </p:txBody>
      </p:sp>
      <p:sp>
        <p:nvSpPr>
          <p:cNvPr id="74" name="Oval 73"/>
          <p:cNvSpPr/>
          <p:nvPr/>
        </p:nvSpPr>
        <p:spPr>
          <a:xfrm>
            <a:off x="411480" y="2377440"/>
            <a:ext cx="109728" cy="109728"/>
          </a:xfrm>
          <a:prstGeom prst="ellipse">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594360" y="2331720"/>
            <a:ext cx="1645920" cy="201168"/>
          </a:xfrm>
          <a:prstGeom prst="rect">
            <a:avLst/>
          </a:prstGeom>
          <a:noFill/>
        </p:spPr>
        <p:txBody>
          <a:bodyPr wrap="none" lIns="18288" tIns="9144" rIns="18288" bIns="9144">
            <a:spAutoFit/>
          </a:bodyPr>
          <a:lstStyle/>
          <a:p>
            <a:pPr>
              <a:defRPr sz="1050" b="1" i="0">
                <a:solidFill>
                  <a:srgbClr val="005487"/>
                </a:solidFill>
                <a:latin typeface="Aptos"/>
              </a:defRPr>
            </a:pPr>
            <a:r>
              <a:t>Banjo Conway</a:t>
            </a:r>
          </a:p>
        </p:txBody>
      </p:sp>
      <p:sp>
        <p:nvSpPr>
          <p:cNvPr id="76" name="TextBox 75"/>
          <p:cNvSpPr txBox="1"/>
          <p:nvPr/>
        </p:nvSpPr>
        <p:spPr>
          <a:xfrm>
            <a:off x="2240280" y="2331720"/>
            <a:ext cx="4206240" cy="201168"/>
          </a:xfrm>
          <a:prstGeom prst="rect">
            <a:avLst/>
          </a:prstGeom>
          <a:noFill/>
        </p:spPr>
        <p:txBody>
          <a:bodyPr wrap="none" lIns="18288" tIns="9144" rIns="18288" bIns="9144">
            <a:spAutoFit/>
          </a:bodyPr>
          <a:lstStyle/>
          <a:p>
            <a:pPr>
              <a:defRPr sz="1050" b="0" i="0">
                <a:solidFill>
                  <a:srgbClr val="5B7387"/>
                </a:solidFill>
                <a:latin typeface="Aptos"/>
              </a:defRPr>
            </a:pPr>
            <a:r>
              <a:t>Joined PHG — Oporto Wodonga</a:t>
            </a:r>
          </a:p>
        </p:txBody>
      </p:sp>
      <p:sp>
        <p:nvSpPr>
          <p:cNvPr id="120" name="Oval 119"/>
          <p:cNvSpPr/>
          <p:nvPr/>
        </p:nvSpPr>
        <p:spPr>
          <a:xfrm>
            <a:off x="411480" y="2615184"/>
            <a:ext cx="109728" cy="109728"/>
          </a:xfrm>
          <a:prstGeom prst="ellipse">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p:nvPr/>
        </p:nvSpPr>
        <p:spPr>
          <a:xfrm>
            <a:off x="594360" y="2569464"/>
            <a:ext cx="1645920" cy="201168"/>
          </a:xfrm>
          <a:prstGeom prst="rect">
            <a:avLst/>
          </a:prstGeom>
          <a:noFill/>
        </p:spPr>
        <p:txBody>
          <a:bodyPr wrap="none" lIns="18288" tIns="9144" rIns="18288" bIns="9144">
            <a:spAutoFit/>
          </a:bodyPr>
          <a:lstStyle/>
          <a:p>
            <a:pPr>
              <a:defRPr sz="1050" b="1" i="0">
                <a:solidFill>
                  <a:srgbClr val="005487"/>
                </a:solidFill>
                <a:latin typeface="Aptos"/>
              </a:defRPr>
            </a:pPr>
            <a:r>
              <a:t>Alexis Ercegovic</a:t>
            </a:r>
          </a:p>
        </p:txBody>
      </p:sp>
      <p:sp>
        <p:nvSpPr>
          <p:cNvPr id="122" name="TextBox 121"/>
          <p:cNvSpPr txBox="1"/>
          <p:nvPr/>
        </p:nvSpPr>
        <p:spPr>
          <a:xfrm>
            <a:off x="2240280" y="2569464"/>
            <a:ext cx="4206240" cy="201168"/>
          </a:xfrm>
          <a:prstGeom prst="rect">
            <a:avLst/>
          </a:prstGeom>
          <a:noFill/>
        </p:spPr>
        <p:txBody>
          <a:bodyPr wrap="none" lIns="18288" tIns="9144" rIns="18288" bIns="9144">
            <a:spAutoFit/>
          </a:bodyPr>
          <a:lstStyle/>
          <a:p>
            <a:pPr>
              <a:defRPr sz="1050" b="0" i="0">
                <a:solidFill>
                  <a:srgbClr val="5B7387"/>
                </a:solidFill>
                <a:latin typeface="Aptos"/>
              </a:defRPr>
            </a:pPr>
            <a:r>
              <a:t>Joined PHG — Oporto Wodonga</a:t>
            </a:r>
          </a:p>
        </p:txBody>
      </p:sp>
      <p:sp>
        <p:nvSpPr>
          <p:cNvPr id="77" name="Rounded Rectangle 76"/>
          <p:cNvSpPr/>
          <p:nvPr/>
        </p:nvSpPr>
        <p:spPr>
          <a:xfrm>
            <a:off x="201168" y="2966352"/>
            <a:ext cx="6455664" cy="960120"/>
          </a:xfrm>
          <a:prstGeom prst="roundRect">
            <a:avLst/>
          </a:prstGeom>
          <a:solidFill>
            <a:srgbClr val="005487"/>
          </a:solidFill>
          <a:ln w="12700">
            <a:solidFill>
              <a:srgbClr val="0054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411480" y="3121800"/>
            <a:ext cx="5943600" cy="201168"/>
          </a:xfrm>
          <a:prstGeom prst="rect">
            <a:avLst/>
          </a:prstGeom>
          <a:noFill/>
        </p:spPr>
        <p:txBody>
          <a:bodyPr wrap="none" lIns="18288" tIns="9144" rIns="18288" bIns="9144">
            <a:spAutoFit/>
          </a:bodyPr>
          <a:lstStyle/>
          <a:p>
            <a:pPr>
              <a:defRPr sz="1150" b="1" i="0">
                <a:solidFill>
                  <a:srgbClr val="FFFFFF"/>
                </a:solidFill>
                <a:latin typeface="Georgia"/>
              </a:defRPr>
            </a:pPr>
            <a:r>
              <a:t>WORK ANNIVERSARIES</a:t>
            </a:r>
          </a:p>
        </p:txBody>
      </p:sp>
      <p:sp>
        <p:nvSpPr>
          <p:cNvPr id="124" name="Oval 123"/>
          <p:cNvSpPr/>
          <p:nvPr/>
        </p:nvSpPr>
        <p:spPr>
          <a:xfrm>
            <a:off x="411480" y="3487560"/>
            <a:ext cx="100584" cy="100584"/>
          </a:xfrm>
          <a:prstGeom prst="ellipse">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TextBox 124"/>
          <p:cNvSpPr txBox="1"/>
          <p:nvPr/>
        </p:nvSpPr>
        <p:spPr>
          <a:xfrm>
            <a:off x="594360" y="3441840"/>
            <a:ext cx="1300000" cy="201168"/>
          </a:xfrm>
          <a:prstGeom prst="rect">
            <a:avLst/>
          </a:prstGeom>
          <a:noFill/>
        </p:spPr>
        <p:txBody>
          <a:bodyPr wrap="none" lIns="18288" tIns="9144" rIns="18288" bIns="9144">
            <a:spAutoFit/>
          </a:bodyPr>
          <a:lstStyle/>
          <a:p>
            <a:pPr>
              <a:defRPr sz="880" b="0" i="0">
                <a:solidFill>
                  <a:srgbClr val="FFFFFF"/>
                </a:solidFill>
                <a:latin typeface="Aptos"/>
              </a:defRPr>
            </a:pPr>
            <a:r>
              <a:t>Mitchell Rejc — 1 yr</a:t>
            </a:r>
          </a:p>
        </p:txBody>
      </p:sp>
      <p:sp>
        <p:nvSpPr>
          <p:cNvPr id="126" name="Oval 125"/>
          <p:cNvSpPr/>
          <p:nvPr/>
        </p:nvSpPr>
        <p:spPr>
          <a:xfrm>
            <a:off x="1920240" y="3487560"/>
            <a:ext cx="100584" cy="100584"/>
          </a:xfrm>
          <a:prstGeom prst="ellipse">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TextBox 126"/>
          <p:cNvSpPr txBox="1"/>
          <p:nvPr/>
        </p:nvSpPr>
        <p:spPr>
          <a:xfrm>
            <a:off x="2103120" y="3441840"/>
            <a:ext cx="1300000" cy="201168"/>
          </a:xfrm>
          <a:prstGeom prst="rect">
            <a:avLst/>
          </a:prstGeom>
          <a:noFill/>
        </p:spPr>
        <p:txBody>
          <a:bodyPr wrap="none" lIns="18288" tIns="9144" rIns="18288" bIns="9144">
            <a:spAutoFit/>
          </a:bodyPr>
          <a:lstStyle/>
          <a:p>
            <a:pPr>
              <a:defRPr sz="880" b="0" i="0">
                <a:solidFill>
                  <a:srgbClr val="FFFFFF"/>
                </a:solidFill>
                <a:latin typeface="Aptos"/>
              </a:defRPr>
            </a:pPr>
            <a:r>
              <a:t>Hadisa Ataee — 1 yr</a:t>
            </a:r>
          </a:p>
        </p:txBody>
      </p:sp>
      <p:sp>
        <p:nvSpPr>
          <p:cNvPr id="128" name="Oval 127"/>
          <p:cNvSpPr/>
          <p:nvPr/>
        </p:nvSpPr>
        <p:spPr>
          <a:xfrm>
            <a:off x="3429000" y="3487560"/>
            <a:ext cx="100584" cy="100584"/>
          </a:xfrm>
          <a:prstGeom prst="ellipse">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TextBox 128"/>
          <p:cNvSpPr txBox="1"/>
          <p:nvPr/>
        </p:nvSpPr>
        <p:spPr>
          <a:xfrm>
            <a:off x="3611880" y="3441840"/>
            <a:ext cx="1300000" cy="201168"/>
          </a:xfrm>
          <a:prstGeom prst="rect">
            <a:avLst/>
          </a:prstGeom>
          <a:noFill/>
        </p:spPr>
        <p:txBody>
          <a:bodyPr wrap="none" lIns="18288" tIns="9144" rIns="18288" bIns="9144">
            <a:spAutoFit/>
          </a:bodyPr>
          <a:lstStyle/>
          <a:p>
            <a:pPr>
              <a:defRPr sz="880" b="0" i="0">
                <a:solidFill>
                  <a:srgbClr val="FFFFFF"/>
                </a:solidFill>
                <a:latin typeface="Aptos"/>
              </a:defRPr>
            </a:pPr>
            <a:r>
              <a:t>Brodie Hackett — 1 yr</a:t>
            </a:r>
          </a:p>
        </p:txBody>
      </p:sp>
      <p:sp>
        <p:nvSpPr>
          <p:cNvPr id="130" name="Oval 129"/>
          <p:cNvSpPr/>
          <p:nvPr/>
        </p:nvSpPr>
        <p:spPr>
          <a:xfrm>
            <a:off x="4937760" y="3487560"/>
            <a:ext cx="100584" cy="100584"/>
          </a:xfrm>
          <a:prstGeom prst="ellipse">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TextBox 130"/>
          <p:cNvSpPr txBox="1"/>
          <p:nvPr/>
        </p:nvSpPr>
        <p:spPr>
          <a:xfrm>
            <a:off x="5120640" y="3441840"/>
            <a:ext cx="1300000" cy="201168"/>
          </a:xfrm>
          <a:prstGeom prst="rect">
            <a:avLst/>
          </a:prstGeom>
          <a:noFill/>
        </p:spPr>
        <p:txBody>
          <a:bodyPr wrap="none" lIns="18288" tIns="9144" rIns="18288" bIns="9144">
            <a:spAutoFit/>
          </a:bodyPr>
          <a:lstStyle/>
          <a:p>
            <a:pPr>
              <a:defRPr sz="880" b="0" i="0">
                <a:solidFill>
                  <a:srgbClr val="FFFFFF"/>
                </a:solidFill>
                <a:latin typeface="Aptos"/>
              </a:defRPr>
            </a:pPr>
            <a:r>
              <a:t>Uma Baumeister — 1 yr</a:t>
            </a:r>
          </a:p>
        </p:txBody>
      </p:sp>
      <p:sp>
        <p:nvSpPr>
          <p:cNvPr id="132" name="Oval 131"/>
          <p:cNvSpPr/>
          <p:nvPr/>
        </p:nvSpPr>
        <p:spPr>
          <a:xfrm>
            <a:off x="411480" y="3725304"/>
            <a:ext cx="100584" cy="100584"/>
          </a:xfrm>
          <a:prstGeom prst="ellipse">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TextBox 132"/>
          <p:cNvSpPr txBox="1"/>
          <p:nvPr/>
        </p:nvSpPr>
        <p:spPr>
          <a:xfrm>
            <a:off x="594360" y="3679584"/>
            <a:ext cx="1300000" cy="201168"/>
          </a:xfrm>
          <a:prstGeom prst="rect">
            <a:avLst/>
          </a:prstGeom>
          <a:noFill/>
        </p:spPr>
        <p:txBody>
          <a:bodyPr wrap="none" lIns="18288" tIns="9144" rIns="18288" bIns="9144">
            <a:spAutoFit/>
          </a:bodyPr>
          <a:lstStyle/>
          <a:p>
            <a:pPr>
              <a:defRPr sz="880" b="0" i="0">
                <a:solidFill>
                  <a:srgbClr val="FFFFFF"/>
                </a:solidFill>
                <a:latin typeface="Aptos"/>
              </a:defRPr>
            </a:pPr>
            <a:r>
              <a:t>Hudson Gray — 2 yrs</a:t>
            </a:r>
          </a:p>
        </p:txBody>
      </p:sp>
      <p:sp>
        <p:nvSpPr>
          <p:cNvPr id="134" name="Oval 133"/>
          <p:cNvSpPr/>
          <p:nvPr/>
        </p:nvSpPr>
        <p:spPr>
          <a:xfrm>
            <a:off x="1920240" y="3725304"/>
            <a:ext cx="100584" cy="100584"/>
          </a:xfrm>
          <a:prstGeom prst="ellipse">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TextBox 134"/>
          <p:cNvSpPr txBox="1"/>
          <p:nvPr/>
        </p:nvSpPr>
        <p:spPr>
          <a:xfrm>
            <a:off x="2103120" y="3679584"/>
            <a:ext cx="1300000" cy="201168"/>
          </a:xfrm>
          <a:prstGeom prst="rect">
            <a:avLst/>
          </a:prstGeom>
          <a:noFill/>
        </p:spPr>
        <p:txBody>
          <a:bodyPr wrap="none" lIns="18288" tIns="9144" rIns="18288" bIns="9144">
            <a:spAutoFit/>
          </a:bodyPr>
          <a:lstStyle/>
          <a:p>
            <a:pPr>
              <a:defRPr sz="880" b="0" i="0">
                <a:solidFill>
                  <a:srgbClr val="FFFFFF"/>
                </a:solidFill>
                <a:latin typeface="Aptos"/>
              </a:defRPr>
            </a:pPr>
            <a:r>
              <a:t>Jai Grainger — 2 yrs</a:t>
            </a:r>
          </a:p>
        </p:txBody>
      </p:sp>
      <p:sp>
        <p:nvSpPr>
          <p:cNvPr id="136" name="Oval 135"/>
          <p:cNvSpPr/>
          <p:nvPr/>
        </p:nvSpPr>
        <p:spPr>
          <a:xfrm>
            <a:off x="3429000" y="3725304"/>
            <a:ext cx="100584" cy="100584"/>
          </a:xfrm>
          <a:prstGeom prst="ellipse">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Oval 137"/>
          <p:cNvSpPr/>
          <p:nvPr/>
        </p:nvSpPr>
        <p:spPr>
          <a:xfrm>
            <a:off x="4937760" y="3725304"/>
            <a:ext cx="100584" cy="100584"/>
          </a:xfrm>
          <a:prstGeom prst="ellipse">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TextBox 138"/>
          <p:cNvSpPr txBox="1"/>
          <p:nvPr/>
        </p:nvSpPr>
        <p:spPr>
          <a:xfrm>
            <a:off x="3611880" y="3679584"/>
            <a:ext cx="1300000" cy="201168"/>
          </a:xfrm>
          <a:prstGeom prst="rect">
            <a:avLst/>
          </a:prstGeom>
          <a:noFill/>
        </p:spPr>
        <p:txBody>
          <a:bodyPr wrap="none" lIns="18288" tIns="9144" rIns="18288" bIns="9144">
            <a:spAutoFit/>
          </a:bodyPr>
          <a:lstStyle/>
          <a:p>
            <a:pPr>
              <a:defRPr sz="880" b="0" i="0">
                <a:solidFill>
                  <a:srgbClr val="FFFFFF"/>
                </a:solidFill>
                <a:latin typeface="Aptos"/>
              </a:defRPr>
            </a:pPr>
            <a:r>
              <a:t>Julia Burnes — 3 yrs</a:t>
            </a:r>
          </a:p>
        </p:txBody>
      </p:sp>
      <p:sp>
        <p:nvSpPr>
          <p:cNvPr id="80" name="Rounded Rectangle 79"/>
          <p:cNvSpPr/>
          <p:nvPr/>
        </p:nvSpPr>
        <p:spPr>
          <a:xfrm>
            <a:off x="201168" y="4076472"/>
            <a:ext cx="6455664" cy="2203704"/>
          </a:xfrm>
          <a:prstGeom prst="roundRect">
            <a:avLst/>
          </a:prstGeom>
          <a:solidFill>
            <a:srgbClr val="FFFFFF"/>
          </a:solidFill>
          <a:ln w="12700">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411480" y="4231920"/>
            <a:ext cx="1790618" cy="203133"/>
          </a:xfrm>
          <a:prstGeom prst="rect">
            <a:avLst/>
          </a:prstGeom>
          <a:noFill/>
        </p:spPr>
        <p:txBody>
          <a:bodyPr wrap="none" lIns="18288" tIns="9144" rIns="18288" bIns="9144">
            <a:spAutoFit/>
          </a:bodyPr>
          <a:lstStyle/>
          <a:p>
            <a:pPr>
              <a:defRPr sz="1200" b="1" i="0">
                <a:solidFill>
                  <a:srgbClr val="005487"/>
                </a:solidFill>
                <a:latin typeface="Georgia"/>
              </a:defRPr>
            </a:pPr>
            <a:r>
              <a:rPr lang="en-AU" dirty="0"/>
              <a:t>AUGUST</a:t>
            </a:r>
            <a:r>
              <a:rPr dirty="0"/>
              <a:t> BIRTHDAYS</a:t>
            </a:r>
          </a:p>
        </p:txBody>
      </p:sp>
      <p:sp>
        <p:nvSpPr>
          <p:cNvPr id="82" name="Oval 81"/>
          <p:cNvSpPr/>
          <p:nvPr/>
        </p:nvSpPr>
        <p:spPr>
          <a:xfrm>
            <a:off x="411480" y="4652545"/>
            <a:ext cx="100584" cy="100584"/>
          </a:xfrm>
          <a:prstGeom prst="ellipse">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594360" y="4606825"/>
            <a:ext cx="2560320" cy="201168"/>
          </a:xfrm>
          <a:prstGeom prst="rect">
            <a:avLst/>
          </a:prstGeom>
          <a:noFill/>
        </p:spPr>
        <p:txBody>
          <a:bodyPr wrap="none" lIns="18288" tIns="9144" rIns="18288" bIns="9144">
            <a:spAutoFit/>
          </a:bodyPr>
          <a:lstStyle/>
          <a:p>
            <a:pPr>
              <a:defRPr sz="980" b="0" i="0">
                <a:solidFill>
                  <a:srgbClr val="5B7387"/>
                </a:solidFill>
                <a:latin typeface="Aptos"/>
              </a:defRPr>
            </a:pPr>
            <a:r>
              <a:t>Huu Dec Le — 1 Aug</a:t>
            </a:r>
          </a:p>
        </p:txBody>
      </p:sp>
      <p:sp>
        <p:nvSpPr>
          <p:cNvPr id="84" name="Oval 83"/>
          <p:cNvSpPr/>
          <p:nvPr/>
        </p:nvSpPr>
        <p:spPr>
          <a:xfrm>
            <a:off x="411480" y="4890289"/>
            <a:ext cx="100584" cy="100584"/>
          </a:xfrm>
          <a:prstGeom prst="ellipse">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594360" y="4844569"/>
            <a:ext cx="2560320" cy="201168"/>
          </a:xfrm>
          <a:prstGeom prst="rect">
            <a:avLst/>
          </a:prstGeom>
          <a:noFill/>
        </p:spPr>
        <p:txBody>
          <a:bodyPr wrap="none" lIns="18288" tIns="9144" rIns="18288" bIns="9144">
            <a:spAutoFit/>
          </a:bodyPr>
          <a:lstStyle/>
          <a:p>
            <a:pPr>
              <a:defRPr sz="980" b="0" i="0">
                <a:solidFill>
                  <a:srgbClr val="5B7387"/>
                </a:solidFill>
                <a:latin typeface="Aptos"/>
              </a:defRPr>
            </a:pPr>
            <a:r>
              <a:t>Eden Styman — 1 Aug</a:t>
            </a:r>
          </a:p>
        </p:txBody>
      </p:sp>
      <p:sp>
        <p:nvSpPr>
          <p:cNvPr id="86" name="Oval 85"/>
          <p:cNvSpPr/>
          <p:nvPr/>
        </p:nvSpPr>
        <p:spPr>
          <a:xfrm>
            <a:off x="411480" y="5128033"/>
            <a:ext cx="100584" cy="100584"/>
          </a:xfrm>
          <a:prstGeom prst="ellipse">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594360" y="5082313"/>
            <a:ext cx="2560320" cy="201168"/>
          </a:xfrm>
          <a:prstGeom prst="rect">
            <a:avLst/>
          </a:prstGeom>
          <a:noFill/>
        </p:spPr>
        <p:txBody>
          <a:bodyPr wrap="none" lIns="18288" tIns="9144" rIns="18288" bIns="9144">
            <a:spAutoFit/>
          </a:bodyPr>
          <a:lstStyle/>
          <a:p>
            <a:pPr>
              <a:defRPr sz="980" b="0" i="0">
                <a:solidFill>
                  <a:srgbClr val="5B7387"/>
                </a:solidFill>
                <a:latin typeface="Aptos"/>
              </a:defRPr>
            </a:pPr>
            <a:r>
              <a:t>Isabelle Donnellan — 4 Aug</a:t>
            </a:r>
          </a:p>
        </p:txBody>
      </p:sp>
      <p:sp>
        <p:nvSpPr>
          <p:cNvPr id="88" name="Oval 87"/>
          <p:cNvSpPr/>
          <p:nvPr/>
        </p:nvSpPr>
        <p:spPr>
          <a:xfrm>
            <a:off x="411480" y="5365777"/>
            <a:ext cx="100584" cy="100584"/>
          </a:xfrm>
          <a:prstGeom prst="ellipse">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594360" y="5320057"/>
            <a:ext cx="2087174" cy="169277"/>
          </a:xfrm>
          <a:prstGeom prst="rect">
            <a:avLst/>
          </a:prstGeom>
          <a:noFill/>
        </p:spPr>
        <p:txBody>
          <a:bodyPr wrap="none" lIns="18288" tIns="9144" rIns="18288" bIns="9144">
            <a:spAutoFit/>
          </a:bodyPr>
          <a:lstStyle/>
          <a:p>
            <a:pPr>
              <a:defRPr sz="980" b="0" i="0">
                <a:solidFill>
                  <a:srgbClr val="5B7387"/>
                </a:solidFill>
                <a:latin typeface="Aptos"/>
              </a:defRPr>
            </a:pPr>
            <a:r>
              <a:rPr dirty="0"/>
              <a:t>Romy Tough — 6 Aug, 18</a:t>
            </a:r>
            <a:r>
              <a:rPr lang="en-AU" dirty="0"/>
              <a:t> Years Old</a:t>
            </a:r>
            <a:r>
              <a:rPr dirty="0"/>
              <a:t> </a:t>
            </a:r>
            <a:r>
              <a:rPr lang="en-AU" dirty="0"/>
              <a:t> </a:t>
            </a:r>
            <a:r>
              <a:rPr dirty="0"/>
              <a:t>🎉</a:t>
            </a:r>
          </a:p>
        </p:txBody>
      </p:sp>
      <p:sp>
        <p:nvSpPr>
          <p:cNvPr id="90" name="Oval 89"/>
          <p:cNvSpPr/>
          <p:nvPr/>
        </p:nvSpPr>
        <p:spPr>
          <a:xfrm>
            <a:off x="3520440" y="4652545"/>
            <a:ext cx="100584" cy="100584"/>
          </a:xfrm>
          <a:prstGeom prst="ellipse">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3703320" y="4606825"/>
            <a:ext cx="2560320" cy="201168"/>
          </a:xfrm>
          <a:prstGeom prst="rect">
            <a:avLst/>
          </a:prstGeom>
          <a:noFill/>
        </p:spPr>
        <p:txBody>
          <a:bodyPr wrap="none" lIns="18288" tIns="9144" rIns="18288" bIns="9144">
            <a:spAutoFit/>
          </a:bodyPr>
          <a:lstStyle/>
          <a:p>
            <a:pPr>
              <a:defRPr sz="980" b="0" i="0">
                <a:solidFill>
                  <a:srgbClr val="5B7387"/>
                </a:solidFill>
                <a:latin typeface="Aptos"/>
              </a:defRPr>
            </a:pPr>
            <a:r>
              <a:t>Jack Turnbull — 17 Aug</a:t>
            </a:r>
          </a:p>
        </p:txBody>
      </p:sp>
      <p:sp>
        <p:nvSpPr>
          <p:cNvPr id="92" name="Oval 91"/>
          <p:cNvSpPr/>
          <p:nvPr/>
        </p:nvSpPr>
        <p:spPr>
          <a:xfrm>
            <a:off x="3520440" y="4890289"/>
            <a:ext cx="100584" cy="100584"/>
          </a:xfrm>
          <a:prstGeom prst="ellipse">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3703320" y="4844569"/>
            <a:ext cx="2560320" cy="201168"/>
          </a:xfrm>
          <a:prstGeom prst="rect">
            <a:avLst/>
          </a:prstGeom>
          <a:noFill/>
        </p:spPr>
        <p:txBody>
          <a:bodyPr wrap="none" lIns="18288" tIns="9144" rIns="18288" bIns="9144">
            <a:spAutoFit/>
          </a:bodyPr>
          <a:lstStyle/>
          <a:p>
            <a:pPr>
              <a:defRPr sz="980" b="0" i="0">
                <a:solidFill>
                  <a:srgbClr val="5B7387"/>
                </a:solidFill>
                <a:latin typeface="Aptos"/>
              </a:defRPr>
            </a:pPr>
            <a:r>
              <a:t>Kevin Puentes — 18 Aug</a:t>
            </a:r>
          </a:p>
        </p:txBody>
      </p:sp>
      <p:sp>
        <p:nvSpPr>
          <p:cNvPr id="94" name="Oval 93"/>
          <p:cNvSpPr/>
          <p:nvPr/>
        </p:nvSpPr>
        <p:spPr>
          <a:xfrm>
            <a:off x="3520440" y="5128033"/>
            <a:ext cx="100584" cy="100584"/>
          </a:xfrm>
          <a:prstGeom prst="ellipse">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3703320" y="5082313"/>
            <a:ext cx="2560320" cy="201168"/>
          </a:xfrm>
          <a:prstGeom prst="rect">
            <a:avLst/>
          </a:prstGeom>
          <a:noFill/>
        </p:spPr>
        <p:txBody>
          <a:bodyPr wrap="none" lIns="18288" tIns="9144" rIns="18288" bIns="9144">
            <a:spAutoFit/>
          </a:bodyPr>
          <a:lstStyle/>
          <a:p>
            <a:pPr>
              <a:defRPr sz="980" b="0" i="0">
                <a:solidFill>
                  <a:srgbClr val="5B7387"/>
                </a:solidFill>
                <a:latin typeface="Aptos"/>
              </a:defRPr>
            </a:pPr>
            <a:r>
              <a:t>Talisha Guy — 20 Aug</a:t>
            </a:r>
          </a:p>
        </p:txBody>
      </p:sp>
      <p:sp>
        <p:nvSpPr>
          <p:cNvPr id="96" name="Oval 95"/>
          <p:cNvSpPr/>
          <p:nvPr/>
        </p:nvSpPr>
        <p:spPr>
          <a:xfrm>
            <a:off x="3520440" y="5365777"/>
            <a:ext cx="100584" cy="100584"/>
          </a:xfrm>
          <a:prstGeom prst="ellipse">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3703320" y="5320057"/>
            <a:ext cx="2340449" cy="169277"/>
          </a:xfrm>
          <a:prstGeom prst="rect">
            <a:avLst/>
          </a:prstGeom>
          <a:noFill/>
        </p:spPr>
        <p:txBody>
          <a:bodyPr wrap="none" lIns="18288" tIns="9144" rIns="18288" bIns="9144">
            <a:spAutoFit/>
          </a:bodyPr>
          <a:lstStyle/>
          <a:p>
            <a:pPr>
              <a:defRPr sz="980" b="0" i="0">
                <a:solidFill>
                  <a:srgbClr val="5B7387"/>
                </a:solidFill>
                <a:latin typeface="Aptos"/>
              </a:defRPr>
            </a:pPr>
            <a:r>
              <a:rPr dirty="0"/>
              <a:t>Drew </a:t>
            </a:r>
            <a:r>
              <a:rPr dirty="0" err="1"/>
              <a:t>Besednjak</a:t>
            </a:r>
            <a:r>
              <a:rPr dirty="0"/>
              <a:t> — 20 Aug, 18</a:t>
            </a:r>
            <a:r>
              <a:rPr lang="en-AU" dirty="0"/>
              <a:t> Years Old</a:t>
            </a:r>
            <a:r>
              <a:rPr dirty="0"/>
              <a:t> 🎉</a:t>
            </a:r>
          </a:p>
        </p:txBody>
      </p:sp>
      <p:sp>
        <p:nvSpPr>
          <p:cNvPr id="108" name="Oval 107"/>
          <p:cNvSpPr/>
          <p:nvPr/>
        </p:nvSpPr>
        <p:spPr>
          <a:xfrm>
            <a:off x="411480" y="5603521"/>
            <a:ext cx="100584" cy="100584"/>
          </a:xfrm>
          <a:prstGeom prst="ellipse">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594360" y="5557801"/>
            <a:ext cx="2560320" cy="201168"/>
          </a:xfrm>
          <a:prstGeom prst="rect">
            <a:avLst/>
          </a:prstGeom>
          <a:noFill/>
        </p:spPr>
        <p:txBody>
          <a:bodyPr wrap="none" lIns="18288" tIns="9144" rIns="18288" bIns="9144">
            <a:spAutoFit/>
          </a:bodyPr>
          <a:lstStyle/>
          <a:p>
            <a:pPr>
              <a:defRPr sz="980" b="0" i="0">
                <a:solidFill>
                  <a:srgbClr val="5B7387"/>
                </a:solidFill>
                <a:latin typeface="Aptos"/>
              </a:defRPr>
            </a:pPr>
            <a:r>
              <a:t>Isla McCawley — 9 Aug</a:t>
            </a:r>
          </a:p>
        </p:txBody>
      </p:sp>
      <p:sp>
        <p:nvSpPr>
          <p:cNvPr id="110" name="Oval 109"/>
          <p:cNvSpPr/>
          <p:nvPr/>
        </p:nvSpPr>
        <p:spPr>
          <a:xfrm>
            <a:off x="411480" y="5841265"/>
            <a:ext cx="100584" cy="100584"/>
          </a:xfrm>
          <a:prstGeom prst="ellipse">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TextBox 110"/>
          <p:cNvSpPr txBox="1"/>
          <p:nvPr/>
        </p:nvSpPr>
        <p:spPr>
          <a:xfrm>
            <a:off x="594360" y="5795545"/>
            <a:ext cx="2560320" cy="201168"/>
          </a:xfrm>
          <a:prstGeom prst="rect">
            <a:avLst/>
          </a:prstGeom>
          <a:noFill/>
        </p:spPr>
        <p:txBody>
          <a:bodyPr wrap="none" lIns="18288" tIns="9144" rIns="18288" bIns="9144">
            <a:spAutoFit/>
          </a:bodyPr>
          <a:lstStyle/>
          <a:p>
            <a:pPr>
              <a:defRPr sz="980" b="0" i="0">
                <a:solidFill>
                  <a:srgbClr val="5B7387"/>
                </a:solidFill>
                <a:latin typeface="Aptos"/>
              </a:defRPr>
            </a:pPr>
            <a:r>
              <a:t>Cooper Willoughby — 11 Aug</a:t>
            </a:r>
          </a:p>
        </p:txBody>
      </p:sp>
      <p:sp>
        <p:nvSpPr>
          <p:cNvPr id="112" name="Oval 111"/>
          <p:cNvSpPr/>
          <p:nvPr/>
        </p:nvSpPr>
        <p:spPr>
          <a:xfrm>
            <a:off x="411480" y="6079009"/>
            <a:ext cx="100584" cy="100584"/>
          </a:xfrm>
          <a:prstGeom prst="ellipse">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12"/>
          <p:cNvSpPr txBox="1"/>
          <p:nvPr/>
        </p:nvSpPr>
        <p:spPr>
          <a:xfrm>
            <a:off x="594360" y="6033289"/>
            <a:ext cx="2560320" cy="201168"/>
          </a:xfrm>
          <a:prstGeom prst="rect">
            <a:avLst/>
          </a:prstGeom>
          <a:noFill/>
        </p:spPr>
        <p:txBody>
          <a:bodyPr wrap="none" lIns="18288" tIns="9144" rIns="18288" bIns="9144">
            <a:spAutoFit/>
          </a:bodyPr>
          <a:lstStyle/>
          <a:p>
            <a:pPr>
              <a:defRPr sz="980" b="0" i="0">
                <a:solidFill>
                  <a:srgbClr val="5B7387"/>
                </a:solidFill>
                <a:latin typeface="Aptos"/>
              </a:defRPr>
            </a:pPr>
            <a:r>
              <a:t>Annabelle Yarrowshakespeare — 14 Aug</a:t>
            </a:r>
          </a:p>
        </p:txBody>
      </p:sp>
      <p:sp>
        <p:nvSpPr>
          <p:cNvPr id="114" name="Oval 113"/>
          <p:cNvSpPr/>
          <p:nvPr/>
        </p:nvSpPr>
        <p:spPr>
          <a:xfrm>
            <a:off x="3520440" y="5603521"/>
            <a:ext cx="100584" cy="100584"/>
          </a:xfrm>
          <a:prstGeom prst="ellipse">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114"/>
          <p:cNvSpPr txBox="1"/>
          <p:nvPr/>
        </p:nvSpPr>
        <p:spPr>
          <a:xfrm>
            <a:off x="3703320" y="5557801"/>
            <a:ext cx="2560320" cy="201168"/>
          </a:xfrm>
          <a:prstGeom prst="rect">
            <a:avLst/>
          </a:prstGeom>
          <a:noFill/>
        </p:spPr>
        <p:txBody>
          <a:bodyPr wrap="none" lIns="18288" tIns="9144" rIns="18288" bIns="9144">
            <a:spAutoFit/>
          </a:bodyPr>
          <a:lstStyle/>
          <a:p>
            <a:pPr>
              <a:defRPr sz="980" b="0" i="0">
                <a:solidFill>
                  <a:srgbClr val="5B7387"/>
                </a:solidFill>
                <a:latin typeface="Aptos"/>
              </a:defRPr>
            </a:pPr>
            <a:r>
              <a:t>Ryder Lowe — 20 Aug</a:t>
            </a:r>
          </a:p>
        </p:txBody>
      </p:sp>
      <p:sp>
        <p:nvSpPr>
          <p:cNvPr id="116" name="Oval 115"/>
          <p:cNvSpPr/>
          <p:nvPr/>
        </p:nvSpPr>
        <p:spPr>
          <a:xfrm>
            <a:off x="3520440" y="5841265"/>
            <a:ext cx="100584" cy="100584"/>
          </a:xfrm>
          <a:prstGeom prst="ellipse">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TextBox 116"/>
          <p:cNvSpPr txBox="1"/>
          <p:nvPr/>
        </p:nvSpPr>
        <p:spPr>
          <a:xfrm>
            <a:off x="3703320" y="5795545"/>
            <a:ext cx="2560320" cy="201168"/>
          </a:xfrm>
          <a:prstGeom prst="rect">
            <a:avLst/>
          </a:prstGeom>
          <a:noFill/>
        </p:spPr>
        <p:txBody>
          <a:bodyPr wrap="none" lIns="18288" tIns="9144" rIns="18288" bIns="9144">
            <a:spAutoFit/>
          </a:bodyPr>
          <a:lstStyle/>
          <a:p>
            <a:pPr>
              <a:defRPr sz="980" b="0" i="0">
                <a:solidFill>
                  <a:srgbClr val="5B7387"/>
                </a:solidFill>
                <a:latin typeface="Aptos"/>
              </a:defRPr>
            </a:pPr>
            <a:r>
              <a:t>Mitchell Rejc — 28 Aug</a:t>
            </a:r>
          </a:p>
        </p:txBody>
      </p:sp>
      <p:sp>
        <p:nvSpPr>
          <p:cNvPr id="118" name="Oval 117"/>
          <p:cNvSpPr/>
          <p:nvPr/>
        </p:nvSpPr>
        <p:spPr>
          <a:xfrm>
            <a:off x="3520440" y="6079009"/>
            <a:ext cx="100584" cy="100584"/>
          </a:xfrm>
          <a:prstGeom prst="ellipse">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TextBox 118"/>
          <p:cNvSpPr txBox="1"/>
          <p:nvPr/>
        </p:nvSpPr>
        <p:spPr>
          <a:xfrm>
            <a:off x="3703320" y="6033289"/>
            <a:ext cx="2233047" cy="169277"/>
          </a:xfrm>
          <a:prstGeom prst="rect">
            <a:avLst/>
          </a:prstGeom>
          <a:noFill/>
        </p:spPr>
        <p:txBody>
          <a:bodyPr wrap="none" lIns="18288" tIns="9144" rIns="18288" bIns="9144">
            <a:spAutoFit/>
          </a:bodyPr>
          <a:lstStyle/>
          <a:p>
            <a:pPr>
              <a:defRPr sz="980" b="0" i="0">
                <a:solidFill>
                  <a:srgbClr val="5B7387"/>
                </a:solidFill>
                <a:latin typeface="Aptos"/>
              </a:defRPr>
            </a:pPr>
            <a:r>
              <a:rPr dirty="0"/>
              <a:t>Joshua Oxman — 30 Aug, 21 </a:t>
            </a:r>
            <a:r>
              <a:rPr lang="en-AU" dirty="0"/>
              <a:t>Years Old</a:t>
            </a:r>
            <a:r>
              <a:rPr dirty="0"/>
              <a:t>🎉</a:t>
            </a:r>
          </a:p>
        </p:txBody>
      </p:sp>
      <p:sp>
        <p:nvSpPr>
          <p:cNvPr id="98" name="Rounded Rectangle 97"/>
          <p:cNvSpPr/>
          <p:nvPr/>
        </p:nvSpPr>
        <p:spPr>
          <a:xfrm>
            <a:off x="201168" y="6430176"/>
            <a:ext cx="3182112" cy="1572768"/>
          </a:xfrm>
          <a:prstGeom prst="roundRect">
            <a:avLst/>
          </a:prstGeom>
          <a:solidFill>
            <a:srgbClr val="005487"/>
          </a:solidFill>
          <a:ln w="12700">
            <a:solidFill>
              <a:srgbClr val="0054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384048" y="6558192"/>
            <a:ext cx="2788920" cy="201168"/>
          </a:xfrm>
          <a:prstGeom prst="rect">
            <a:avLst/>
          </a:prstGeom>
          <a:noFill/>
        </p:spPr>
        <p:txBody>
          <a:bodyPr wrap="none" lIns="18288" tIns="9144" rIns="18288" bIns="9144">
            <a:spAutoFit/>
          </a:bodyPr>
          <a:lstStyle/>
          <a:p>
            <a:pPr>
              <a:defRPr sz="950" b="1" i="0">
                <a:solidFill>
                  <a:srgbClr val="00AEEF"/>
                </a:solidFill>
                <a:latin typeface="Georgia"/>
              </a:defRPr>
            </a:pPr>
            <a:r>
              <a:t>SHIFT WIN OF THE MONTH</a:t>
            </a:r>
          </a:p>
        </p:txBody>
      </p:sp>
      <p:sp>
        <p:nvSpPr>
          <p:cNvPr id="100" name="Rectangle 99"/>
          <p:cNvSpPr/>
          <p:nvPr/>
        </p:nvSpPr>
        <p:spPr>
          <a:xfrm>
            <a:off x="384048" y="6814224"/>
            <a:ext cx="2788920" cy="18288"/>
          </a:xfrm>
          <a:prstGeom prst="rect">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384048" y="6887376"/>
            <a:ext cx="2834640" cy="182880"/>
          </a:xfrm>
          <a:prstGeom prst="rect">
            <a:avLst/>
          </a:prstGeom>
          <a:noFill/>
        </p:spPr>
        <p:txBody>
          <a:bodyPr wrap="none" lIns="18288" tIns="9144" rIns="18288" bIns="9144">
            <a:spAutoFit/>
          </a:bodyPr>
          <a:lstStyle/>
          <a:p>
            <a:pPr>
              <a:defRPr sz="850" b="1" i="0">
                <a:solidFill>
                  <a:srgbClr val="FFFFFF"/>
                </a:solidFill>
                <a:latin typeface="Aptos"/>
              </a:defRPr>
            </a:pPr>
            <a:r>
              <a:t>[Store Name]</a:t>
            </a:r>
          </a:p>
        </p:txBody>
      </p:sp>
      <p:sp>
        <p:nvSpPr>
          <p:cNvPr id="102" name="TextBox 101"/>
          <p:cNvSpPr txBox="1"/>
          <p:nvPr/>
        </p:nvSpPr>
        <p:spPr>
          <a:xfrm>
            <a:off x="384048" y="7088544"/>
            <a:ext cx="2834640" cy="713232"/>
          </a:xfrm>
          <a:prstGeom prst="rect">
            <a:avLst/>
          </a:prstGeom>
          <a:noFill/>
        </p:spPr>
        <p:txBody>
          <a:bodyPr wrap="none" lIns="18288" tIns="9144" rIns="18288" bIns="9144">
            <a:spAutoFit/>
          </a:bodyPr>
          <a:lstStyle/>
          <a:p>
            <a:pPr>
              <a:defRPr sz="819" b="0" i="1">
                <a:solidFill>
                  <a:srgbClr val="FFFFFF"/>
                </a:solidFill>
                <a:latin typeface="Aptos"/>
              </a:defRPr>
            </a:pPr>
            <a:r>
              <a:t>[Describe a great shift moment — a rush handled brilliantly, a team effort, or a problem solved. 2–3 sentences.]</a:t>
            </a:r>
          </a:p>
        </p:txBody>
      </p:sp>
      <p:sp>
        <p:nvSpPr>
          <p:cNvPr id="103" name="Rounded Rectangle 102"/>
          <p:cNvSpPr/>
          <p:nvPr/>
        </p:nvSpPr>
        <p:spPr>
          <a:xfrm>
            <a:off x="3493008" y="6430176"/>
            <a:ext cx="3163824" cy="1572768"/>
          </a:xfrm>
          <a:prstGeom prst="roundRect">
            <a:avLst/>
          </a:prstGeom>
          <a:solidFill>
            <a:srgbClr val="E8F6FC"/>
          </a:solidFill>
          <a:ln w="12700">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3675887" y="6558192"/>
            <a:ext cx="2788920" cy="201168"/>
          </a:xfrm>
          <a:prstGeom prst="rect">
            <a:avLst/>
          </a:prstGeom>
          <a:noFill/>
        </p:spPr>
        <p:txBody>
          <a:bodyPr wrap="none" lIns="18288" tIns="9144" rIns="18288" bIns="9144">
            <a:spAutoFit/>
          </a:bodyPr>
          <a:lstStyle/>
          <a:p>
            <a:pPr>
              <a:defRPr sz="919" b="1" i="0">
                <a:solidFill>
                  <a:srgbClr val="005487"/>
                </a:solidFill>
                <a:latin typeface="Georgia"/>
              </a:defRPr>
            </a:pPr>
            <a:r>
              <a:t>GUEST MOMENT OF THE MONTH</a:t>
            </a:r>
          </a:p>
        </p:txBody>
      </p:sp>
      <p:sp>
        <p:nvSpPr>
          <p:cNvPr id="105" name="Rectangle 104"/>
          <p:cNvSpPr/>
          <p:nvPr/>
        </p:nvSpPr>
        <p:spPr>
          <a:xfrm>
            <a:off x="3675887" y="6814224"/>
            <a:ext cx="2788920" cy="18288"/>
          </a:xfrm>
          <a:prstGeom prst="rect">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105"/>
          <p:cNvSpPr txBox="1"/>
          <p:nvPr/>
        </p:nvSpPr>
        <p:spPr>
          <a:xfrm>
            <a:off x="3675887" y="6887376"/>
            <a:ext cx="2834640" cy="182880"/>
          </a:xfrm>
          <a:prstGeom prst="rect">
            <a:avLst/>
          </a:prstGeom>
          <a:noFill/>
        </p:spPr>
        <p:txBody>
          <a:bodyPr wrap="none" lIns="18288" tIns="9144" rIns="18288" bIns="9144">
            <a:spAutoFit/>
          </a:bodyPr>
          <a:lstStyle/>
          <a:p>
            <a:pPr>
              <a:defRPr sz="850" b="1" i="0">
                <a:solidFill>
                  <a:srgbClr val="005487"/>
                </a:solidFill>
                <a:latin typeface="Aptos"/>
              </a:defRPr>
            </a:pPr>
            <a:r>
              <a:t>[Team Member / Store]</a:t>
            </a:r>
          </a:p>
        </p:txBody>
      </p:sp>
      <p:sp>
        <p:nvSpPr>
          <p:cNvPr id="107" name="TextBox 106"/>
          <p:cNvSpPr txBox="1"/>
          <p:nvPr/>
        </p:nvSpPr>
        <p:spPr>
          <a:xfrm>
            <a:off x="3675887" y="7088544"/>
            <a:ext cx="2834640" cy="713232"/>
          </a:xfrm>
          <a:prstGeom prst="rect">
            <a:avLst/>
          </a:prstGeom>
          <a:noFill/>
        </p:spPr>
        <p:txBody>
          <a:bodyPr wrap="none" lIns="18288" tIns="9144" rIns="18288" bIns="9144">
            <a:spAutoFit/>
          </a:bodyPr>
          <a:lstStyle/>
          <a:p>
            <a:pPr>
              <a:defRPr sz="819" b="0" i="1">
                <a:solidFill>
                  <a:srgbClr val="005487"/>
                </a:solidFill>
                <a:latin typeface="Aptos"/>
              </a:defRPr>
            </a:pPr>
            <a:r>
              <a:t>“[Paste a real guest review or compliment here. Name the team member if mentioned. Keep it genuine.]”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6858000" cy="1051560"/>
          </a:xfrm>
          <a:prstGeom prst="rect">
            <a:avLst/>
          </a:prstGeom>
          <a:solidFill>
            <a:srgbClr val="005088"/>
          </a:solidFill>
          <a:ln w="12700">
            <a:solidFill>
              <a:srgbClr val="005088"/>
            </a:solidFill>
            <a:prstDash val="solid"/>
          </a:ln>
        </p:spPr>
        <p:txBody>
          <a:bodyPr/>
          <a:lstStyle/>
          <a:p>
            <a:endParaRPr/>
          </a:p>
        </p:txBody>
      </p:sp>
      <p:sp>
        <p:nvSpPr>
          <p:cNvPr id="3" name="Shape 1"/>
          <p:cNvSpPr/>
          <p:nvPr/>
        </p:nvSpPr>
        <p:spPr>
          <a:xfrm>
            <a:off x="0" y="0"/>
            <a:ext cx="6858000" cy="64008"/>
          </a:xfrm>
          <a:prstGeom prst="rect">
            <a:avLst/>
          </a:prstGeom>
          <a:solidFill>
            <a:srgbClr val="00AEEF"/>
          </a:solidFill>
          <a:ln w="12700">
            <a:solidFill>
              <a:srgbClr val="00AEEF"/>
            </a:solidFill>
            <a:prstDash val="solid"/>
          </a:ln>
        </p:spPr>
        <p:txBody>
          <a:bodyPr/>
          <a:lstStyle/>
          <a:p>
            <a:endParaRPr/>
          </a:p>
        </p:txBody>
      </p:sp>
      <p:pic>
        <p:nvPicPr>
          <p:cNvPr id="4" name="Image 0" descr="preencoded.png"/>
          <p:cNvPicPr>
            <a:picLocks noChangeAspect="1"/>
          </p:cNvPicPr>
          <p:nvPr/>
        </p:nvPicPr>
        <p:blipFill>
          <a:blip r:embed="rId3"/>
          <a:stretch>
            <a:fillRect/>
          </a:stretch>
        </p:blipFill>
        <p:spPr>
          <a:xfrm>
            <a:off x="228600" y="274320"/>
            <a:ext cx="438912" cy="438912"/>
          </a:xfrm>
          <a:prstGeom prst="rect">
            <a:avLst/>
          </a:prstGeom>
        </p:spPr>
      </p:pic>
      <p:sp>
        <p:nvSpPr>
          <p:cNvPr id="5" name="Text 2"/>
          <p:cNvSpPr/>
          <p:nvPr/>
        </p:nvSpPr>
        <p:spPr>
          <a:xfrm>
            <a:off x="777240" y="164592"/>
            <a:ext cx="4206240" cy="438912"/>
          </a:xfrm>
          <a:prstGeom prst="rect">
            <a:avLst/>
          </a:prstGeom>
          <a:noFill/>
          <a:ln/>
        </p:spPr>
        <p:txBody>
          <a:bodyPr wrap="square" lIns="0" tIns="0" rIns="0" bIns="0" rtlCol="0" anchor="ctr"/>
          <a:lstStyle/>
          <a:p>
            <a:pPr marL="0" indent="0">
              <a:buNone/>
            </a:pPr>
            <a:r>
              <a:rPr lang="en-US" sz="2100" b="1" kern="0" spc="200" dirty="0">
                <a:solidFill>
                  <a:srgbClr val="FFFFFF"/>
                </a:solidFill>
                <a:latin typeface="Cambria" pitchFamily="34" charset="0"/>
                <a:ea typeface="Cambria" pitchFamily="34" charset="-122"/>
                <a:cs typeface="Cambria" pitchFamily="34" charset="-120"/>
              </a:rPr>
              <a:t>WHAT'S HAPPENING</a:t>
            </a:r>
            <a:endParaRPr lang="en-US" sz="2100" dirty="0"/>
          </a:p>
        </p:txBody>
      </p:sp>
      <p:sp>
        <p:nvSpPr>
          <p:cNvPr id="6" name="Text 3"/>
          <p:cNvSpPr/>
          <p:nvPr/>
        </p:nvSpPr>
        <p:spPr>
          <a:xfrm>
            <a:off x="777240" y="612648"/>
            <a:ext cx="4572000" cy="256032"/>
          </a:xfrm>
          <a:prstGeom prst="rect">
            <a:avLst/>
          </a:prstGeom>
          <a:noFill/>
          <a:ln/>
        </p:spPr>
        <p:txBody>
          <a:bodyPr wrap="square" lIns="0" tIns="0" rIns="0" bIns="0" rtlCol="0" anchor="ctr"/>
          <a:lstStyle/>
          <a:p>
            <a:pPr marL="0" indent="0">
              <a:buNone/>
            </a:pPr>
            <a:r>
              <a:rPr lang="en-US" sz="850" kern="0" spc="100" dirty="0">
                <a:solidFill>
                  <a:srgbClr val="00AEEF"/>
                </a:solidFill>
                <a:latin typeface="Calibri" pitchFamily="34" charset="0"/>
                <a:ea typeface="Calibri" pitchFamily="34" charset="-122"/>
                <a:cs typeface="Calibri" pitchFamily="34" charset="-120"/>
              </a:rPr>
              <a:t>Updates  •  Reminders  •  Google Review Board  •  JULY 2025</a:t>
            </a:r>
            <a:endParaRPr lang="en-US" sz="850" dirty="0"/>
          </a:p>
        </p:txBody>
      </p:sp>
      <p:pic>
        <p:nvPicPr>
          <p:cNvPr id="7" name="Image 1" descr="preencoded.png"/>
          <p:cNvPicPr>
            <a:picLocks noChangeAspect="1"/>
          </p:cNvPicPr>
          <p:nvPr/>
        </p:nvPicPr>
        <p:blipFill>
          <a:blip r:embed="rId4"/>
          <a:stretch>
            <a:fillRect/>
          </a:stretch>
        </p:blipFill>
        <p:spPr>
          <a:xfrm>
            <a:off x="5559552" y="109728"/>
            <a:ext cx="1115568" cy="795528"/>
          </a:xfrm>
          <a:prstGeom prst="rect">
            <a:avLst/>
          </a:prstGeom>
        </p:spPr>
      </p:pic>
      <p:sp>
        <p:nvSpPr>
          <p:cNvPr id="8" name="Shape 4"/>
          <p:cNvSpPr/>
          <p:nvPr/>
        </p:nvSpPr>
        <p:spPr>
          <a:xfrm>
            <a:off x="201168" y="1115568"/>
            <a:ext cx="6455664" cy="749808"/>
          </a:xfrm>
          <a:prstGeom prst="roundRect">
            <a:avLst>
              <a:gd name="adj" fmla="val 12195"/>
            </a:avLst>
          </a:prstGeom>
          <a:solidFill>
            <a:srgbClr val="EAF5FC"/>
          </a:solidFill>
          <a:ln w="12700">
            <a:solidFill>
              <a:srgbClr val="00AEEF">
                <a:alpha val="45000"/>
              </a:srgbClr>
            </a:solidFill>
            <a:prstDash val="solid"/>
          </a:ln>
          <a:effectLst>
            <a:outerShdw blurRad="76200" dist="25400" dir="2700000" algn="bl" rotWithShape="0">
              <a:srgbClr val="000000">
                <a:alpha val="10000"/>
              </a:srgbClr>
            </a:outerShdw>
          </a:effectLst>
        </p:spPr>
        <p:txBody>
          <a:bodyPr/>
          <a:lstStyle/>
          <a:p>
            <a:endParaRPr dirty="0"/>
          </a:p>
        </p:txBody>
      </p:sp>
      <p:sp>
        <p:nvSpPr>
          <p:cNvPr id="9" name="Text 5"/>
          <p:cNvSpPr/>
          <p:nvPr/>
        </p:nvSpPr>
        <p:spPr>
          <a:xfrm>
            <a:off x="329184" y="1170432"/>
            <a:ext cx="2286000" cy="201168"/>
          </a:xfrm>
          <a:prstGeom prst="rect">
            <a:avLst/>
          </a:prstGeom>
          <a:noFill/>
          <a:ln/>
        </p:spPr>
        <p:txBody>
          <a:bodyPr wrap="square" lIns="0" tIns="0" rIns="0" bIns="0" rtlCol="0" anchor="ctr"/>
          <a:lstStyle/>
          <a:p>
            <a:pPr marL="0" indent="0">
              <a:buNone/>
            </a:pPr>
            <a:r>
              <a:rPr lang="en-US" sz="900" b="1" kern="0" spc="150" dirty="0">
                <a:solidFill>
                  <a:srgbClr val="005088"/>
                </a:solidFill>
                <a:latin typeface="Cambria" pitchFamily="34" charset="0"/>
                <a:ea typeface="Cambria" pitchFamily="34" charset="-122"/>
                <a:cs typeface="Cambria" pitchFamily="34" charset="-120"/>
              </a:rPr>
              <a:t>KEY OPERATIONAL UPDATES</a:t>
            </a:r>
            <a:endParaRPr lang="en-US" sz="900" dirty="0"/>
          </a:p>
        </p:txBody>
      </p:sp>
      <p:sp>
        <p:nvSpPr>
          <p:cNvPr id="10" name="Shape 6"/>
          <p:cNvSpPr/>
          <p:nvPr/>
        </p:nvSpPr>
        <p:spPr>
          <a:xfrm>
            <a:off x="347472" y="1435608"/>
            <a:ext cx="109728" cy="109728"/>
          </a:xfrm>
          <a:prstGeom prst="ellipse">
            <a:avLst/>
          </a:prstGeom>
          <a:solidFill>
            <a:srgbClr val="00AEEF"/>
          </a:solidFill>
          <a:ln w="12700">
            <a:solidFill>
              <a:srgbClr val="00AEEF"/>
            </a:solidFill>
            <a:prstDash val="solid"/>
          </a:ln>
        </p:spPr>
        <p:txBody>
          <a:bodyPr/>
          <a:lstStyle/>
          <a:p>
            <a:endParaRPr/>
          </a:p>
        </p:txBody>
      </p:sp>
      <p:sp>
        <p:nvSpPr>
          <p:cNvPr id="11" name="Text 7"/>
          <p:cNvSpPr/>
          <p:nvPr/>
        </p:nvSpPr>
        <p:spPr>
          <a:xfrm>
            <a:off x="530352" y="1362456"/>
            <a:ext cx="6035040" cy="530352"/>
          </a:xfrm>
          <a:prstGeom prst="rect">
            <a:avLst/>
          </a:prstGeom>
          <a:noFill/>
          <a:ln/>
        </p:spPr>
        <p:txBody>
          <a:bodyPr wrap="square" lIns="0" tIns="0" rIns="0" bIns="0" rtlCol="0" anchor="t"/>
          <a:lstStyle/>
          <a:p>
            <a:r>
              <a:rPr lang="en-AU" sz="800" b="1" dirty="0">
                <a:solidFill>
                  <a:srgbClr val="0070C0"/>
                </a:solidFill>
              </a:rPr>
              <a:t>🍟 Hot Chips Have Arrived!</a:t>
            </a:r>
            <a:br>
              <a:rPr lang="en-AU" sz="800" dirty="0">
                <a:solidFill>
                  <a:srgbClr val="0070C0"/>
                </a:solidFill>
              </a:rPr>
            </a:br>
            <a:r>
              <a:rPr lang="en-AU" sz="800" dirty="0">
                <a:solidFill>
                  <a:srgbClr val="0070C0"/>
                </a:solidFill>
              </a:rPr>
              <a:t>We’re excited to officially launch </a:t>
            </a:r>
            <a:r>
              <a:rPr lang="en-AU" sz="800" b="1" dirty="0">
                <a:solidFill>
                  <a:srgbClr val="0070C0"/>
                </a:solidFill>
              </a:rPr>
              <a:t>Hot Chips</a:t>
            </a:r>
            <a:r>
              <a:rPr lang="en-AU" sz="800" dirty="0">
                <a:solidFill>
                  <a:srgbClr val="0070C0"/>
                </a:solidFill>
              </a:rPr>
              <a:t> at both </a:t>
            </a:r>
            <a:r>
              <a:rPr lang="en-AU" sz="800" b="1" dirty="0" err="1">
                <a:solidFill>
                  <a:srgbClr val="0070C0"/>
                </a:solidFill>
              </a:rPr>
              <a:t>Zambrero</a:t>
            </a:r>
            <a:r>
              <a:rPr lang="en-AU" sz="800" b="1" dirty="0">
                <a:solidFill>
                  <a:srgbClr val="0070C0"/>
                </a:solidFill>
              </a:rPr>
              <a:t> Cessnock</a:t>
            </a:r>
            <a:r>
              <a:rPr lang="en-AU" sz="800" dirty="0">
                <a:solidFill>
                  <a:srgbClr val="0070C0"/>
                </a:solidFill>
              </a:rPr>
              <a:t> and </a:t>
            </a:r>
            <a:r>
              <a:rPr lang="en-AU" sz="800" b="1" dirty="0" err="1">
                <a:solidFill>
                  <a:srgbClr val="0070C0"/>
                </a:solidFill>
              </a:rPr>
              <a:t>Zambrero</a:t>
            </a:r>
            <a:r>
              <a:rPr lang="en-AU" sz="800" b="1" dirty="0">
                <a:solidFill>
                  <a:srgbClr val="0070C0"/>
                </a:solidFill>
              </a:rPr>
              <a:t> Coffs Harbour</a:t>
            </a:r>
            <a:r>
              <a:rPr lang="en-AU" sz="800" dirty="0">
                <a:solidFill>
                  <a:srgbClr val="0070C0"/>
                </a:solidFill>
              </a:rPr>
              <a:t>! Thank you to the teams who worked hard behind the scenes to prepare for the launch. We can’t wait to see our guests enjoy the new addition to the menu—let’s continue delivering fast, fresh and friendly service as we introduce this exciting new product.</a:t>
            </a:r>
          </a:p>
          <a:p>
            <a:pPr marL="0" indent="0">
              <a:buNone/>
            </a:pPr>
            <a:endParaRPr lang="en-US" sz="700" dirty="0">
              <a:solidFill>
                <a:srgbClr val="0070C0"/>
              </a:solidFill>
            </a:endParaRPr>
          </a:p>
        </p:txBody>
      </p:sp>
      <p:sp>
        <p:nvSpPr>
          <p:cNvPr id="14" name="Shape 10"/>
          <p:cNvSpPr/>
          <p:nvPr/>
        </p:nvSpPr>
        <p:spPr>
          <a:xfrm>
            <a:off x="201168" y="1993392"/>
            <a:ext cx="6455664" cy="475488"/>
          </a:xfrm>
          <a:prstGeom prst="roundRect">
            <a:avLst>
              <a:gd name="adj" fmla="val 23077"/>
            </a:avLst>
          </a:prstGeom>
          <a:solidFill>
            <a:srgbClr val="005088"/>
          </a:solidFill>
          <a:ln w="12700">
            <a:solidFill>
              <a:srgbClr val="005088"/>
            </a:solidFill>
            <a:prstDash val="solid"/>
          </a:ln>
        </p:spPr>
        <p:txBody>
          <a:bodyPr/>
          <a:lstStyle/>
          <a:p>
            <a:endParaRPr/>
          </a:p>
        </p:txBody>
      </p:sp>
      <p:sp>
        <p:nvSpPr>
          <p:cNvPr id="15" name="Shape 11"/>
          <p:cNvSpPr/>
          <p:nvPr/>
        </p:nvSpPr>
        <p:spPr>
          <a:xfrm>
            <a:off x="347472" y="2084832"/>
            <a:ext cx="292608" cy="292608"/>
          </a:xfrm>
          <a:prstGeom prst="ellipse">
            <a:avLst/>
          </a:prstGeom>
          <a:solidFill>
            <a:srgbClr val="FFFFFF"/>
          </a:solidFill>
          <a:ln w="12700">
            <a:solidFill>
              <a:srgbClr val="FFFFFF"/>
            </a:solidFill>
            <a:prstDash val="solid"/>
          </a:ln>
        </p:spPr>
        <p:txBody>
          <a:bodyPr/>
          <a:lstStyle/>
          <a:p>
            <a:endParaRPr/>
          </a:p>
        </p:txBody>
      </p:sp>
      <p:sp>
        <p:nvSpPr>
          <p:cNvPr id="16" name="Text 12"/>
          <p:cNvSpPr/>
          <p:nvPr/>
        </p:nvSpPr>
        <p:spPr>
          <a:xfrm>
            <a:off x="347472" y="2084832"/>
            <a:ext cx="292608" cy="292608"/>
          </a:xfrm>
          <a:prstGeom prst="rect">
            <a:avLst/>
          </a:prstGeom>
          <a:noFill/>
          <a:ln/>
        </p:spPr>
        <p:txBody>
          <a:bodyPr wrap="square" lIns="0" tIns="0" rIns="0" bIns="0" rtlCol="0" anchor="ctr"/>
          <a:lstStyle/>
          <a:p>
            <a:pPr marL="0" indent="0" algn="ctr">
              <a:buNone/>
            </a:pPr>
            <a:r>
              <a:rPr lang="en-US" sz="1400" b="1" dirty="0">
                <a:solidFill>
                  <a:srgbClr val="4285F4"/>
                </a:solidFill>
                <a:latin typeface="Arial" pitchFamily="34" charset="0"/>
                <a:ea typeface="Arial" pitchFamily="34" charset="-122"/>
                <a:cs typeface="Arial" pitchFamily="34" charset="-120"/>
              </a:rPr>
              <a:t>G</a:t>
            </a:r>
            <a:endParaRPr lang="en-US" sz="1400" dirty="0"/>
          </a:p>
        </p:txBody>
      </p:sp>
      <p:sp>
        <p:nvSpPr>
          <p:cNvPr id="17" name="Text 13"/>
          <p:cNvSpPr/>
          <p:nvPr/>
        </p:nvSpPr>
        <p:spPr>
          <a:xfrm>
            <a:off x="749808" y="2093976"/>
            <a:ext cx="4114800" cy="274320"/>
          </a:xfrm>
          <a:prstGeom prst="rect">
            <a:avLst/>
          </a:prstGeom>
          <a:noFill/>
          <a:ln/>
        </p:spPr>
        <p:txBody>
          <a:bodyPr wrap="square" lIns="0" tIns="0" rIns="0" bIns="0" rtlCol="0" anchor="ctr"/>
          <a:lstStyle/>
          <a:p>
            <a:pPr marL="0" indent="0">
              <a:buNone/>
            </a:pPr>
            <a:r>
              <a:rPr lang="en-US" sz="1300" b="1" kern="0" spc="200" dirty="0">
                <a:solidFill>
                  <a:srgbClr val="FFFFFF"/>
                </a:solidFill>
                <a:latin typeface="Cambria" pitchFamily="34" charset="0"/>
                <a:ea typeface="Cambria" pitchFamily="34" charset="-122"/>
                <a:cs typeface="Cambria" pitchFamily="34" charset="-120"/>
              </a:rPr>
              <a:t>GOOGLE REVIEW BOARD</a:t>
            </a:r>
            <a:endParaRPr lang="en-US" sz="1300" dirty="0"/>
          </a:p>
        </p:txBody>
      </p:sp>
      <p:sp>
        <p:nvSpPr>
          <p:cNvPr id="18" name="Text 14"/>
          <p:cNvSpPr/>
          <p:nvPr/>
        </p:nvSpPr>
        <p:spPr>
          <a:xfrm>
            <a:off x="5394960" y="2112264"/>
            <a:ext cx="1188720" cy="237744"/>
          </a:xfrm>
          <a:prstGeom prst="rect">
            <a:avLst/>
          </a:prstGeom>
          <a:noFill/>
          <a:ln/>
        </p:spPr>
        <p:txBody>
          <a:bodyPr wrap="square" lIns="0" tIns="0" rIns="0" bIns="0" rtlCol="0" anchor="ctr"/>
          <a:lstStyle/>
          <a:p>
            <a:pPr marL="0" indent="0" algn="r">
              <a:buNone/>
            </a:pPr>
            <a:r>
              <a:rPr lang="en-US" sz="900" b="1" dirty="0">
                <a:solidFill>
                  <a:srgbClr val="00AEEF"/>
                </a:solidFill>
                <a:latin typeface="Calibri" pitchFamily="34" charset="0"/>
                <a:ea typeface="Calibri" pitchFamily="34" charset="-122"/>
                <a:cs typeface="Calibri" pitchFamily="34" charset="-120"/>
              </a:rPr>
              <a:t>JULY 2025</a:t>
            </a:r>
            <a:endParaRPr lang="en-US" sz="900" dirty="0"/>
          </a:p>
        </p:txBody>
      </p:sp>
      <p:sp>
        <p:nvSpPr>
          <p:cNvPr id="19" name="Text 15"/>
          <p:cNvSpPr/>
          <p:nvPr/>
        </p:nvSpPr>
        <p:spPr>
          <a:xfrm>
            <a:off x="201168" y="2505456"/>
            <a:ext cx="6455664" cy="201168"/>
          </a:xfrm>
          <a:prstGeom prst="rect">
            <a:avLst/>
          </a:prstGeom>
          <a:noFill/>
          <a:ln/>
        </p:spPr>
        <p:txBody>
          <a:bodyPr wrap="square" lIns="0" tIns="0" rIns="0" bIns="0" rtlCol="0" anchor="ctr"/>
          <a:lstStyle/>
          <a:p>
            <a:pPr marL="0" indent="0" algn="ctr">
              <a:buNone/>
            </a:pPr>
            <a:r>
              <a:rPr lang="en-US" sz="850" i="1" dirty="0">
                <a:solidFill>
                  <a:srgbClr val="64748B"/>
                </a:solidFill>
                <a:latin typeface="Calibri" pitchFamily="34" charset="0"/>
                <a:ea typeface="Calibri" pitchFamily="34" charset="-122"/>
                <a:cs typeface="Calibri" pitchFamily="34" charset="-120"/>
              </a:rPr>
              <a:t>Great guest experiences turn into great reviews. When a guest has a positive experience, invite them to share their feedback online.</a:t>
            </a:r>
            <a:endParaRPr lang="en-US" sz="850" dirty="0"/>
          </a:p>
        </p:txBody>
      </p:sp>
      <p:sp>
        <p:nvSpPr>
          <p:cNvPr id="20" name="Shape 16"/>
          <p:cNvSpPr/>
          <p:nvPr/>
        </p:nvSpPr>
        <p:spPr>
          <a:xfrm>
            <a:off x="201168" y="2761488"/>
            <a:ext cx="6455664" cy="201168"/>
          </a:xfrm>
          <a:prstGeom prst="roundRect">
            <a:avLst>
              <a:gd name="adj" fmla="val 27273"/>
            </a:avLst>
          </a:prstGeom>
          <a:solidFill>
            <a:srgbClr val="E8341E"/>
          </a:solidFill>
          <a:ln w="12700">
            <a:solidFill>
              <a:srgbClr val="E8341E"/>
            </a:solidFill>
            <a:prstDash val="solid"/>
          </a:ln>
        </p:spPr>
        <p:txBody>
          <a:bodyPr/>
          <a:lstStyle/>
          <a:p>
            <a:endParaRPr/>
          </a:p>
        </p:txBody>
      </p:sp>
      <p:sp>
        <p:nvSpPr>
          <p:cNvPr id="21" name="Text 17"/>
          <p:cNvSpPr/>
          <p:nvPr/>
        </p:nvSpPr>
        <p:spPr>
          <a:xfrm>
            <a:off x="292608" y="2770632"/>
            <a:ext cx="6272784" cy="182880"/>
          </a:xfrm>
          <a:prstGeom prst="rect">
            <a:avLst/>
          </a:prstGeom>
          <a:noFill/>
          <a:ln/>
        </p:spPr>
        <p:txBody>
          <a:bodyPr wrap="square" lIns="0" tIns="0" rIns="0" bIns="0" rtlCol="0" anchor="ctr"/>
          <a:lstStyle/>
          <a:p>
            <a:pPr marL="0" indent="0">
              <a:buNone/>
            </a:pPr>
            <a:r>
              <a:rPr lang="en-US" sz="750" b="1" kern="0" spc="200" dirty="0">
                <a:solidFill>
                  <a:srgbClr val="FFFFFF"/>
                </a:solidFill>
                <a:latin typeface="Calibri" pitchFamily="34" charset="0"/>
                <a:ea typeface="Calibri" pitchFamily="34" charset="-122"/>
                <a:cs typeface="Calibri" pitchFamily="34" charset="-120"/>
              </a:rPr>
              <a:t>OPORTO</a:t>
            </a:r>
            <a:endParaRPr lang="en-US" sz="750" dirty="0"/>
          </a:p>
        </p:txBody>
      </p:sp>
      <p:sp>
        <p:nvSpPr>
          <p:cNvPr id="22" name="Shape 18"/>
          <p:cNvSpPr/>
          <p:nvPr/>
        </p:nvSpPr>
        <p:spPr>
          <a:xfrm>
            <a:off x="201168" y="3008376"/>
            <a:ext cx="3108960" cy="877824"/>
          </a:xfrm>
          <a:prstGeom prst="roundRect">
            <a:avLst>
              <a:gd name="adj" fmla="val 10417"/>
            </a:avLst>
          </a:prstGeom>
          <a:solidFill>
            <a:srgbClr val="FFFFFF"/>
          </a:solidFill>
          <a:ln w="12700">
            <a:solidFill>
              <a:srgbClr val="E0EEF6"/>
            </a:solidFill>
            <a:prstDash val="solid"/>
          </a:ln>
          <a:effectLst>
            <a:outerShdw blurRad="76200" dist="25400" dir="2700000" algn="bl" rotWithShape="0">
              <a:srgbClr val="000000">
                <a:alpha val="10000"/>
              </a:srgbClr>
            </a:outerShdw>
          </a:effectLst>
        </p:spPr>
        <p:txBody>
          <a:bodyPr/>
          <a:lstStyle/>
          <a:p>
            <a:endParaRPr/>
          </a:p>
        </p:txBody>
      </p:sp>
      <p:sp>
        <p:nvSpPr>
          <p:cNvPr id="23" name="Shape 19"/>
          <p:cNvSpPr/>
          <p:nvPr/>
        </p:nvSpPr>
        <p:spPr>
          <a:xfrm>
            <a:off x="201168" y="3008376"/>
            <a:ext cx="54864" cy="877824"/>
          </a:xfrm>
          <a:prstGeom prst="roundRect">
            <a:avLst>
              <a:gd name="adj" fmla="val 66667"/>
            </a:avLst>
          </a:prstGeom>
          <a:solidFill>
            <a:srgbClr val="00AEEF"/>
          </a:solidFill>
          <a:ln w="12700">
            <a:solidFill>
              <a:srgbClr val="00AEEF"/>
            </a:solidFill>
            <a:prstDash val="solid"/>
          </a:ln>
        </p:spPr>
        <p:txBody>
          <a:bodyPr/>
          <a:lstStyle/>
          <a:p>
            <a:endParaRPr/>
          </a:p>
        </p:txBody>
      </p:sp>
      <p:sp>
        <p:nvSpPr>
          <p:cNvPr id="24" name="Text 20"/>
          <p:cNvSpPr/>
          <p:nvPr/>
        </p:nvSpPr>
        <p:spPr>
          <a:xfrm>
            <a:off x="329184" y="3035808"/>
            <a:ext cx="2944368" cy="164592"/>
          </a:xfrm>
          <a:prstGeom prst="rect">
            <a:avLst/>
          </a:prstGeom>
          <a:noFill/>
          <a:ln/>
        </p:spPr>
        <p:txBody>
          <a:bodyPr wrap="square" lIns="0" tIns="0" rIns="0" bIns="0" rtlCol="0" anchor="ctr"/>
          <a:lstStyle/>
          <a:p>
            <a:pPr marL="0" indent="0">
              <a:buNone/>
            </a:pPr>
            <a:r>
              <a:rPr lang="en-US" sz="850" b="1" dirty="0">
                <a:solidFill>
                  <a:srgbClr val="005088"/>
                </a:solidFill>
                <a:latin typeface="Calibri" pitchFamily="34" charset="0"/>
                <a:ea typeface="Calibri" pitchFamily="34" charset="-122"/>
                <a:cs typeface="Calibri" pitchFamily="34" charset="-120"/>
              </a:rPr>
              <a:t>Ulladulla</a:t>
            </a:r>
            <a:endParaRPr lang="en-US" sz="850" dirty="0"/>
          </a:p>
        </p:txBody>
      </p:sp>
      <p:sp>
        <p:nvSpPr>
          <p:cNvPr id="25" name="Text 21"/>
          <p:cNvSpPr/>
          <p:nvPr/>
        </p:nvSpPr>
        <p:spPr>
          <a:xfrm>
            <a:off x="329184" y="3191256"/>
            <a:ext cx="402336" cy="219456"/>
          </a:xfrm>
          <a:prstGeom prst="rect">
            <a:avLst/>
          </a:prstGeom>
          <a:noFill/>
          <a:ln/>
        </p:spPr>
        <p:txBody>
          <a:bodyPr wrap="square" lIns="0" tIns="0" rIns="0" bIns="0" rtlCol="0" anchor="ctr"/>
          <a:lstStyle/>
          <a:p>
            <a:pPr marL="0" indent="0">
              <a:buNone/>
            </a:pPr>
            <a:r>
              <a:rPr lang="en-US" sz="1500" b="1" dirty="0">
                <a:solidFill>
                  <a:srgbClr val="00AEEF"/>
                </a:solidFill>
                <a:latin typeface="Cambria" pitchFamily="34" charset="0"/>
                <a:ea typeface="Cambria" pitchFamily="34" charset="-122"/>
                <a:cs typeface="Cambria" pitchFamily="34" charset="-120"/>
              </a:rPr>
              <a:t>4.1</a:t>
            </a:r>
            <a:endParaRPr lang="en-US" sz="1500" dirty="0"/>
          </a:p>
        </p:txBody>
      </p:sp>
      <p:pic>
        <p:nvPicPr>
          <p:cNvPr id="26" name="Image 2" descr="preencoded.png"/>
          <p:cNvPicPr>
            <a:picLocks noChangeAspect="1"/>
          </p:cNvPicPr>
          <p:nvPr/>
        </p:nvPicPr>
        <p:blipFill>
          <a:blip r:embed="rId5"/>
          <a:stretch>
            <a:fillRect/>
          </a:stretch>
        </p:blipFill>
        <p:spPr>
          <a:xfrm>
            <a:off x="749808" y="3227832"/>
            <a:ext cx="109728" cy="109728"/>
          </a:xfrm>
          <a:prstGeom prst="rect">
            <a:avLst/>
          </a:prstGeom>
        </p:spPr>
      </p:pic>
      <p:pic>
        <p:nvPicPr>
          <p:cNvPr id="27" name="Image 3" descr="preencoded.png"/>
          <p:cNvPicPr>
            <a:picLocks noChangeAspect="1"/>
          </p:cNvPicPr>
          <p:nvPr/>
        </p:nvPicPr>
        <p:blipFill>
          <a:blip r:embed="rId5"/>
          <a:stretch>
            <a:fillRect/>
          </a:stretch>
        </p:blipFill>
        <p:spPr>
          <a:xfrm>
            <a:off x="877824" y="3227832"/>
            <a:ext cx="109728" cy="109728"/>
          </a:xfrm>
          <a:prstGeom prst="rect">
            <a:avLst/>
          </a:prstGeom>
        </p:spPr>
      </p:pic>
      <p:pic>
        <p:nvPicPr>
          <p:cNvPr id="28" name="Image 4" descr="preencoded.png"/>
          <p:cNvPicPr>
            <a:picLocks noChangeAspect="1"/>
          </p:cNvPicPr>
          <p:nvPr/>
        </p:nvPicPr>
        <p:blipFill>
          <a:blip r:embed="rId5"/>
          <a:stretch>
            <a:fillRect/>
          </a:stretch>
        </p:blipFill>
        <p:spPr>
          <a:xfrm>
            <a:off x="1005840" y="3227832"/>
            <a:ext cx="109728" cy="109728"/>
          </a:xfrm>
          <a:prstGeom prst="rect">
            <a:avLst/>
          </a:prstGeom>
        </p:spPr>
      </p:pic>
      <p:pic>
        <p:nvPicPr>
          <p:cNvPr id="29" name="Image 5" descr="preencoded.png"/>
          <p:cNvPicPr>
            <a:picLocks noChangeAspect="1"/>
          </p:cNvPicPr>
          <p:nvPr/>
        </p:nvPicPr>
        <p:blipFill>
          <a:blip r:embed="rId5"/>
          <a:stretch>
            <a:fillRect/>
          </a:stretch>
        </p:blipFill>
        <p:spPr>
          <a:xfrm>
            <a:off x="1133856" y="3227832"/>
            <a:ext cx="109728" cy="109728"/>
          </a:xfrm>
          <a:prstGeom prst="rect">
            <a:avLst/>
          </a:prstGeom>
        </p:spPr>
      </p:pic>
      <p:pic>
        <p:nvPicPr>
          <p:cNvPr id="30" name="Image 6" descr="preencoded.png"/>
          <p:cNvPicPr>
            <a:picLocks noChangeAspect="1"/>
          </p:cNvPicPr>
          <p:nvPr/>
        </p:nvPicPr>
        <p:blipFill>
          <a:blip r:embed="rId6"/>
          <a:stretch>
            <a:fillRect/>
          </a:stretch>
        </p:blipFill>
        <p:spPr>
          <a:xfrm>
            <a:off x="1261872" y="3227832"/>
            <a:ext cx="109728" cy="109728"/>
          </a:xfrm>
          <a:prstGeom prst="rect">
            <a:avLst/>
          </a:prstGeom>
        </p:spPr>
      </p:pic>
      <p:sp>
        <p:nvSpPr>
          <p:cNvPr id="31" name="Text 22"/>
          <p:cNvSpPr/>
          <p:nvPr/>
        </p:nvSpPr>
        <p:spPr>
          <a:xfrm>
            <a:off x="329184" y="3374136"/>
            <a:ext cx="2926080" cy="100584"/>
          </a:xfrm>
          <a:prstGeom prst="rect">
            <a:avLst/>
          </a:prstGeom>
          <a:noFill/>
          <a:ln/>
        </p:spPr>
        <p:txBody>
          <a:bodyPr wrap="square" lIns="0" tIns="0" rIns="0" bIns="0" rtlCol="0" anchor="ctr"/>
          <a:lstStyle/>
          <a:p>
            <a:pPr marL="0" indent="0">
              <a:buNone/>
            </a:pPr>
            <a:r>
              <a:rPr lang="en-US" sz="600" dirty="0">
                <a:solidFill>
                  <a:srgbClr val="64748B"/>
                </a:solidFill>
                <a:latin typeface="Calibri" pitchFamily="34" charset="0"/>
                <a:ea typeface="Calibri" pitchFamily="34" charset="-122"/>
                <a:cs typeface="Calibri" pitchFamily="34" charset="-120"/>
              </a:rPr>
              <a:t>(312 reviews)</a:t>
            </a:r>
            <a:endParaRPr lang="en-US" sz="600" dirty="0"/>
          </a:p>
        </p:txBody>
      </p:sp>
      <p:sp>
        <p:nvSpPr>
          <p:cNvPr id="32" name="Shape 23"/>
          <p:cNvSpPr/>
          <p:nvPr/>
        </p:nvSpPr>
        <p:spPr>
          <a:xfrm>
            <a:off x="274320" y="3511296"/>
            <a:ext cx="2962656" cy="329184"/>
          </a:xfrm>
          <a:prstGeom prst="roundRect">
            <a:avLst>
              <a:gd name="adj" fmla="val 13889"/>
            </a:avLst>
          </a:prstGeom>
          <a:solidFill>
            <a:srgbClr val="EAF5FC"/>
          </a:solidFill>
          <a:ln w="12700">
            <a:solidFill>
              <a:srgbClr val="00AEEF">
                <a:alpha val="30000"/>
              </a:srgbClr>
            </a:solidFill>
            <a:prstDash val="solid"/>
          </a:ln>
        </p:spPr>
        <p:txBody>
          <a:bodyPr/>
          <a:lstStyle/>
          <a:p>
            <a:endParaRPr/>
          </a:p>
        </p:txBody>
      </p:sp>
      <p:sp>
        <p:nvSpPr>
          <p:cNvPr id="33" name="Text 24"/>
          <p:cNvSpPr/>
          <p:nvPr/>
        </p:nvSpPr>
        <p:spPr>
          <a:xfrm>
            <a:off x="310896" y="3529584"/>
            <a:ext cx="2889504" cy="146304"/>
          </a:xfrm>
          <a:prstGeom prst="rect">
            <a:avLst/>
          </a:prstGeom>
          <a:noFill/>
          <a:ln/>
        </p:spPr>
        <p:txBody>
          <a:bodyPr wrap="square" lIns="0" tIns="0" rIns="0" bIns="0" rtlCol="0" anchor="ctr"/>
          <a:lstStyle/>
          <a:p>
            <a:pPr marL="0" indent="0">
              <a:buNone/>
            </a:pPr>
            <a:r>
              <a:rPr lang="en-US" sz="650" b="1" dirty="0">
                <a:solidFill>
                  <a:srgbClr val="005088"/>
                </a:solidFill>
                <a:latin typeface="Calibri" pitchFamily="34" charset="0"/>
                <a:ea typeface="Calibri" pitchFamily="34" charset="-122"/>
                <a:cs typeface="Calibri" pitchFamily="34" charset="-120"/>
              </a:rPr>
              <a:t>🎯 Lift to 4.3  •  +15 this month</a:t>
            </a:r>
            <a:endParaRPr lang="en-US" sz="650" dirty="0"/>
          </a:p>
        </p:txBody>
      </p:sp>
      <p:sp>
        <p:nvSpPr>
          <p:cNvPr id="34" name="Text 25"/>
          <p:cNvSpPr/>
          <p:nvPr/>
        </p:nvSpPr>
        <p:spPr>
          <a:xfrm>
            <a:off x="310896" y="3685032"/>
            <a:ext cx="2889504" cy="128016"/>
          </a:xfrm>
          <a:prstGeom prst="rect">
            <a:avLst/>
          </a:prstGeom>
          <a:noFill/>
          <a:ln/>
        </p:spPr>
        <p:txBody>
          <a:bodyPr wrap="square" lIns="0" tIns="0" rIns="0" bIns="0" rtlCol="0" anchor="ctr"/>
          <a:lstStyle/>
          <a:p>
            <a:pPr marL="0" indent="0">
              <a:buNone/>
            </a:pPr>
            <a:r>
              <a:rPr lang="en-US" sz="600" i="1" dirty="0">
                <a:solidFill>
                  <a:srgbClr val="64748B"/>
                </a:solidFill>
                <a:latin typeface="Calibri" pitchFamily="34" charset="0"/>
                <a:ea typeface="Calibri" pitchFamily="34" charset="-122"/>
                <a:cs typeface="Calibri" pitchFamily="34" charset="-120"/>
              </a:rPr>
              <a:t>Focus: Speed &amp; friendliness</a:t>
            </a:r>
            <a:endParaRPr lang="en-US" sz="600" dirty="0"/>
          </a:p>
        </p:txBody>
      </p:sp>
      <p:sp>
        <p:nvSpPr>
          <p:cNvPr id="35" name="Shape 26"/>
          <p:cNvSpPr/>
          <p:nvPr/>
        </p:nvSpPr>
        <p:spPr>
          <a:xfrm>
            <a:off x="3419856" y="3008376"/>
            <a:ext cx="3108960" cy="877824"/>
          </a:xfrm>
          <a:prstGeom prst="roundRect">
            <a:avLst>
              <a:gd name="adj" fmla="val 10417"/>
            </a:avLst>
          </a:prstGeom>
          <a:solidFill>
            <a:srgbClr val="FFFFFF"/>
          </a:solidFill>
          <a:ln w="12700">
            <a:solidFill>
              <a:srgbClr val="E0EEF6"/>
            </a:solidFill>
            <a:prstDash val="solid"/>
          </a:ln>
          <a:effectLst>
            <a:outerShdw blurRad="76200" dist="25400" dir="2700000" algn="bl" rotWithShape="0">
              <a:srgbClr val="000000">
                <a:alpha val="10000"/>
              </a:srgbClr>
            </a:outerShdw>
          </a:effectLst>
        </p:spPr>
        <p:txBody>
          <a:bodyPr/>
          <a:lstStyle/>
          <a:p>
            <a:endParaRPr/>
          </a:p>
        </p:txBody>
      </p:sp>
      <p:sp>
        <p:nvSpPr>
          <p:cNvPr id="36" name="Shape 27"/>
          <p:cNvSpPr/>
          <p:nvPr/>
        </p:nvSpPr>
        <p:spPr>
          <a:xfrm>
            <a:off x="3419856" y="3008376"/>
            <a:ext cx="54864" cy="877824"/>
          </a:xfrm>
          <a:prstGeom prst="roundRect">
            <a:avLst>
              <a:gd name="adj" fmla="val 66667"/>
            </a:avLst>
          </a:prstGeom>
          <a:solidFill>
            <a:srgbClr val="E67E22"/>
          </a:solidFill>
          <a:ln w="12700">
            <a:solidFill>
              <a:srgbClr val="E67E22"/>
            </a:solidFill>
            <a:prstDash val="solid"/>
          </a:ln>
        </p:spPr>
        <p:txBody>
          <a:bodyPr/>
          <a:lstStyle/>
          <a:p>
            <a:endParaRPr/>
          </a:p>
        </p:txBody>
      </p:sp>
      <p:sp>
        <p:nvSpPr>
          <p:cNvPr id="37" name="Text 28"/>
          <p:cNvSpPr/>
          <p:nvPr/>
        </p:nvSpPr>
        <p:spPr>
          <a:xfrm>
            <a:off x="3547872" y="3035808"/>
            <a:ext cx="2944368" cy="164592"/>
          </a:xfrm>
          <a:prstGeom prst="rect">
            <a:avLst/>
          </a:prstGeom>
          <a:noFill/>
          <a:ln/>
        </p:spPr>
        <p:txBody>
          <a:bodyPr wrap="square" lIns="0" tIns="0" rIns="0" bIns="0" rtlCol="0" anchor="ctr"/>
          <a:lstStyle/>
          <a:p>
            <a:pPr marL="0" indent="0">
              <a:buNone/>
            </a:pPr>
            <a:r>
              <a:rPr lang="en-US" sz="850" b="1" dirty="0">
                <a:solidFill>
                  <a:srgbClr val="005088"/>
                </a:solidFill>
                <a:latin typeface="Calibri" pitchFamily="34" charset="0"/>
                <a:ea typeface="Calibri" pitchFamily="34" charset="-122"/>
                <a:cs typeface="Calibri" pitchFamily="34" charset="-120"/>
              </a:rPr>
              <a:t>Warrawong</a:t>
            </a:r>
            <a:endParaRPr lang="en-US" sz="850" dirty="0"/>
          </a:p>
        </p:txBody>
      </p:sp>
      <p:sp>
        <p:nvSpPr>
          <p:cNvPr id="38" name="Text 29"/>
          <p:cNvSpPr/>
          <p:nvPr/>
        </p:nvSpPr>
        <p:spPr>
          <a:xfrm>
            <a:off x="3547872" y="3191256"/>
            <a:ext cx="402336" cy="219456"/>
          </a:xfrm>
          <a:prstGeom prst="rect">
            <a:avLst/>
          </a:prstGeom>
          <a:noFill/>
          <a:ln/>
        </p:spPr>
        <p:txBody>
          <a:bodyPr wrap="square" lIns="0" tIns="0" rIns="0" bIns="0" rtlCol="0" anchor="ctr"/>
          <a:lstStyle/>
          <a:p>
            <a:pPr marL="0" indent="0">
              <a:buNone/>
            </a:pPr>
            <a:r>
              <a:rPr lang="en-US" sz="1500" b="1" dirty="0">
                <a:solidFill>
                  <a:srgbClr val="E67E22"/>
                </a:solidFill>
                <a:latin typeface="Cambria" pitchFamily="34" charset="0"/>
                <a:ea typeface="Cambria" pitchFamily="34" charset="-122"/>
                <a:cs typeface="Cambria" pitchFamily="34" charset="-120"/>
              </a:rPr>
              <a:t>3.8</a:t>
            </a:r>
            <a:endParaRPr lang="en-US" sz="1500" dirty="0"/>
          </a:p>
        </p:txBody>
      </p:sp>
      <p:pic>
        <p:nvPicPr>
          <p:cNvPr id="39" name="Image 7" descr="preencoded.png"/>
          <p:cNvPicPr>
            <a:picLocks noChangeAspect="1"/>
          </p:cNvPicPr>
          <p:nvPr/>
        </p:nvPicPr>
        <p:blipFill>
          <a:blip r:embed="rId5"/>
          <a:stretch>
            <a:fillRect/>
          </a:stretch>
        </p:blipFill>
        <p:spPr>
          <a:xfrm>
            <a:off x="3968496" y="3227832"/>
            <a:ext cx="109728" cy="109728"/>
          </a:xfrm>
          <a:prstGeom prst="rect">
            <a:avLst/>
          </a:prstGeom>
        </p:spPr>
      </p:pic>
      <p:pic>
        <p:nvPicPr>
          <p:cNvPr id="40" name="Image 8" descr="preencoded.png"/>
          <p:cNvPicPr>
            <a:picLocks noChangeAspect="1"/>
          </p:cNvPicPr>
          <p:nvPr/>
        </p:nvPicPr>
        <p:blipFill>
          <a:blip r:embed="rId5"/>
          <a:stretch>
            <a:fillRect/>
          </a:stretch>
        </p:blipFill>
        <p:spPr>
          <a:xfrm>
            <a:off x="4096512" y="3227832"/>
            <a:ext cx="109728" cy="109728"/>
          </a:xfrm>
          <a:prstGeom prst="rect">
            <a:avLst/>
          </a:prstGeom>
        </p:spPr>
      </p:pic>
      <p:pic>
        <p:nvPicPr>
          <p:cNvPr id="41" name="Image 9" descr="preencoded.png"/>
          <p:cNvPicPr>
            <a:picLocks noChangeAspect="1"/>
          </p:cNvPicPr>
          <p:nvPr/>
        </p:nvPicPr>
        <p:blipFill>
          <a:blip r:embed="rId5"/>
          <a:stretch>
            <a:fillRect/>
          </a:stretch>
        </p:blipFill>
        <p:spPr>
          <a:xfrm>
            <a:off x="4224528" y="3227832"/>
            <a:ext cx="109728" cy="109728"/>
          </a:xfrm>
          <a:prstGeom prst="rect">
            <a:avLst/>
          </a:prstGeom>
        </p:spPr>
      </p:pic>
      <p:pic>
        <p:nvPicPr>
          <p:cNvPr id="42" name="Image 10" descr="preencoded.png"/>
          <p:cNvPicPr>
            <a:picLocks noChangeAspect="1"/>
          </p:cNvPicPr>
          <p:nvPr/>
        </p:nvPicPr>
        <p:blipFill>
          <a:blip r:embed="rId6"/>
          <a:stretch>
            <a:fillRect/>
          </a:stretch>
        </p:blipFill>
        <p:spPr>
          <a:xfrm>
            <a:off x="4352544" y="3227832"/>
            <a:ext cx="109728" cy="109728"/>
          </a:xfrm>
          <a:prstGeom prst="rect">
            <a:avLst/>
          </a:prstGeom>
        </p:spPr>
      </p:pic>
      <p:pic>
        <p:nvPicPr>
          <p:cNvPr id="43" name="Image 11" descr="preencoded.png"/>
          <p:cNvPicPr>
            <a:picLocks noChangeAspect="1"/>
          </p:cNvPicPr>
          <p:nvPr/>
        </p:nvPicPr>
        <p:blipFill>
          <a:blip r:embed="rId6"/>
          <a:stretch>
            <a:fillRect/>
          </a:stretch>
        </p:blipFill>
        <p:spPr>
          <a:xfrm>
            <a:off x="4480560" y="3227832"/>
            <a:ext cx="109728" cy="109728"/>
          </a:xfrm>
          <a:prstGeom prst="rect">
            <a:avLst/>
          </a:prstGeom>
        </p:spPr>
      </p:pic>
      <p:sp>
        <p:nvSpPr>
          <p:cNvPr id="44" name="Text 30"/>
          <p:cNvSpPr/>
          <p:nvPr/>
        </p:nvSpPr>
        <p:spPr>
          <a:xfrm>
            <a:off x="3547872" y="3374136"/>
            <a:ext cx="2926080" cy="100584"/>
          </a:xfrm>
          <a:prstGeom prst="rect">
            <a:avLst/>
          </a:prstGeom>
          <a:noFill/>
          <a:ln/>
        </p:spPr>
        <p:txBody>
          <a:bodyPr wrap="square" lIns="0" tIns="0" rIns="0" bIns="0" rtlCol="0" anchor="ctr"/>
          <a:lstStyle/>
          <a:p>
            <a:pPr marL="0" indent="0">
              <a:buNone/>
            </a:pPr>
            <a:r>
              <a:rPr lang="en-US" sz="600" dirty="0">
                <a:solidFill>
                  <a:srgbClr val="64748B"/>
                </a:solidFill>
                <a:latin typeface="Calibri" pitchFamily="34" charset="0"/>
                <a:ea typeface="Calibri" pitchFamily="34" charset="-122"/>
                <a:cs typeface="Calibri" pitchFamily="34" charset="-120"/>
              </a:rPr>
              <a:t>(489 reviews)</a:t>
            </a:r>
            <a:endParaRPr lang="en-US" sz="600" dirty="0"/>
          </a:p>
        </p:txBody>
      </p:sp>
      <p:sp>
        <p:nvSpPr>
          <p:cNvPr id="45" name="Shape 31"/>
          <p:cNvSpPr/>
          <p:nvPr/>
        </p:nvSpPr>
        <p:spPr>
          <a:xfrm>
            <a:off x="3493008" y="3511296"/>
            <a:ext cx="2962656" cy="329184"/>
          </a:xfrm>
          <a:prstGeom prst="roundRect">
            <a:avLst>
              <a:gd name="adj" fmla="val 13889"/>
            </a:avLst>
          </a:prstGeom>
          <a:solidFill>
            <a:srgbClr val="EAF5FC"/>
          </a:solidFill>
          <a:ln w="12700">
            <a:solidFill>
              <a:srgbClr val="00AEEF">
                <a:alpha val="30000"/>
              </a:srgbClr>
            </a:solidFill>
            <a:prstDash val="solid"/>
          </a:ln>
        </p:spPr>
        <p:txBody>
          <a:bodyPr/>
          <a:lstStyle/>
          <a:p>
            <a:endParaRPr/>
          </a:p>
        </p:txBody>
      </p:sp>
      <p:sp>
        <p:nvSpPr>
          <p:cNvPr id="47" name="Text 33"/>
          <p:cNvSpPr/>
          <p:nvPr/>
        </p:nvSpPr>
        <p:spPr>
          <a:xfrm>
            <a:off x="3529584" y="3685032"/>
            <a:ext cx="2889504" cy="128016"/>
          </a:xfrm>
          <a:prstGeom prst="rect">
            <a:avLst/>
          </a:prstGeom>
          <a:noFill/>
          <a:ln/>
        </p:spPr>
        <p:txBody>
          <a:bodyPr wrap="square" lIns="0" tIns="0" rIns="0" bIns="0" rtlCol="0" anchor="ctr"/>
          <a:lstStyle/>
          <a:p>
            <a:pPr marL="0" indent="0">
              <a:buNone/>
            </a:pPr>
            <a:r>
              <a:rPr lang="en-US" sz="600" i="1" dirty="0">
                <a:solidFill>
                  <a:srgbClr val="64748B"/>
                </a:solidFill>
                <a:latin typeface="Calibri" pitchFamily="34" charset="0"/>
                <a:ea typeface="Calibri" pitchFamily="34" charset="-122"/>
                <a:cs typeface="Calibri" pitchFamily="34" charset="-120"/>
              </a:rPr>
              <a:t>Focus: Order accuracy &amp; warmth</a:t>
            </a:r>
            <a:endParaRPr lang="en-US" sz="600" dirty="0"/>
          </a:p>
        </p:txBody>
      </p:sp>
      <p:sp>
        <p:nvSpPr>
          <p:cNvPr id="48" name="Shape 34"/>
          <p:cNvSpPr/>
          <p:nvPr/>
        </p:nvSpPr>
        <p:spPr>
          <a:xfrm>
            <a:off x="201168" y="3950208"/>
            <a:ext cx="3108960" cy="877824"/>
          </a:xfrm>
          <a:prstGeom prst="roundRect">
            <a:avLst>
              <a:gd name="adj" fmla="val 10417"/>
            </a:avLst>
          </a:prstGeom>
          <a:solidFill>
            <a:srgbClr val="FFFFFF"/>
          </a:solidFill>
          <a:ln w="12700">
            <a:solidFill>
              <a:srgbClr val="E0EEF6"/>
            </a:solidFill>
            <a:prstDash val="solid"/>
          </a:ln>
          <a:effectLst>
            <a:outerShdw blurRad="76200" dist="25400" dir="2700000" algn="bl" rotWithShape="0">
              <a:srgbClr val="000000">
                <a:alpha val="10000"/>
              </a:srgbClr>
            </a:outerShdw>
          </a:effectLst>
        </p:spPr>
        <p:txBody>
          <a:bodyPr/>
          <a:lstStyle/>
          <a:p>
            <a:endParaRPr/>
          </a:p>
        </p:txBody>
      </p:sp>
      <p:sp>
        <p:nvSpPr>
          <p:cNvPr id="49" name="Shape 35"/>
          <p:cNvSpPr/>
          <p:nvPr/>
        </p:nvSpPr>
        <p:spPr>
          <a:xfrm>
            <a:off x="201168" y="3950208"/>
            <a:ext cx="54864" cy="877824"/>
          </a:xfrm>
          <a:prstGeom prst="roundRect">
            <a:avLst>
              <a:gd name="adj" fmla="val 66667"/>
            </a:avLst>
          </a:prstGeom>
          <a:solidFill>
            <a:srgbClr val="00AEEF"/>
          </a:solidFill>
          <a:ln w="12700">
            <a:solidFill>
              <a:srgbClr val="00AEEF"/>
            </a:solidFill>
            <a:prstDash val="solid"/>
          </a:ln>
        </p:spPr>
        <p:txBody>
          <a:bodyPr/>
          <a:lstStyle/>
          <a:p>
            <a:endParaRPr/>
          </a:p>
        </p:txBody>
      </p:sp>
      <p:sp>
        <p:nvSpPr>
          <p:cNvPr id="50" name="Text 36"/>
          <p:cNvSpPr/>
          <p:nvPr/>
        </p:nvSpPr>
        <p:spPr>
          <a:xfrm>
            <a:off x="329184" y="3977640"/>
            <a:ext cx="2944368" cy="164592"/>
          </a:xfrm>
          <a:prstGeom prst="rect">
            <a:avLst/>
          </a:prstGeom>
          <a:noFill/>
          <a:ln/>
        </p:spPr>
        <p:txBody>
          <a:bodyPr wrap="square" lIns="0" tIns="0" rIns="0" bIns="0" rtlCol="0" anchor="ctr"/>
          <a:lstStyle/>
          <a:p>
            <a:pPr marL="0" indent="0">
              <a:buNone/>
            </a:pPr>
            <a:r>
              <a:rPr lang="en-US" sz="850" b="1" dirty="0">
                <a:solidFill>
                  <a:srgbClr val="005088"/>
                </a:solidFill>
                <a:latin typeface="Calibri" pitchFamily="34" charset="0"/>
                <a:ea typeface="Calibri" pitchFamily="34" charset="-122"/>
                <a:cs typeface="Calibri" pitchFamily="34" charset="-120"/>
              </a:rPr>
              <a:t>Wodonga</a:t>
            </a:r>
            <a:endParaRPr lang="en-US" sz="850" dirty="0"/>
          </a:p>
        </p:txBody>
      </p:sp>
      <p:sp>
        <p:nvSpPr>
          <p:cNvPr id="51" name="Text 37"/>
          <p:cNvSpPr/>
          <p:nvPr/>
        </p:nvSpPr>
        <p:spPr>
          <a:xfrm>
            <a:off x="329184" y="4133088"/>
            <a:ext cx="402336" cy="219456"/>
          </a:xfrm>
          <a:prstGeom prst="rect">
            <a:avLst/>
          </a:prstGeom>
          <a:noFill/>
          <a:ln/>
        </p:spPr>
        <p:txBody>
          <a:bodyPr wrap="square" lIns="0" tIns="0" rIns="0" bIns="0" rtlCol="0" anchor="ctr"/>
          <a:lstStyle/>
          <a:p>
            <a:pPr marL="0" indent="0">
              <a:buNone/>
            </a:pPr>
            <a:r>
              <a:rPr lang="en-US" sz="1500" b="1" dirty="0">
                <a:solidFill>
                  <a:srgbClr val="00AEEF"/>
                </a:solidFill>
                <a:latin typeface="Cambria" pitchFamily="34" charset="0"/>
                <a:ea typeface="Cambria" pitchFamily="34" charset="-122"/>
                <a:cs typeface="Cambria" pitchFamily="34" charset="-120"/>
              </a:rPr>
              <a:t>4.3</a:t>
            </a:r>
            <a:endParaRPr lang="en-US" sz="1500" dirty="0"/>
          </a:p>
        </p:txBody>
      </p:sp>
      <p:pic>
        <p:nvPicPr>
          <p:cNvPr id="52" name="Image 12" descr="preencoded.png"/>
          <p:cNvPicPr>
            <a:picLocks noChangeAspect="1"/>
          </p:cNvPicPr>
          <p:nvPr/>
        </p:nvPicPr>
        <p:blipFill>
          <a:blip r:embed="rId5"/>
          <a:stretch>
            <a:fillRect/>
          </a:stretch>
        </p:blipFill>
        <p:spPr>
          <a:xfrm>
            <a:off x="749808" y="4169664"/>
            <a:ext cx="109728" cy="109728"/>
          </a:xfrm>
          <a:prstGeom prst="rect">
            <a:avLst/>
          </a:prstGeom>
        </p:spPr>
      </p:pic>
      <p:pic>
        <p:nvPicPr>
          <p:cNvPr id="53" name="Image 13" descr="preencoded.png"/>
          <p:cNvPicPr>
            <a:picLocks noChangeAspect="1"/>
          </p:cNvPicPr>
          <p:nvPr/>
        </p:nvPicPr>
        <p:blipFill>
          <a:blip r:embed="rId5"/>
          <a:stretch>
            <a:fillRect/>
          </a:stretch>
        </p:blipFill>
        <p:spPr>
          <a:xfrm>
            <a:off x="877824" y="4169664"/>
            <a:ext cx="109728" cy="109728"/>
          </a:xfrm>
          <a:prstGeom prst="rect">
            <a:avLst/>
          </a:prstGeom>
        </p:spPr>
      </p:pic>
      <p:pic>
        <p:nvPicPr>
          <p:cNvPr id="54" name="Image 14" descr="preencoded.png"/>
          <p:cNvPicPr>
            <a:picLocks noChangeAspect="1"/>
          </p:cNvPicPr>
          <p:nvPr/>
        </p:nvPicPr>
        <p:blipFill>
          <a:blip r:embed="rId5"/>
          <a:stretch>
            <a:fillRect/>
          </a:stretch>
        </p:blipFill>
        <p:spPr>
          <a:xfrm>
            <a:off x="1005840" y="4169664"/>
            <a:ext cx="109728" cy="109728"/>
          </a:xfrm>
          <a:prstGeom prst="rect">
            <a:avLst/>
          </a:prstGeom>
        </p:spPr>
      </p:pic>
      <p:pic>
        <p:nvPicPr>
          <p:cNvPr id="55" name="Image 15" descr="preencoded.png"/>
          <p:cNvPicPr>
            <a:picLocks noChangeAspect="1"/>
          </p:cNvPicPr>
          <p:nvPr/>
        </p:nvPicPr>
        <p:blipFill>
          <a:blip r:embed="rId5"/>
          <a:stretch>
            <a:fillRect/>
          </a:stretch>
        </p:blipFill>
        <p:spPr>
          <a:xfrm>
            <a:off x="1133856" y="4169664"/>
            <a:ext cx="109728" cy="109728"/>
          </a:xfrm>
          <a:prstGeom prst="rect">
            <a:avLst/>
          </a:prstGeom>
        </p:spPr>
      </p:pic>
      <p:pic>
        <p:nvPicPr>
          <p:cNvPr id="56" name="Image 16" descr="preencoded.png"/>
          <p:cNvPicPr>
            <a:picLocks noChangeAspect="1"/>
          </p:cNvPicPr>
          <p:nvPr/>
        </p:nvPicPr>
        <p:blipFill>
          <a:blip r:embed="rId7"/>
          <a:stretch>
            <a:fillRect/>
          </a:stretch>
        </p:blipFill>
        <p:spPr>
          <a:xfrm>
            <a:off x="1261872" y="4169664"/>
            <a:ext cx="109728" cy="109728"/>
          </a:xfrm>
          <a:prstGeom prst="rect">
            <a:avLst/>
          </a:prstGeom>
        </p:spPr>
      </p:pic>
      <p:sp>
        <p:nvSpPr>
          <p:cNvPr id="57" name="Text 38"/>
          <p:cNvSpPr/>
          <p:nvPr/>
        </p:nvSpPr>
        <p:spPr>
          <a:xfrm>
            <a:off x="329184" y="4315968"/>
            <a:ext cx="2926080" cy="100584"/>
          </a:xfrm>
          <a:prstGeom prst="rect">
            <a:avLst/>
          </a:prstGeom>
          <a:noFill/>
          <a:ln/>
        </p:spPr>
        <p:txBody>
          <a:bodyPr wrap="square" lIns="0" tIns="0" rIns="0" bIns="0" rtlCol="0" anchor="ctr"/>
          <a:lstStyle/>
          <a:p>
            <a:pPr marL="0" indent="0">
              <a:buNone/>
            </a:pPr>
            <a:r>
              <a:rPr lang="en-US" sz="600" dirty="0">
                <a:solidFill>
                  <a:srgbClr val="64748B"/>
                </a:solidFill>
                <a:latin typeface="Calibri" pitchFamily="34" charset="0"/>
                <a:ea typeface="Calibri" pitchFamily="34" charset="-122"/>
                <a:cs typeface="Calibri" pitchFamily="34" charset="-120"/>
              </a:rPr>
              <a:t>(276 reviews)</a:t>
            </a:r>
            <a:endParaRPr lang="en-US" sz="600" dirty="0"/>
          </a:p>
        </p:txBody>
      </p:sp>
      <p:sp>
        <p:nvSpPr>
          <p:cNvPr id="58" name="Shape 39"/>
          <p:cNvSpPr/>
          <p:nvPr/>
        </p:nvSpPr>
        <p:spPr>
          <a:xfrm>
            <a:off x="201168" y="4946904"/>
            <a:ext cx="6455664" cy="201168"/>
          </a:xfrm>
          <a:prstGeom prst="roundRect">
            <a:avLst>
              <a:gd name="adj" fmla="val 27273"/>
            </a:avLst>
          </a:prstGeom>
          <a:solidFill>
            <a:srgbClr val="27AE60"/>
          </a:solidFill>
          <a:ln w="12700">
            <a:solidFill>
              <a:srgbClr val="27AE60"/>
            </a:solidFill>
            <a:prstDash val="solid"/>
          </a:ln>
        </p:spPr>
        <p:txBody>
          <a:bodyPr/>
          <a:lstStyle/>
          <a:p>
            <a:endParaRPr/>
          </a:p>
        </p:txBody>
      </p:sp>
      <p:sp>
        <p:nvSpPr>
          <p:cNvPr id="59" name="Text 40"/>
          <p:cNvSpPr/>
          <p:nvPr/>
        </p:nvSpPr>
        <p:spPr>
          <a:xfrm>
            <a:off x="292608" y="4956048"/>
            <a:ext cx="6272784" cy="182880"/>
          </a:xfrm>
          <a:prstGeom prst="rect">
            <a:avLst/>
          </a:prstGeom>
          <a:noFill/>
          <a:ln/>
        </p:spPr>
        <p:txBody>
          <a:bodyPr wrap="square" lIns="0" tIns="0" rIns="0" bIns="0" rtlCol="0" anchor="ctr"/>
          <a:lstStyle/>
          <a:p>
            <a:pPr marL="0" indent="0">
              <a:buNone/>
            </a:pPr>
            <a:r>
              <a:rPr lang="en-US" sz="750" b="1" kern="0" spc="200" dirty="0">
                <a:solidFill>
                  <a:srgbClr val="FFFFFF"/>
                </a:solidFill>
                <a:latin typeface="Calibri" pitchFamily="34" charset="0"/>
                <a:ea typeface="Calibri" pitchFamily="34" charset="-122"/>
                <a:cs typeface="Calibri" pitchFamily="34" charset="-120"/>
              </a:rPr>
              <a:t>ZAMBRERO</a:t>
            </a:r>
            <a:endParaRPr lang="en-US" sz="750" dirty="0"/>
          </a:p>
        </p:txBody>
      </p:sp>
      <p:sp>
        <p:nvSpPr>
          <p:cNvPr id="60" name="Shape 41"/>
          <p:cNvSpPr/>
          <p:nvPr/>
        </p:nvSpPr>
        <p:spPr>
          <a:xfrm>
            <a:off x="201168" y="5193792"/>
            <a:ext cx="3108960" cy="877824"/>
          </a:xfrm>
          <a:prstGeom prst="roundRect">
            <a:avLst>
              <a:gd name="adj" fmla="val 10417"/>
            </a:avLst>
          </a:prstGeom>
          <a:solidFill>
            <a:srgbClr val="FFFFFF"/>
          </a:solidFill>
          <a:ln w="12700">
            <a:solidFill>
              <a:srgbClr val="E0EEF6"/>
            </a:solidFill>
            <a:prstDash val="solid"/>
          </a:ln>
          <a:effectLst>
            <a:outerShdw blurRad="76200" dist="25400" dir="2700000" algn="bl" rotWithShape="0">
              <a:srgbClr val="000000">
                <a:alpha val="10000"/>
              </a:srgbClr>
            </a:outerShdw>
          </a:effectLst>
        </p:spPr>
        <p:txBody>
          <a:bodyPr/>
          <a:lstStyle/>
          <a:p>
            <a:endParaRPr/>
          </a:p>
        </p:txBody>
      </p:sp>
      <p:sp>
        <p:nvSpPr>
          <p:cNvPr id="61" name="Shape 42"/>
          <p:cNvSpPr/>
          <p:nvPr/>
        </p:nvSpPr>
        <p:spPr>
          <a:xfrm>
            <a:off x="201168" y="5193792"/>
            <a:ext cx="54864" cy="877824"/>
          </a:xfrm>
          <a:prstGeom prst="roundRect">
            <a:avLst>
              <a:gd name="adj" fmla="val 66667"/>
            </a:avLst>
          </a:prstGeom>
          <a:solidFill>
            <a:srgbClr val="00AEEF"/>
          </a:solidFill>
          <a:ln w="12700">
            <a:solidFill>
              <a:srgbClr val="00AEEF"/>
            </a:solidFill>
            <a:prstDash val="solid"/>
          </a:ln>
        </p:spPr>
        <p:txBody>
          <a:bodyPr/>
          <a:lstStyle/>
          <a:p>
            <a:endParaRPr/>
          </a:p>
        </p:txBody>
      </p:sp>
      <p:sp>
        <p:nvSpPr>
          <p:cNvPr id="62" name="Text 43"/>
          <p:cNvSpPr/>
          <p:nvPr/>
        </p:nvSpPr>
        <p:spPr>
          <a:xfrm>
            <a:off x="329184" y="5221224"/>
            <a:ext cx="2944368" cy="164592"/>
          </a:xfrm>
          <a:prstGeom prst="rect">
            <a:avLst/>
          </a:prstGeom>
          <a:noFill/>
          <a:ln/>
        </p:spPr>
        <p:txBody>
          <a:bodyPr wrap="square" lIns="0" tIns="0" rIns="0" bIns="0" rtlCol="0" anchor="ctr"/>
          <a:lstStyle/>
          <a:p>
            <a:pPr marL="0" indent="0">
              <a:buNone/>
            </a:pPr>
            <a:r>
              <a:rPr lang="en-US" sz="850" b="1" dirty="0">
                <a:solidFill>
                  <a:srgbClr val="005088"/>
                </a:solidFill>
                <a:latin typeface="Calibri" pitchFamily="34" charset="0"/>
                <a:ea typeface="Calibri" pitchFamily="34" charset="-122"/>
                <a:cs typeface="Calibri" pitchFamily="34" charset="-120"/>
              </a:rPr>
              <a:t>Cessnock</a:t>
            </a:r>
            <a:endParaRPr lang="en-US" sz="850" dirty="0"/>
          </a:p>
        </p:txBody>
      </p:sp>
      <p:sp>
        <p:nvSpPr>
          <p:cNvPr id="63" name="Text 44"/>
          <p:cNvSpPr/>
          <p:nvPr/>
        </p:nvSpPr>
        <p:spPr>
          <a:xfrm>
            <a:off x="329184" y="5376672"/>
            <a:ext cx="402336" cy="219456"/>
          </a:xfrm>
          <a:prstGeom prst="rect">
            <a:avLst/>
          </a:prstGeom>
          <a:noFill/>
          <a:ln/>
        </p:spPr>
        <p:txBody>
          <a:bodyPr wrap="square" lIns="0" tIns="0" rIns="0" bIns="0" rtlCol="0" anchor="ctr"/>
          <a:lstStyle/>
          <a:p>
            <a:pPr marL="0" indent="0">
              <a:buNone/>
            </a:pPr>
            <a:r>
              <a:rPr lang="en-US" sz="1500" b="1" dirty="0">
                <a:solidFill>
                  <a:srgbClr val="00AEEF"/>
                </a:solidFill>
                <a:latin typeface="Cambria" pitchFamily="34" charset="0"/>
                <a:ea typeface="Cambria" pitchFamily="34" charset="-122"/>
                <a:cs typeface="Cambria" pitchFamily="34" charset="-120"/>
              </a:rPr>
              <a:t>4.2</a:t>
            </a:r>
            <a:endParaRPr lang="en-US" sz="1500" dirty="0"/>
          </a:p>
        </p:txBody>
      </p:sp>
      <p:pic>
        <p:nvPicPr>
          <p:cNvPr id="64" name="Image 17" descr="preencoded.png"/>
          <p:cNvPicPr>
            <a:picLocks noChangeAspect="1"/>
          </p:cNvPicPr>
          <p:nvPr/>
        </p:nvPicPr>
        <p:blipFill>
          <a:blip r:embed="rId5"/>
          <a:stretch>
            <a:fillRect/>
          </a:stretch>
        </p:blipFill>
        <p:spPr>
          <a:xfrm>
            <a:off x="749808" y="5413248"/>
            <a:ext cx="109728" cy="109728"/>
          </a:xfrm>
          <a:prstGeom prst="rect">
            <a:avLst/>
          </a:prstGeom>
        </p:spPr>
      </p:pic>
      <p:pic>
        <p:nvPicPr>
          <p:cNvPr id="65" name="Image 18" descr="preencoded.png"/>
          <p:cNvPicPr>
            <a:picLocks noChangeAspect="1"/>
          </p:cNvPicPr>
          <p:nvPr/>
        </p:nvPicPr>
        <p:blipFill>
          <a:blip r:embed="rId5"/>
          <a:stretch>
            <a:fillRect/>
          </a:stretch>
        </p:blipFill>
        <p:spPr>
          <a:xfrm>
            <a:off x="877824" y="5413248"/>
            <a:ext cx="109728" cy="109728"/>
          </a:xfrm>
          <a:prstGeom prst="rect">
            <a:avLst/>
          </a:prstGeom>
        </p:spPr>
      </p:pic>
      <p:pic>
        <p:nvPicPr>
          <p:cNvPr id="66" name="Image 19" descr="preencoded.png"/>
          <p:cNvPicPr>
            <a:picLocks noChangeAspect="1"/>
          </p:cNvPicPr>
          <p:nvPr/>
        </p:nvPicPr>
        <p:blipFill>
          <a:blip r:embed="rId5"/>
          <a:stretch>
            <a:fillRect/>
          </a:stretch>
        </p:blipFill>
        <p:spPr>
          <a:xfrm>
            <a:off x="1005840" y="5413248"/>
            <a:ext cx="109728" cy="109728"/>
          </a:xfrm>
          <a:prstGeom prst="rect">
            <a:avLst/>
          </a:prstGeom>
        </p:spPr>
      </p:pic>
      <p:pic>
        <p:nvPicPr>
          <p:cNvPr id="67" name="Image 20" descr="preencoded.png"/>
          <p:cNvPicPr>
            <a:picLocks noChangeAspect="1"/>
          </p:cNvPicPr>
          <p:nvPr/>
        </p:nvPicPr>
        <p:blipFill>
          <a:blip r:embed="rId5"/>
          <a:stretch>
            <a:fillRect/>
          </a:stretch>
        </p:blipFill>
        <p:spPr>
          <a:xfrm>
            <a:off x="1133856" y="5413248"/>
            <a:ext cx="109728" cy="109728"/>
          </a:xfrm>
          <a:prstGeom prst="rect">
            <a:avLst/>
          </a:prstGeom>
        </p:spPr>
      </p:pic>
      <p:pic>
        <p:nvPicPr>
          <p:cNvPr id="68" name="Image 21" descr="preencoded.png"/>
          <p:cNvPicPr>
            <a:picLocks noChangeAspect="1"/>
          </p:cNvPicPr>
          <p:nvPr/>
        </p:nvPicPr>
        <p:blipFill>
          <a:blip r:embed="rId6"/>
          <a:stretch>
            <a:fillRect/>
          </a:stretch>
        </p:blipFill>
        <p:spPr>
          <a:xfrm>
            <a:off x="1261872" y="5413248"/>
            <a:ext cx="109728" cy="109728"/>
          </a:xfrm>
          <a:prstGeom prst="rect">
            <a:avLst/>
          </a:prstGeom>
        </p:spPr>
      </p:pic>
      <p:sp>
        <p:nvSpPr>
          <p:cNvPr id="69" name="Text 45"/>
          <p:cNvSpPr/>
          <p:nvPr/>
        </p:nvSpPr>
        <p:spPr>
          <a:xfrm>
            <a:off x="329184" y="5559552"/>
            <a:ext cx="2926080" cy="100584"/>
          </a:xfrm>
          <a:prstGeom prst="rect">
            <a:avLst/>
          </a:prstGeom>
          <a:noFill/>
          <a:ln/>
        </p:spPr>
        <p:txBody>
          <a:bodyPr wrap="square" lIns="0" tIns="0" rIns="0" bIns="0" rtlCol="0" anchor="ctr"/>
          <a:lstStyle/>
          <a:p>
            <a:pPr marL="0" indent="0">
              <a:buNone/>
            </a:pPr>
            <a:r>
              <a:rPr lang="en-US" sz="600" dirty="0">
                <a:solidFill>
                  <a:srgbClr val="64748B"/>
                </a:solidFill>
                <a:latin typeface="Calibri" pitchFamily="34" charset="0"/>
                <a:ea typeface="Calibri" pitchFamily="34" charset="-122"/>
                <a:cs typeface="Calibri" pitchFamily="34" charset="-120"/>
              </a:rPr>
              <a:t>(198 reviews)</a:t>
            </a:r>
            <a:endParaRPr lang="en-US" sz="600" dirty="0"/>
          </a:p>
        </p:txBody>
      </p:sp>
      <p:sp>
        <p:nvSpPr>
          <p:cNvPr id="70" name="Shape 46"/>
          <p:cNvSpPr/>
          <p:nvPr/>
        </p:nvSpPr>
        <p:spPr>
          <a:xfrm>
            <a:off x="274320" y="5696712"/>
            <a:ext cx="2962656" cy="329184"/>
          </a:xfrm>
          <a:prstGeom prst="roundRect">
            <a:avLst>
              <a:gd name="adj" fmla="val 13889"/>
            </a:avLst>
          </a:prstGeom>
          <a:solidFill>
            <a:srgbClr val="EAF5FC"/>
          </a:solidFill>
          <a:ln w="12700">
            <a:solidFill>
              <a:srgbClr val="00AEEF">
                <a:alpha val="30000"/>
              </a:srgbClr>
            </a:solidFill>
            <a:prstDash val="solid"/>
          </a:ln>
        </p:spPr>
        <p:txBody>
          <a:bodyPr/>
          <a:lstStyle/>
          <a:p>
            <a:endParaRPr/>
          </a:p>
        </p:txBody>
      </p:sp>
      <p:sp>
        <p:nvSpPr>
          <p:cNvPr id="71" name="Text 47"/>
          <p:cNvSpPr/>
          <p:nvPr/>
        </p:nvSpPr>
        <p:spPr>
          <a:xfrm>
            <a:off x="310896" y="5715000"/>
            <a:ext cx="2889504" cy="146304"/>
          </a:xfrm>
          <a:prstGeom prst="rect">
            <a:avLst/>
          </a:prstGeom>
          <a:noFill/>
          <a:ln/>
        </p:spPr>
        <p:txBody>
          <a:bodyPr wrap="square" lIns="0" tIns="0" rIns="0" bIns="0" rtlCol="0" anchor="ctr"/>
          <a:lstStyle/>
          <a:p>
            <a:pPr marL="0" indent="0">
              <a:buNone/>
            </a:pPr>
            <a:r>
              <a:rPr lang="en-US" sz="650" b="1" dirty="0">
                <a:solidFill>
                  <a:srgbClr val="005088"/>
                </a:solidFill>
                <a:latin typeface="Calibri" pitchFamily="34" charset="0"/>
                <a:ea typeface="Calibri" pitchFamily="34" charset="-122"/>
                <a:cs typeface="Calibri" pitchFamily="34" charset="-120"/>
              </a:rPr>
              <a:t>🎯 Lift to 4.4  •  +10 this month</a:t>
            </a:r>
            <a:endParaRPr lang="en-US" sz="650" dirty="0"/>
          </a:p>
        </p:txBody>
      </p:sp>
      <p:sp>
        <p:nvSpPr>
          <p:cNvPr id="72" name="Text 48"/>
          <p:cNvSpPr/>
          <p:nvPr/>
        </p:nvSpPr>
        <p:spPr>
          <a:xfrm>
            <a:off x="310896" y="5870448"/>
            <a:ext cx="2889504" cy="128016"/>
          </a:xfrm>
          <a:prstGeom prst="rect">
            <a:avLst/>
          </a:prstGeom>
          <a:noFill/>
          <a:ln/>
        </p:spPr>
        <p:txBody>
          <a:bodyPr wrap="square" lIns="0" tIns="0" rIns="0" bIns="0" rtlCol="0" anchor="ctr"/>
          <a:lstStyle/>
          <a:p>
            <a:pPr marL="0" indent="0">
              <a:buNone/>
            </a:pPr>
            <a:r>
              <a:rPr lang="en-US" sz="600" i="1" dirty="0">
                <a:solidFill>
                  <a:srgbClr val="64748B"/>
                </a:solidFill>
                <a:latin typeface="Calibri" pitchFamily="34" charset="0"/>
                <a:ea typeface="Calibri" pitchFamily="34" charset="-122"/>
                <a:cs typeface="Calibri" pitchFamily="34" charset="-120"/>
              </a:rPr>
              <a:t>Focus: Cleanliness &amp; speed</a:t>
            </a:r>
            <a:endParaRPr lang="en-US" sz="600" dirty="0"/>
          </a:p>
        </p:txBody>
      </p:sp>
      <p:sp>
        <p:nvSpPr>
          <p:cNvPr id="73" name="Shape 49"/>
          <p:cNvSpPr/>
          <p:nvPr/>
        </p:nvSpPr>
        <p:spPr>
          <a:xfrm>
            <a:off x="3419856" y="5193792"/>
            <a:ext cx="3108960" cy="877824"/>
          </a:xfrm>
          <a:prstGeom prst="roundRect">
            <a:avLst>
              <a:gd name="adj" fmla="val 10417"/>
            </a:avLst>
          </a:prstGeom>
          <a:solidFill>
            <a:srgbClr val="FFFFFF"/>
          </a:solidFill>
          <a:ln w="12700">
            <a:solidFill>
              <a:srgbClr val="E0EEF6"/>
            </a:solidFill>
            <a:prstDash val="solid"/>
          </a:ln>
          <a:effectLst>
            <a:outerShdw blurRad="76200" dist="25400" dir="2700000" algn="bl" rotWithShape="0">
              <a:srgbClr val="000000">
                <a:alpha val="10000"/>
              </a:srgbClr>
            </a:outerShdw>
          </a:effectLst>
        </p:spPr>
        <p:txBody>
          <a:bodyPr/>
          <a:lstStyle/>
          <a:p>
            <a:endParaRPr/>
          </a:p>
        </p:txBody>
      </p:sp>
      <p:sp>
        <p:nvSpPr>
          <p:cNvPr id="74" name="Shape 50"/>
          <p:cNvSpPr/>
          <p:nvPr/>
        </p:nvSpPr>
        <p:spPr>
          <a:xfrm>
            <a:off x="3419856" y="5193792"/>
            <a:ext cx="54864" cy="877824"/>
          </a:xfrm>
          <a:prstGeom prst="roundRect">
            <a:avLst>
              <a:gd name="adj" fmla="val 66667"/>
            </a:avLst>
          </a:prstGeom>
          <a:solidFill>
            <a:srgbClr val="00AEEF"/>
          </a:solidFill>
          <a:ln w="12700">
            <a:solidFill>
              <a:srgbClr val="00AEEF"/>
            </a:solidFill>
            <a:prstDash val="solid"/>
          </a:ln>
        </p:spPr>
        <p:txBody>
          <a:bodyPr/>
          <a:lstStyle/>
          <a:p>
            <a:endParaRPr/>
          </a:p>
        </p:txBody>
      </p:sp>
      <p:sp>
        <p:nvSpPr>
          <p:cNvPr id="75" name="Text 51"/>
          <p:cNvSpPr/>
          <p:nvPr/>
        </p:nvSpPr>
        <p:spPr>
          <a:xfrm>
            <a:off x="3547872" y="5221224"/>
            <a:ext cx="2944368" cy="164592"/>
          </a:xfrm>
          <a:prstGeom prst="rect">
            <a:avLst/>
          </a:prstGeom>
          <a:noFill/>
          <a:ln/>
        </p:spPr>
        <p:txBody>
          <a:bodyPr wrap="square" lIns="0" tIns="0" rIns="0" bIns="0" rtlCol="0" anchor="ctr"/>
          <a:lstStyle/>
          <a:p>
            <a:pPr marL="0" indent="0">
              <a:buNone/>
            </a:pPr>
            <a:r>
              <a:rPr lang="en-US" sz="850" b="1" dirty="0">
                <a:solidFill>
                  <a:srgbClr val="005088"/>
                </a:solidFill>
                <a:latin typeface="Calibri" pitchFamily="34" charset="0"/>
                <a:ea typeface="Calibri" pitchFamily="34" charset="-122"/>
                <a:cs typeface="Calibri" pitchFamily="34" charset="-120"/>
              </a:rPr>
              <a:t>Coogee</a:t>
            </a:r>
            <a:endParaRPr lang="en-US" sz="850" dirty="0"/>
          </a:p>
        </p:txBody>
      </p:sp>
      <p:sp>
        <p:nvSpPr>
          <p:cNvPr id="76" name="Text 52"/>
          <p:cNvSpPr/>
          <p:nvPr/>
        </p:nvSpPr>
        <p:spPr>
          <a:xfrm>
            <a:off x="3547872" y="5376672"/>
            <a:ext cx="402336" cy="219456"/>
          </a:xfrm>
          <a:prstGeom prst="rect">
            <a:avLst/>
          </a:prstGeom>
          <a:noFill/>
          <a:ln/>
        </p:spPr>
        <p:txBody>
          <a:bodyPr wrap="square" lIns="0" tIns="0" rIns="0" bIns="0" rtlCol="0" anchor="ctr"/>
          <a:lstStyle/>
          <a:p>
            <a:pPr marL="0" indent="0">
              <a:buNone/>
            </a:pPr>
            <a:r>
              <a:rPr lang="en-US" sz="1500" b="1" dirty="0">
                <a:solidFill>
                  <a:srgbClr val="00AEEF"/>
                </a:solidFill>
                <a:latin typeface="Cambria" pitchFamily="34" charset="0"/>
                <a:ea typeface="Cambria" pitchFamily="34" charset="-122"/>
                <a:cs typeface="Cambria" pitchFamily="34" charset="-120"/>
              </a:rPr>
              <a:t>4.4</a:t>
            </a:r>
            <a:endParaRPr lang="en-US" sz="1500" dirty="0"/>
          </a:p>
        </p:txBody>
      </p:sp>
      <p:pic>
        <p:nvPicPr>
          <p:cNvPr id="77" name="Image 22" descr="preencoded.png"/>
          <p:cNvPicPr>
            <a:picLocks noChangeAspect="1"/>
          </p:cNvPicPr>
          <p:nvPr/>
        </p:nvPicPr>
        <p:blipFill>
          <a:blip r:embed="rId5"/>
          <a:stretch>
            <a:fillRect/>
          </a:stretch>
        </p:blipFill>
        <p:spPr>
          <a:xfrm>
            <a:off x="3968496" y="5413248"/>
            <a:ext cx="109728" cy="109728"/>
          </a:xfrm>
          <a:prstGeom prst="rect">
            <a:avLst/>
          </a:prstGeom>
        </p:spPr>
      </p:pic>
      <p:pic>
        <p:nvPicPr>
          <p:cNvPr id="78" name="Image 23" descr="preencoded.png"/>
          <p:cNvPicPr>
            <a:picLocks noChangeAspect="1"/>
          </p:cNvPicPr>
          <p:nvPr/>
        </p:nvPicPr>
        <p:blipFill>
          <a:blip r:embed="rId5"/>
          <a:stretch>
            <a:fillRect/>
          </a:stretch>
        </p:blipFill>
        <p:spPr>
          <a:xfrm>
            <a:off x="4096512" y="5413248"/>
            <a:ext cx="109728" cy="109728"/>
          </a:xfrm>
          <a:prstGeom prst="rect">
            <a:avLst/>
          </a:prstGeom>
        </p:spPr>
      </p:pic>
      <p:pic>
        <p:nvPicPr>
          <p:cNvPr id="79" name="Image 24" descr="preencoded.png"/>
          <p:cNvPicPr>
            <a:picLocks noChangeAspect="1"/>
          </p:cNvPicPr>
          <p:nvPr/>
        </p:nvPicPr>
        <p:blipFill>
          <a:blip r:embed="rId5"/>
          <a:stretch>
            <a:fillRect/>
          </a:stretch>
        </p:blipFill>
        <p:spPr>
          <a:xfrm>
            <a:off x="4224528" y="5413248"/>
            <a:ext cx="109728" cy="109728"/>
          </a:xfrm>
          <a:prstGeom prst="rect">
            <a:avLst/>
          </a:prstGeom>
        </p:spPr>
      </p:pic>
      <p:pic>
        <p:nvPicPr>
          <p:cNvPr id="80" name="Image 25" descr="preencoded.png"/>
          <p:cNvPicPr>
            <a:picLocks noChangeAspect="1"/>
          </p:cNvPicPr>
          <p:nvPr/>
        </p:nvPicPr>
        <p:blipFill>
          <a:blip r:embed="rId5"/>
          <a:stretch>
            <a:fillRect/>
          </a:stretch>
        </p:blipFill>
        <p:spPr>
          <a:xfrm>
            <a:off x="4352544" y="5413248"/>
            <a:ext cx="109728" cy="109728"/>
          </a:xfrm>
          <a:prstGeom prst="rect">
            <a:avLst/>
          </a:prstGeom>
        </p:spPr>
      </p:pic>
      <p:pic>
        <p:nvPicPr>
          <p:cNvPr id="81" name="Image 26" descr="preencoded.png"/>
          <p:cNvPicPr>
            <a:picLocks noChangeAspect="1"/>
          </p:cNvPicPr>
          <p:nvPr/>
        </p:nvPicPr>
        <p:blipFill>
          <a:blip r:embed="rId7"/>
          <a:stretch>
            <a:fillRect/>
          </a:stretch>
        </p:blipFill>
        <p:spPr>
          <a:xfrm>
            <a:off x="4480560" y="5413248"/>
            <a:ext cx="109728" cy="109728"/>
          </a:xfrm>
          <a:prstGeom prst="rect">
            <a:avLst/>
          </a:prstGeom>
        </p:spPr>
      </p:pic>
      <p:sp>
        <p:nvSpPr>
          <p:cNvPr id="82" name="Text 53"/>
          <p:cNvSpPr/>
          <p:nvPr/>
        </p:nvSpPr>
        <p:spPr>
          <a:xfrm>
            <a:off x="3547872" y="5559552"/>
            <a:ext cx="2926080" cy="100584"/>
          </a:xfrm>
          <a:prstGeom prst="rect">
            <a:avLst/>
          </a:prstGeom>
          <a:noFill/>
          <a:ln/>
        </p:spPr>
        <p:txBody>
          <a:bodyPr wrap="square" lIns="0" tIns="0" rIns="0" bIns="0" rtlCol="0" anchor="ctr"/>
          <a:lstStyle/>
          <a:p>
            <a:pPr marL="0" indent="0">
              <a:buNone/>
            </a:pPr>
            <a:r>
              <a:rPr lang="en-US" sz="600" dirty="0">
                <a:solidFill>
                  <a:srgbClr val="64748B"/>
                </a:solidFill>
                <a:latin typeface="Calibri" pitchFamily="34" charset="0"/>
                <a:ea typeface="Calibri" pitchFamily="34" charset="-122"/>
                <a:cs typeface="Calibri" pitchFamily="34" charset="-120"/>
              </a:rPr>
              <a:t>(541 reviews)</a:t>
            </a:r>
            <a:endParaRPr lang="en-US" sz="600" dirty="0"/>
          </a:p>
        </p:txBody>
      </p:sp>
      <p:sp>
        <p:nvSpPr>
          <p:cNvPr id="83" name="Shape 54"/>
          <p:cNvSpPr/>
          <p:nvPr/>
        </p:nvSpPr>
        <p:spPr>
          <a:xfrm>
            <a:off x="201168" y="6135624"/>
            <a:ext cx="3108960" cy="877824"/>
          </a:xfrm>
          <a:prstGeom prst="roundRect">
            <a:avLst>
              <a:gd name="adj" fmla="val 10417"/>
            </a:avLst>
          </a:prstGeom>
          <a:solidFill>
            <a:srgbClr val="FFFFFF"/>
          </a:solidFill>
          <a:ln w="12700">
            <a:solidFill>
              <a:srgbClr val="E0EEF6"/>
            </a:solidFill>
            <a:prstDash val="solid"/>
          </a:ln>
          <a:effectLst>
            <a:outerShdw blurRad="76200" dist="25400" dir="2700000" algn="bl" rotWithShape="0">
              <a:srgbClr val="000000">
                <a:alpha val="10000"/>
              </a:srgbClr>
            </a:outerShdw>
          </a:effectLst>
        </p:spPr>
        <p:txBody>
          <a:bodyPr/>
          <a:lstStyle/>
          <a:p>
            <a:endParaRPr/>
          </a:p>
        </p:txBody>
      </p:sp>
      <p:sp>
        <p:nvSpPr>
          <p:cNvPr id="84" name="Shape 55"/>
          <p:cNvSpPr/>
          <p:nvPr/>
        </p:nvSpPr>
        <p:spPr>
          <a:xfrm>
            <a:off x="201168" y="6135624"/>
            <a:ext cx="54864" cy="877824"/>
          </a:xfrm>
          <a:prstGeom prst="roundRect">
            <a:avLst>
              <a:gd name="adj" fmla="val 66667"/>
            </a:avLst>
          </a:prstGeom>
          <a:solidFill>
            <a:srgbClr val="00AEEF"/>
          </a:solidFill>
          <a:ln w="12700">
            <a:solidFill>
              <a:srgbClr val="00AEEF"/>
            </a:solidFill>
            <a:prstDash val="solid"/>
          </a:ln>
        </p:spPr>
        <p:txBody>
          <a:bodyPr/>
          <a:lstStyle/>
          <a:p>
            <a:endParaRPr/>
          </a:p>
        </p:txBody>
      </p:sp>
      <p:sp>
        <p:nvSpPr>
          <p:cNvPr id="85" name="Text 56"/>
          <p:cNvSpPr/>
          <p:nvPr/>
        </p:nvSpPr>
        <p:spPr>
          <a:xfrm>
            <a:off x="329184" y="6163056"/>
            <a:ext cx="2944368" cy="164592"/>
          </a:xfrm>
          <a:prstGeom prst="rect">
            <a:avLst/>
          </a:prstGeom>
          <a:noFill/>
          <a:ln/>
        </p:spPr>
        <p:txBody>
          <a:bodyPr wrap="square" lIns="0" tIns="0" rIns="0" bIns="0" rtlCol="0" anchor="ctr"/>
          <a:lstStyle/>
          <a:p>
            <a:pPr marL="0" indent="0">
              <a:buNone/>
            </a:pPr>
            <a:r>
              <a:rPr lang="en-US" sz="850" b="1" dirty="0">
                <a:solidFill>
                  <a:srgbClr val="005088"/>
                </a:solidFill>
                <a:latin typeface="Calibri" pitchFamily="34" charset="0"/>
                <a:ea typeface="Calibri" pitchFamily="34" charset="-122"/>
                <a:cs typeface="Calibri" pitchFamily="34" charset="-120"/>
              </a:rPr>
              <a:t>Coffs Harbour</a:t>
            </a:r>
            <a:endParaRPr lang="en-US" sz="850" dirty="0"/>
          </a:p>
        </p:txBody>
      </p:sp>
      <p:sp>
        <p:nvSpPr>
          <p:cNvPr id="86" name="Text 57"/>
          <p:cNvSpPr/>
          <p:nvPr/>
        </p:nvSpPr>
        <p:spPr>
          <a:xfrm>
            <a:off x="329184" y="6318504"/>
            <a:ext cx="402336" cy="219456"/>
          </a:xfrm>
          <a:prstGeom prst="rect">
            <a:avLst/>
          </a:prstGeom>
          <a:noFill/>
          <a:ln/>
        </p:spPr>
        <p:txBody>
          <a:bodyPr wrap="square" lIns="0" tIns="0" rIns="0" bIns="0" rtlCol="0" anchor="ctr"/>
          <a:lstStyle/>
          <a:p>
            <a:pPr marL="0" indent="0">
              <a:buNone/>
            </a:pPr>
            <a:r>
              <a:rPr lang="en-US" sz="1500" b="1" dirty="0">
                <a:solidFill>
                  <a:srgbClr val="00AEEF"/>
                </a:solidFill>
                <a:latin typeface="Cambria" pitchFamily="34" charset="0"/>
                <a:ea typeface="Cambria" pitchFamily="34" charset="-122"/>
                <a:cs typeface="Cambria" pitchFamily="34" charset="-120"/>
              </a:rPr>
              <a:t>4.0</a:t>
            </a:r>
            <a:endParaRPr lang="en-US" sz="1500" dirty="0"/>
          </a:p>
        </p:txBody>
      </p:sp>
      <p:pic>
        <p:nvPicPr>
          <p:cNvPr id="87" name="Image 27" descr="preencoded.png"/>
          <p:cNvPicPr>
            <a:picLocks noChangeAspect="1"/>
          </p:cNvPicPr>
          <p:nvPr/>
        </p:nvPicPr>
        <p:blipFill>
          <a:blip r:embed="rId5"/>
          <a:stretch>
            <a:fillRect/>
          </a:stretch>
        </p:blipFill>
        <p:spPr>
          <a:xfrm>
            <a:off x="749808" y="6355080"/>
            <a:ext cx="109728" cy="109728"/>
          </a:xfrm>
          <a:prstGeom prst="rect">
            <a:avLst/>
          </a:prstGeom>
        </p:spPr>
      </p:pic>
      <p:pic>
        <p:nvPicPr>
          <p:cNvPr id="88" name="Image 28" descr="preencoded.png"/>
          <p:cNvPicPr>
            <a:picLocks noChangeAspect="1"/>
          </p:cNvPicPr>
          <p:nvPr/>
        </p:nvPicPr>
        <p:blipFill>
          <a:blip r:embed="rId5"/>
          <a:stretch>
            <a:fillRect/>
          </a:stretch>
        </p:blipFill>
        <p:spPr>
          <a:xfrm>
            <a:off x="877824" y="6355080"/>
            <a:ext cx="109728" cy="109728"/>
          </a:xfrm>
          <a:prstGeom prst="rect">
            <a:avLst/>
          </a:prstGeom>
        </p:spPr>
      </p:pic>
      <p:pic>
        <p:nvPicPr>
          <p:cNvPr id="89" name="Image 29" descr="preencoded.png"/>
          <p:cNvPicPr>
            <a:picLocks noChangeAspect="1"/>
          </p:cNvPicPr>
          <p:nvPr/>
        </p:nvPicPr>
        <p:blipFill>
          <a:blip r:embed="rId5"/>
          <a:stretch>
            <a:fillRect/>
          </a:stretch>
        </p:blipFill>
        <p:spPr>
          <a:xfrm>
            <a:off x="1005840" y="6355080"/>
            <a:ext cx="109728" cy="109728"/>
          </a:xfrm>
          <a:prstGeom prst="rect">
            <a:avLst/>
          </a:prstGeom>
        </p:spPr>
      </p:pic>
      <p:pic>
        <p:nvPicPr>
          <p:cNvPr id="90" name="Image 30" descr="preencoded.png"/>
          <p:cNvPicPr>
            <a:picLocks noChangeAspect="1"/>
          </p:cNvPicPr>
          <p:nvPr/>
        </p:nvPicPr>
        <p:blipFill>
          <a:blip r:embed="rId5"/>
          <a:stretch>
            <a:fillRect/>
          </a:stretch>
        </p:blipFill>
        <p:spPr>
          <a:xfrm>
            <a:off x="1133856" y="6355080"/>
            <a:ext cx="109728" cy="109728"/>
          </a:xfrm>
          <a:prstGeom prst="rect">
            <a:avLst/>
          </a:prstGeom>
        </p:spPr>
      </p:pic>
      <p:pic>
        <p:nvPicPr>
          <p:cNvPr id="91" name="Image 31" descr="preencoded.png"/>
          <p:cNvPicPr>
            <a:picLocks noChangeAspect="1"/>
          </p:cNvPicPr>
          <p:nvPr/>
        </p:nvPicPr>
        <p:blipFill>
          <a:blip r:embed="rId6"/>
          <a:stretch>
            <a:fillRect/>
          </a:stretch>
        </p:blipFill>
        <p:spPr>
          <a:xfrm>
            <a:off x="1261872" y="6355080"/>
            <a:ext cx="109728" cy="109728"/>
          </a:xfrm>
          <a:prstGeom prst="rect">
            <a:avLst/>
          </a:prstGeom>
        </p:spPr>
      </p:pic>
      <p:sp>
        <p:nvSpPr>
          <p:cNvPr id="92" name="Text 58"/>
          <p:cNvSpPr/>
          <p:nvPr/>
        </p:nvSpPr>
        <p:spPr>
          <a:xfrm>
            <a:off x="329184" y="6501384"/>
            <a:ext cx="2926080" cy="100584"/>
          </a:xfrm>
          <a:prstGeom prst="rect">
            <a:avLst/>
          </a:prstGeom>
          <a:noFill/>
          <a:ln/>
        </p:spPr>
        <p:txBody>
          <a:bodyPr wrap="square" lIns="0" tIns="0" rIns="0" bIns="0" rtlCol="0" anchor="ctr"/>
          <a:lstStyle/>
          <a:p>
            <a:pPr marL="0" indent="0">
              <a:buNone/>
            </a:pPr>
            <a:r>
              <a:rPr lang="en-US" sz="600" dirty="0">
                <a:solidFill>
                  <a:srgbClr val="64748B"/>
                </a:solidFill>
                <a:latin typeface="Calibri" pitchFamily="34" charset="0"/>
                <a:ea typeface="Calibri" pitchFamily="34" charset="-122"/>
                <a:cs typeface="Calibri" pitchFamily="34" charset="-120"/>
              </a:rPr>
              <a:t>(163 reviews)</a:t>
            </a:r>
            <a:endParaRPr lang="en-US" sz="600" dirty="0"/>
          </a:p>
        </p:txBody>
      </p:sp>
      <p:sp>
        <p:nvSpPr>
          <p:cNvPr id="93" name="Shape 59"/>
          <p:cNvSpPr/>
          <p:nvPr/>
        </p:nvSpPr>
        <p:spPr>
          <a:xfrm>
            <a:off x="274320" y="6638544"/>
            <a:ext cx="2962656" cy="329184"/>
          </a:xfrm>
          <a:prstGeom prst="roundRect">
            <a:avLst>
              <a:gd name="adj" fmla="val 13889"/>
            </a:avLst>
          </a:prstGeom>
          <a:solidFill>
            <a:srgbClr val="EAF5FC"/>
          </a:solidFill>
          <a:ln w="12700">
            <a:solidFill>
              <a:srgbClr val="00AEEF">
                <a:alpha val="30000"/>
              </a:srgbClr>
            </a:solidFill>
            <a:prstDash val="solid"/>
          </a:ln>
        </p:spPr>
        <p:txBody>
          <a:bodyPr/>
          <a:lstStyle/>
          <a:p>
            <a:endParaRPr/>
          </a:p>
        </p:txBody>
      </p:sp>
      <p:sp>
        <p:nvSpPr>
          <p:cNvPr id="94" name="Text 60"/>
          <p:cNvSpPr/>
          <p:nvPr/>
        </p:nvSpPr>
        <p:spPr>
          <a:xfrm>
            <a:off x="310896" y="6656832"/>
            <a:ext cx="2889504" cy="146304"/>
          </a:xfrm>
          <a:prstGeom prst="rect">
            <a:avLst/>
          </a:prstGeom>
          <a:noFill/>
          <a:ln/>
        </p:spPr>
        <p:txBody>
          <a:bodyPr wrap="square" lIns="0" tIns="0" rIns="0" bIns="0" rtlCol="0" anchor="ctr"/>
          <a:lstStyle/>
          <a:p>
            <a:pPr marL="0" indent="0">
              <a:buNone/>
            </a:pPr>
            <a:r>
              <a:rPr lang="en-US" sz="650" b="1" dirty="0">
                <a:solidFill>
                  <a:srgbClr val="005088"/>
                </a:solidFill>
                <a:latin typeface="Calibri" pitchFamily="34" charset="0"/>
                <a:ea typeface="Calibri" pitchFamily="34" charset="-122"/>
                <a:cs typeface="Calibri" pitchFamily="34" charset="-120"/>
              </a:rPr>
              <a:t>🎯 Lift to 4.2  •  +10 this month</a:t>
            </a:r>
            <a:endParaRPr lang="en-US" sz="650" dirty="0"/>
          </a:p>
        </p:txBody>
      </p:sp>
      <p:sp>
        <p:nvSpPr>
          <p:cNvPr id="95" name="Text 61"/>
          <p:cNvSpPr/>
          <p:nvPr/>
        </p:nvSpPr>
        <p:spPr>
          <a:xfrm>
            <a:off x="310896" y="6812280"/>
            <a:ext cx="2889504" cy="128016"/>
          </a:xfrm>
          <a:prstGeom prst="rect">
            <a:avLst/>
          </a:prstGeom>
          <a:noFill/>
          <a:ln/>
        </p:spPr>
        <p:txBody>
          <a:bodyPr wrap="square" lIns="0" tIns="0" rIns="0" bIns="0" rtlCol="0" anchor="ctr"/>
          <a:lstStyle/>
          <a:p>
            <a:pPr marL="0" indent="0">
              <a:buNone/>
            </a:pPr>
            <a:r>
              <a:rPr lang="en-US" sz="600" i="1" dirty="0">
                <a:solidFill>
                  <a:srgbClr val="64748B"/>
                </a:solidFill>
                <a:latin typeface="Calibri" pitchFamily="34" charset="0"/>
                <a:ea typeface="Calibri" pitchFamily="34" charset="-122"/>
                <a:cs typeface="Calibri" pitchFamily="34" charset="-120"/>
              </a:rPr>
              <a:t>Focus: Friendliness &amp; presentation</a:t>
            </a:r>
            <a:endParaRPr lang="en-US" sz="600" dirty="0"/>
          </a:p>
        </p:txBody>
      </p:sp>
      <p:sp>
        <p:nvSpPr>
          <p:cNvPr id="111" name="Shape 72"/>
          <p:cNvSpPr/>
          <p:nvPr/>
        </p:nvSpPr>
        <p:spPr>
          <a:xfrm>
            <a:off x="1645920" y="7187184"/>
            <a:ext cx="3566160" cy="310896"/>
          </a:xfrm>
          <a:prstGeom prst="roundRect">
            <a:avLst>
              <a:gd name="adj" fmla="val 29412"/>
            </a:avLst>
          </a:prstGeom>
          <a:solidFill>
            <a:srgbClr val="00AEEF"/>
          </a:solidFill>
          <a:ln w="12700">
            <a:solidFill>
              <a:srgbClr val="00AEEF"/>
            </a:solidFill>
            <a:prstDash val="solid"/>
          </a:ln>
        </p:spPr>
        <p:txBody>
          <a:bodyPr/>
          <a:lstStyle/>
          <a:p>
            <a:endParaRPr/>
          </a:p>
        </p:txBody>
      </p:sp>
      <p:sp>
        <p:nvSpPr>
          <p:cNvPr id="112" name="Text 73"/>
          <p:cNvSpPr/>
          <p:nvPr/>
        </p:nvSpPr>
        <p:spPr>
          <a:xfrm>
            <a:off x="1645920" y="7187184"/>
            <a:ext cx="3566160" cy="310896"/>
          </a:xfrm>
          <a:prstGeom prst="rect">
            <a:avLst/>
          </a:prstGeom>
          <a:noFill/>
          <a:ln/>
        </p:spPr>
        <p:txBody>
          <a:bodyPr wrap="square" lIns="0" tIns="0" rIns="0" bIns="0" rtlCol="0" anchor="ctr"/>
          <a:lstStyle/>
          <a:p>
            <a:pPr marL="0" indent="0" algn="ctr">
              <a:buNone/>
            </a:pPr>
            <a:r>
              <a:rPr lang="en-US" sz="900" b="1" kern="0" spc="150" dirty="0">
                <a:solidFill>
                  <a:srgbClr val="005088"/>
                </a:solidFill>
                <a:latin typeface="Cambria" pitchFamily="34" charset="0"/>
                <a:ea typeface="Cambria" pitchFamily="34" charset="-122"/>
                <a:cs typeface="Cambria" pitchFamily="34" charset="-120"/>
              </a:rPr>
              <a:t>OUR GUESTS ARE THE REASON WE'RE HERE</a:t>
            </a:r>
            <a:endParaRPr lang="en-US" sz="900" dirty="0"/>
          </a:p>
        </p:txBody>
      </p:sp>
      <p:sp>
        <p:nvSpPr>
          <p:cNvPr id="113" name="Shape 74"/>
          <p:cNvSpPr/>
          <p:nvPr/>
        </p:nvSpPr>
        <p:spPr>
          <a:xfrm>
            <a:off x="201168" y="7479792"/>
            <a:ext cx="6455664" cy="777240"/>
          </a:xfrm>
          <a:prstGeom prst="roundRect">
            <a:avLst>
              <a:gd name="adj" fmla="val 8451"/>
            </a:avLst>
          </a:prstGeom>
          <a:solidFill>
            <a:srgbClr val="005088"/>
          </a:solidFill>
          <a:ln w="12700">
            <a:solidFill>
              <a:srgbClr val="005088"/>
            </a:solidFill>
            <a:prstDash val="solid"/>
          </a:ln>
        </p:spPr>
        <p:txBody>
          <a:bodyPr/>
          <a:lstStyle/>
          <a:p>
            <a:endParaRPr/>
          </a:p>
        </p:txBody>
      </p:sp>
      <p:sp>
        <p:nvSpPr>
          <p:cNvPr id="114" name="Text 75"/>
          <p:cNvSpPr/>
          <p:nvPr/>
        </p:nvSpPr>
        <p:spPr>
          <a:xfrm>
            <a:off x="256032" y="7424927"/>
            <a:ext cx="457200" cy="502920"/>
          </a:xfrm>
          <a:prstGeom prst="rect">
            <a:avLst/>
          </a:prstGeom>
          <a:noFill/>
          <a:ln/>
        </p:spPr>
        <p:txBody>
          <a:bodyPr wrap="square" lIns="0" tIns="0" rIns="0" bIns="0" rtlCol="0" anchor="ctr"/>
          <a:lstStyle/>
          <a:p>
            <a:pPr marL="0" indent="0">
              <a:buNone/>
            </a:pPr>
            <a:r>
              <a:rPr lang="en-US" sz="4800" b="1" dirty="0">
                <a:solidFill>
                  <a:srgbClr val="00AEEF"/>
                </a:solidFill>
                <a:latin typeface="Cambria" pitchFamily="34" charset="0"/>
                <a:ea typeface="Cambria" pitchFamily="34" charset="-122"/>
                <a:cs typeface="Cambria" pitchFamily="34" charset="-120"/>
              </a:rPr>
              <a:t>“</a:t>
            </a:r>
            <a:endParaRPr lang="en-US" sz="4800" dirty="0"/>
          </a:p>
        </p:txBody>
      </p:sp>
      <p:sp>
        <p:nvSpPr>
          <p:cNvPr id="115" name="Text 76"/>
          <p:cNvSpPr/>
          <p:nvPr/>
        </p:nvSpPr>
        <p:spPr>
          <a:xfrm>
            <a:off x="6263640" y="8083296"/>
            <a:ext cx="475488" cy="329184"/>
          </a:xfrm>
          <a:prstGeom prst="rect">
            <a:avLst/>
          </a:prstGeom>
          <a:noFill/>
          <a:ln/>
        </p:spPr>
        <p:txBody>
          <a:bodyPr wrap="square" lIns="0" tIns="0" rIns="0" bIns="0" rtlCol="0" anchor="ctr"/>
          <a:lstStyle/>
          <a:p>
            <a:pPr marL="0" indent="0">
              <a:buNone/>
            </a:pPr>
            <a:r>
              <a:rPr lang="en-US" sz="4800" b="1" dirty="0">
                <a:solidFill>
                  <a:srgbClr val="00AEEF"/>
                </a:solidFill>
                <a:latin typeface="Cambria" pitchFamily="34" charset="0"/>
                <a:ea typeface="Cambria" pitchFamily="34" charset="-122"/>
                <a:cs typeface="Cambria" pitchFamily="34" charset="-120"/>
              </a:rPr>
              <a:t>”</a:t>
            </a:r>
            <a:endParaRPr lang="en-US" sz="4800" dirty="0"/>
          </a:p>
        </p:txBody>
      </p:sp>
      <p:sp>
        <p:nvSpPr>
          <p:cNvPr id="116" name="Text 77"/>
          <p:cNvSpPr/>
          <p:nvPr/>
        </p:nvSpPr>
        <p:spPr>
          <a:xfrm>
            <a:off x="384048" y="7635240"/>
            <a:ext cx="5998464" cy="566928"/>
          </a:xfrm>
          <a:prstGeom prst="rect">
            <a:avLst/>
          </a:prstGeom>
          <a:noFill/>
          <a:ln/>
        </p:spPr>
        <p:txBody>
          <a:bodyPr wrap="square" lIns="0" tIns="0" rIns="0" bIns="0" rtlCol="0" anchor="ctr"/>
          <a:lstStyle/>
          <a:p>
            <a:pPr marL="0" indent="0" algn="l">
              <a:buNone/>
            </a:pPr>
            <a:r>
              <a:rPr lang="en-US" sz="1150" i="1" dirty="0">
                <a:solidFill>
                  <a:srgbClr val="FFFFFF"/>
                </a:solidFill>
                <a:latin typeface="Calibri" pitchFamily="34" charset="0"/>
                <a:ea typeface="Calibri" pitchFamily="34" charset="-122"/>
                <a:cs typeface="Calibri" pitchFamily="34" charset="-120"/>
              </a:rPr>
              <a:t>Every guest is the reason we are here. They are not an interruption to our work — they are the purpose of it. Every order, every smile, and every moment of care is a chance to create a feel-good experience.</a:t>
            </a:r>
            <a:endParaRPr lang="en-US" sz="1150" dirty="0"/>
          </a:p>
        </p:txBody>
      </p:sp>
      <p:sp>
        <p:nvSpPr>
          <p:cNvPr id="117" name="Shape 78"/>
          <p:cNvSpPr/>
          <p:nvPr/>
        </p:nvSpPr>
        <p:spPr>
          <a:xfrm>
            <a:off x="0" y="8412480"/>
            <a:ext cx="6858000" cy="731520"/>
          </a:xfrm>
          <a:prstGeom prst="rect">
            <a:avLst/>
          </a:prstGeom>
          <a:solidFill>
            <a:srgbClr val="F4F8FB"/>
          </a:solidFill>
          <a:ln w="12700">
            <a:solidFill>
              <a:srgbClr val="D8E8F2"/>
            </a:solidFill>
            <a:prstDash val="solid"/>
          </a:ln>
        </p:spPr>
        <p:txBody>
          <a:bodyPr/>
          <a:lstStyle/>
          <a:p>
            <a:endParaRPr/>
          </a:p>
        </p:txBody>
      </p:sp>
      <p:sp>
        <p:nvSpPr>
          <p:cNvPr id="118" name="Text 79"/>
          <p:cNvSpPr/>
          <p:nvPr/>
        </p:nvSpPr>
        <p:spPr>
          <a:xfrm>
            <a:off x="182880" y="8467344"/>
            <a:ext cx="6492240" cy="182880"/>
          </a:xfrm>
          <a:prstGeom prst="rect">
            <a:avLst/>
          </a:prstGeom>
          <a:noFill/>
          <a:ln/>
        </p:spPr>
        <p:txBody>
          <a:bodyPr wrap="square" lIns="0" tIns="0" rIns="0" bIns="0" rtlCol="0" anchor="ctr"/>
          <a:lstStyle/>
          <a:p>
            <a:pPr marL="0" indent="0" algn="ctr">
              <a:buNone/>
            </a:pPr>
            <a:r>
              <a:rPr lang="en-US" sz="600" kern="0" spc="150" dirty="0">
                <a:solidFill>
                  <a:srgbClr val="64748B"/>
                </a:solidFill>
                <a:latin typeface="Calibri" pitchFamily="34" charset="0"/>
                <a:ea typeface="Calibri" pitchFamily="34" charset="-122"/>
                <a:cs typeface="Calibri" pitchFamily="34" charset="-120"/>
              </a:rPr>
              <a:t>A PINNACLE HOSPITALITY GROUP COMPANY</a:t>
            </a:r>
            <a:endParaRPr lang="en-US" sz="600" dirty="0"/>
          </a:p>
        </p:txBody>
      </p:sp>
      <p:pic>
        <p:nvPicPr>
          <p:cNvPr id="119" name="Image 37" descr="preencoded.png"/>
          <p:cNvPicPr>
            <a:picLocks noChangeAspect="1"/>
          </p:cNvPicPr>
          <p:nvPr/>
        </p:nvPicPr>
        <p:blipFill>
          <a:blip r:embed="rId8"/>
          <a:stretch>
            <a:fillRect/>
          </a:stretch>
        </p:blipFill>
        <p:spPr>
          <a:xfrm>
            <a:off x="2331720" y="8686800"/>
            <a:ext cx="274320" cy="274320"/>
          </a:xfrm>
          <a:prstGeom prst="rect">
            <a:avLst/>
          </a:prstGeom>
        </p:spPr>
      </p:pic>
      <p:pic>
        <p:nvPicPr>
          <p:cNvPr id="120" name="Image 38" descr="preencoded.png"/>
          <p:cNvPicPr>
            <a:picLocks noChangeAspect="1"/>
          </p:cNvPicPr>
          <p:nvPr/>
        </p:nvPicPr>
        <p:blipFill>
          <a:blip r:embed="rId9"/>
          <a:stretch>
            <a:fillRect/>
          </a:stretch>
        </p:blipFill>
        <p:spPr>
          <a:xfrm>
            <a:off x="3063240" y="8686800"/>
            <a:ext cx="493776" cy="274320"/>
          </a:xfrm>
          <a:prstGeom prst="rect">
            <a:avLst/>
          </a:prstGeom>
        </p:spPr>
      </p:pic>
      <p:pic>
        <p:nvPicPr>
          <p:cNvPr id="122" name="Image 40" descr="preencoded.png"/>
          <p:cNvPicPr>
            <a:picLocks noChangeAspect="1"/>
          </p:cNvPicPr>
          <p:nvPr/>
        </p:nvPicPr>
        <p:blipFill>
          <a:blip r:embed="rId10"/>
          <a:stretch>
            <a:fillRect/>
          </a:stretch>
        </p:blipFill>
        <p:spPr>
          <a:xfrm>
            <a:off x="3794760" y="8686800"/>
            <a:ext cx="460858" cy="2743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858000" cy="1051560"/>
          </a:xfrm>
          <a:prstGeom prst="rect">
            <a:avLst/>
          </a:prstGeom>
          <a:solidFill>
            <a:srgbClr val="0050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858000" cy="64008"/>
          </a:xfrm>
          <a:prstGeom prst="rect">
            <a:avLst/>
          </a:prstGeom>
          <a:solidFill>
            <a:srgbClr val="00A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2"/>
          <a:stretch>
            <a:fillRect/>
          </a:stretch>
        </p:blipFill>
        <p:spPr>
          <a:xfrm>
            <a:off x="228600" y="274320"/>
            <a:ext cx="438912" cy="438912"/>
          </a:xfrm>
          <a:prstGeom prst="rect">
            <a:avLst/>
          </a:prstGeom>
        </p:spPr>
      </p:pic>
      <p:pic>
        <p:nvPicPr>
          <p:cNvPr id="5" name="Picture 4" descr="image.png"/>
          <p:cNvPicPr>
            <a:picLocks noChangeAspect="1"/>
          </p:cNvPicPr>
          <p:nvPr/>
        </p:nvPicPr>
        <p:blipFill>
          <a:blip r:embed="rId3"/>
          <a:stretch>
            <a:fillRect/>
          </a:stretch>
        </p:blipFill>
        <p:spPr>
          <a:xfrm>
            <a:off x="5559552" y="109728"/>
            <a:ext cx="1115568" cy="795528"/>
          </a:xfrm>
          <a:prstGeom prst="rect">
            <a:avLst/>
          </a:prstGeom>
        </p:spPr>
      </p:pic>
      <p:sp>
        <p:nvSpPr>
          <p:cNvPr id="6" name="TextBox 5"/>
          <p:cNvSpPr txBox="1"/>
          <p:nvPr/>
        </p:nvSpPr>
        <p:spPr>
          <a:xfrm>
            <a:off x="777240" y="164592"/>
            <a:ext cx="4937760" cy="438912"/>
          </a:xfrm>
          <a:prstGeom prst="rect">
            <a:avLst/>
          </a:prstGeom>
          <a:noFill/>
        </p:spPr>
        <p:txBody>
          <a:bodyPr wrap="none" lIns="0" tIns="0" rIns="0" bIns="0">
            <a:spAutoFit/>
          </a:bodyPr>
          <a:lstStyle/>
          <a:p>
            <a:r>
              <a:rPr sz="2400" b="1" i="0">
                <a:solidFill>
                  <a:srgbClr val="FFFFFF"/>
                </a:solidFill>
                <a:latin typeface="Cambria"/>
              </a:rPr>
              <a:t>PINNACLE HALL OF FAME</a:t>
            </a:r>
          </a:p>
        </p:txBody>
      </p:sp>
      <p:sp>
        <p:nvSpPr>
          <p:cNvPr id="7" name="TextBox 6"/>
          <p:cNvSpPr txBox="1"/>
          <p:nvPr/>
        </p:nvSpPr>
        <p:spPr>
          <a:xfrm>
            <a:off x="777240" y="612648"/>
            <a:ext cx="5029200" cy="256032"/>
          </a:xfrm>
          <a:prstGeom prst="rect">
            <a:avLst/>
          </a:prstGeom>
          <a:noFill/>
        </p:spPr>
        <p:txBody>
          <a:bodyPr wrap="none" lIns="0" tIns="0" rIns="0" bIns="0">
            <a:spAutoFit/>
          </a:bodyPr>
          <a:lstStyle/>
          <a:p>
            <a:r>
              <a:rPr sz="800" b="0" i="0">
                <a:solidFill>
                  <a:srgbClr val="00AEEF"/>
                </a:solidFill>
                <a:latin typeface="Arial"/>
              </a:rPr>
              <a:t>FY26 Monthly MVPs  •  July 2025 – June 2026</a:t>
            </a:r>
          </a:p>
        </p:txBody>
      </p:sp>
      <p:sp>
        <p:nvSpPr>
          <p:cNvPr id="8" name="Rectangle 7"/>
          <p:cNvSpPr/>
          <p:nvPr/>
        </p:nvSpPr>
        <p:spPr>
          <a:xfrm>
            <a:off x="0" y="8412480"/>
            <a:ext cx="6858000" cy="731520"/>
          </a:xfrm>
          <a:prstGeom prst="rect">
            <a:avLst/>
          </a:prstGeom>
          <a:solidFill>
            <a:srgbClr val="F1F6FA"/>
          </a:solidFill>
          <a:ln>
            <a:solidFill>
              <a:srgbClr val="C5E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82880" y="8467344"/>
            <a:ext cx="6492240" cy="182880"/>
          </a:xfrm>
          <a:prstGeom prst="rect">
            <a:avLst/>
          </a:prstGeom>
          <a:noFill/>
        </p:spPr>
        <p:txBody>
          <a:bodyPr wrap="none" lIns="0" tIns="0" rIns="0" bIns="0">
            <a:spAutoFit/>
          </a:bodyPr>
          <a:lstStyle/>
          <a:p>
            <a:pPr algn="ctr"/>
            <a:r>
              <a:rPr sz="650" b="1" i="0">
                <a:solidFill>
                  <a:srgbClr val="62738A"/>
                </a:solidFill>
                <a:latin typeface="Arial"/>
              </a:rPr>
              <a:t>A PINNACLE HOSPITALITY GROUP COMPANY</a:t>
            </a:r>
          </a:p>
        </p:txBody>
      </p:sp>
      <p:pic>
        <p:nvPicPr>
          <p:cNvPr id="10" name="Picture 9" descr="image.png"/>
          <p:cNvPicPr>
            <a:picLocks noChangeAspect="1"/>
          </p:cNvPicPr>
          <p:nvPr/>
        </p:nvPicPr>
        <p:blipFill>
          <a:blip r:embed="rId4"/>
          <a:stretch>
            <a:fillRect/>
          </a:stretch>
        </p:blipFill>
        <p:spPr>
          <a:xfrm>
            <a:off x="2331720" y="8686800"/>
            <a:ext cx="274320" cy="274320"/>
          </a:xfrm>
          <a:prstGeom prst="rect">
            <a:avLst/>
          </a:prstGeom>
        </p:spPr>
      </p:pic>
      <p:pic>
        <p:nvPicPr>
          <p:cNvPr id="11" name="Picture 10" descr="image.png"/>
          <p:cNvPicPr>
            <a:picLocks noChangeAspect="1"/>
          </p:cNvPicPr>
          <p:nvPr/>
        </p:nvPicPr>
        <p:blipFill>
          <a:blip r:embed="rId5"/>
          <a:stretch>
            <a:fillRect/>
          </a:stretch>
        </p:blipFill>
        <p:spPr>
          <a:xfrm>
            <a:off x="3063240" y="8686800"/>
            <a:ext cx="493776" cy="274320"/>
          </a:xfrm>
          <a:prstGeom prst="rect">
            <a:avLst/>
          </a:prstGeom>
        </p:spPr>
      </p:pic>
      <p:pic>
        <p:nvPicPr>
          <p:cNvPr id="12" name="Picture 11" descr="image.png"/>
          <p:cNvPicPr>
            <a:picLocks noChangeAspect="1"/>
          </p:cNvPicPr>
          <p:nvPr/>
        </p:nvPicPr>
        <p:blipFill>
          <a:blip r:embed="rId6"/>
          <a:stretch>
            <a:fillRect/>
          </a:stretch>
        </p:blipFill>
        <p:spPr>
          <a:xfrm>
            <a:off x="3794760" y="8686800"/>
            <a:ext cx="460858" cy="274320"/>
          </a:xfrm>
          <a:prstGeom prst="rect">
            <a:avLst/>
          </a:prstGeom>
        </p:spPr>
      </p:pic>
      <p:sp>
        <p:nvSpPr>
          <p:cNvPr id="13" name="Rounded Rectangle 12"/>
          <p:cNvSpPr/>
          <p:nvPr/>
        </p:nvSpPr>
        <p:spPr>
          <a:xfrm>
            <a:off x="201168" y="1234440"/>
            <a:ext cx="6455664" cy="530352"/>
          </a:xfrm>
          <a:prstGeom prst="roundRect">
            <a:avLst/>
          </a:prstGeom>
          <a:solidFill>
            <a:srgbClr val="005088"/>
          </a:solidFill>
          <a:ln w="15240">
            <a:solidFill>
              <a:srgbClr val="0050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75488" y="1353312"/>
            <a:ext cx="4389120" cy="256032"/>
          </a:xfrm>
          <a:prstGeom prst="rect">
            <a:avLst/>
          </a:prstGeom>
          <a:noFill/>
        </p:spPr>
        <p:txBody>
          <a:bodyPr wrap="none" lIns="0" tIns="0" rIns="0" bIns="0">
            <a:spAutoFit/>
          </a:bodyPr>
          <a:lstStyle/>
          <a:p>
            <a:r>
              <a:rPr sz="1400" b="1" i="0">
                <a:solidFill>
                  <a:srgbClr val="FFFFFF"/>
                </a:solidFill>
                <a:latin typeface="Cambria"/>
              </a:rPr>
              <a:t>FY26 MONTHLY MVP HONOUR ROLL</a:t>
            </a:r>
          </a:p>
        </p:txBody>
      </p:sp>
      <p:sp>
        <p:nvSpPr>
          <p:cNvPr id="15" name="TextBox 14"/>
          <p:cNvSpPr txBox="1"/>
          <p:nvPr/>
        </p:nvSpPr>
        <p:spPr>
          <a:xfrm>
            <a:off x="5074920" y="1371600"/>
            <a:ext cx="1234440" cy="201168"/>
          </a:xfrm>
          <a:prstGeom prst="rect">
            <a:avLst/>
          </a:prstGeom>
          <a:noFill/>
        </p:spPr>
        <p:txBody>
          <a:bodyPr wrap="none" lIns="0" tIns="0" rIns="0" bIns="0">
            <a:spAutoFit/>
          </a:bodyPr>
          <a:lstStyle/>
          <a:p>
            <a:pPr algn="r"/>
            <a:r>
              <a:rPr sz="800" b="1" i="0">
                <a:solidFill>
                  <a:srgbClr val="00AEEF"/>
                </a:solidFill>
                <a:latin typeface="Arial"/>
              </a:rPr>
              <a:t>UPDATED MONTHLY</a:t>
            </a:r>
          </a:p>
        </p:txBody>
      </p:sp>
      <p:sp>
        <p:nvSpPr>
          <p:cNvPr id="16" name="TextBox 15"/>
          <p:cNvSpPr txBox="1"/>
          <p:nvPr/>
        </p:nvSpPr>
        <p:spPr>
          <a:xfrm>
            <a:off x="228601" y="1847088"/>
            <a:ext cx="6428232" cy="261610"/>
          </a:xfrm>
          <a:prstGeom prst="rect">
            <a:avLst/>
          </a:prstGeom>
          <a:noFill/>
        </p:spPr>
        <p:txBody>
          <a:bodyPr wrap="square" lIns="0" tIns="0" rIns="0" bIns="0">
            <a:spAutoFit/>
          </a:bodyPr>
          <a:lstStyle/>
          <a:p>
            <a:pPr algn="ctr"/>
            <a:r>
              <a:rPr sz="850" b="0" i="1" dirty="0">
                <a:solidFill>
                  <a:srgbClr val="4F667A"/>
                </a:solidFill>
                <a:latin typeface="Arial"/>
              </a:rPr>
              <a:t>Each monthly Pinnacle MVP earns a place in the Hall of Fame. At year end,</a:t>
            </a:r>
            <a:r>
              <a:rPr lang="en-AU" sz="850" b="0" i="1" dirty="0">
                <a:solidFill>
                  <a:srgbClr val="4F667A"/>
                </a:solidFill>
                <a:latin typeface="Arial"/>
              </a:rPr>
              <a:t> </a:t>
            </a:r>
            <a:r>
              <a:rPr sz="850" b="0" i="1" dirty="0">
                <a:solidFill>
                  <a:srgbClr val="4F667A"/>
                </a:solidFill>
                <a:latin typeface="Arial"/>
              </a:rPr>
              <a:t>one monthly winner will be awarded </a:t>
            </a:r>
            <a:endParaRPr lang="en-AU" sz="850" b="0" i="1" dirty="0">
              <a:solidFill>
                <a:srgbClr val="4F667A"/>
              </a:solidFill>
              <a:latin typeface="Arial"/>
            </a:endParaRPr>
          </a:p>
          <a:p>
            <a:pPr algn="ctr"/>
            <a:r>
              <a:rPr sz="850" b="0" i="1" dirty="0">
                <a:solidFill>
                  <a:srgbClr val="4F667A"/>
                </a:solidFill>
                <a:latin typeface="Arial"/>
              </a:rPr>
              <a:t>Pinnacle Team Member of the Year.</a:t>
            </a:r>
          </a:p>
        </p:txBody>
      </p:sp>
      <p:sp>
        <p:nvSpPr>
          <p:cNvPr id="17" name="Rounded Rectangle 16"/>
          <p:cNvSpPr/>
          <p:nvPr/>
        </p:nvSpPr>
        <p:spPr>
          <a:xfrm>
            <a:off x="320040" y="2331720"/>
            <a:ext cx="1874519" cy="896112"/>
          </a:xfrm>
          <a:prstGeom prst="roundRect">
            <a:avLst/>
          </a:prstGeom>
          <a:solidFill>
            <a:srgbClr val="EAF5FC"/>
          </a:solidFill>
          <a:ln w="15240">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29768" y="2441448"/>
            <a:ext cx="749808" cy="182880"/>
          </a:xfrm>
          <a:prstGeom prst="roundRect">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75488" y="2464308"/>
            <a:ext cx="658368" cy="146304"/>
          </a:xfrm>
          <a:prstGeom prst="rect">
            <a:avLst/>
          </a:prstGeom>
          <a:noFill/>
        </p:spPr>
        <p:txBody>
          <a:bodyPr wrap="none" lIns="0" tIns="0" rIns="0" bIns="0">
            <a:spAutoFit/>
          </a:bodyPr>
          <a:lstStyle/>
          <a:p>
            <a:pPr algn="ctr"/>
            <a:r>
              <a:rPr sz="630" b="1" i="0">
                <a:solidFill>
                  <a:srgbClr val="FFFFFF"/>
                </a:solidFill>
                <a:latin typeface="Arial"/>
              </a:rPr>
              <a:t>JULY</a:t>
            </a:r>
          </a:p>
        </p:txBody>
      </p:sp>
      <p:sp>
        <p:nvSpPr>
          <p:cNvPr id="20" name="TextBox 19"/>
          <p:cNvSpPr txBox="1"/>
          <p:nvPr/>
        </p:nvSpPr>
        <p:spPr>
          <a:xfrm>
            <a:off x="429768" y="2724912"/>
            <a:ext cx="1005840" cy="201168"/>
          </a:xfrm>
          <a:prstGeom prst="rect">
            <a:avLst/>
          </a:prstGeom>
          <a:noFill/>
        </p:spPr>
        <p:txBody>
          <a:bodyPr wrap="none" lIns="0" tIns="0" rIns="0" bIns="0">
            <a:spAutoFit/>
          </a:bodyPr>
          <a:lstStyle/>
          <a:p>
            <a:r>
              <a:rPr sz="1100" b="1" i="0">
                <a:solidFill>
                  <a:srgbClr val="005088"/>
                </a:solidFill>
                <a:latin typeface="Arial"/>
              </a:rPr>
              <a:t>[MVP Name]</a:t>
            </a:r>
          </a:p>
        </p:txBody>
      </p:sp>
      <p:sp>
        <p:nvSpPr>
          <p:cNvPr id="21" name="TextBox 20"/>
          <p:cNvSpPr txBox="1"/>
          <p:nvPr/>
        </p:nvSpPr>
        <p:spPr>
          <a:xfrm>
            <a:off x="429768" y="2953512"/>
            <a:ext cx="1005840" cy="164592"/>
          </a:xfrm>
          <a:prstGeom prst="rect">
            <a:avLst/>
          </a:prstGeom>
          <a:noFill/>
        </p:spPr>
        <p:txBody>
          <a:bodyPr wrap="none" lIns="0" tIns="0" rIns="0" bIns="0">
            <a:spAutoFit/>
          </a:bodyPr>
          <a:lstStyle/>
          <a:p>
            <a:r>
              <a:rPr sz="750" b="0" i="0">
                <a:solidFill>
                  <a:srgbClr val="4F667A"/>
                </a:solidFill>
                <a:latin typeface="Arial"/>
              </a:rPr>
              <a:t>[Store]</a:t>
            </a:r>
          </a:p>
        </p:txBody>
      </p:sp>
      <p:sp>
        <p:nvSpPr>
          <p:cNvPr id="22" name="Rounded Rectangle 21"/>
          <p:cNvSpPr/>
          <p:nvPr/>
        </p:nvSpPr>
        <p:spPr>
          <a:xfrm>
            <a:off x="2487168" y="2331720"/>
            <a:ext cx="1874519" cy="896112"/>
          </a:xfrm>
          <a:prstGeom prst="roundRect">
            <a:avLst/>
          </a:prstGeom>
          <a:solidFill>
            <a:srgbClr val="EAF5FC"/>
          </a:solidFill>
          <a:ln w="15240">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2596896" y="2441448"/>
            <a:ext cx="749808" cy="182880"/>
          </a:xfrm>
          <a:prstGeom prst="roundRect">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642616" y="2464308"/>
            <a:ext cx="658368" cy="146304"/>
          </a:xfrm>
          <a:prstGeom prst="rect">
            <a:avLst/>
          </a:prstGeom>
          <a:noFill/>
        </p:spPr>
        <p:txBody>
          <a:bodyPr wrap="none" lIns="0" tIns="0" rIns="0" bIns="0">
            <a:spAutoFit/>
          </a:bodyPr>
          <a:lstStyle/>
          <a:p>
            <a:pPr algn="ctr"/>
            <a:r>
              <a:rPr sz="630" b="1" i="0">
                <a:solidFill>
                  <a:srgbClr val="FFFFFF"/>
                </a:solidFill>
                <a:latin typeface="Arial"/>
              </a:rPr>
              <a:t>AUGUST</a:t>
            </a:r>
          </a:p>
        </p:txBody>
      </p:sp>
      <p:sp>
        <p:nvSpPr>
          <p:cNvPr id="25" name="TextBox 24"/>
          <p:cNvSpPr txBox="1"/>
          <p:nvPr/>
        </p:nvSpPr>
        <p:spPr>
          <a:xfrm>
            <a:off x="2596896" y="2724912"/>
            <a:ext cx="1627632" cy="201168"/>
          </a:xfrm>
          <a:prstGeom prst="rect">
            <a:avLst/>
          </a:prstGeom>
          <a:noFill/>
        </p:spPr>
        <p:txBody>
          <a:bodyPr wrap="none" lIns="0" tIns="0" rIns="0" bIns="0">
            <a:spAutoFit/>
          </a:bodyPr>
          <a:lstStyle/>
          <a:p>
            <a:r>
              <a:rPr sz="1100" b="1" i="0">
                <a:solidFill>
                  <a:srgbClr val="005088"/>
                </a:solidFill>
                <a:latin typeface="Arial"/>
              </a:rPr>
              <a:t>[MVP Name]</a:t>
            </a:r>
          </a:p>
        </p:txBody>
      </p:sp>
      <p:sp>
        <p:nvSpPr>
          <p:cNvPr id="26" name="TextBox 25"/>
          <p:cNvSpPr txBox="1"/>
          <p:nvPr/>
        </p:nvSpPr>
        <p:spPr>
          <a:xfrm>
            <a:off x="2596896" y="2953512"/>
            <a:ext cx="1627632" cy="164592"/>
          </a:xfrm>
          <a:prstGeom prst="rect">
            <a:avLst/>
          </a:prstGeom>
          <a:noFill/>
        </p:spPr>
        <p:txBody>
          <a:bodyPr wrap="none" lIns="0" tIns="0" rIns="0" bIns="0">
            <a:spAutoFit/>
          </a:bodyPr>
          <a:lstStyle/>
          <a:p>
            <a:r>
              <a:rPr sz="750" b="0" i="0">
                <a:solidFill>
                  <a:srgbClr val="4F667A"/>
                </a:solidFill>
                <a:latin typeface="Arial"/>
              </a:rPr>
              <a:t>[Store]</a:t>
            </a:r>
          </a:p>
        </p:txBody>
      </p:sp>
      <p:sp>
        <p:nvSpPr>
          <p:cNvPr id="27" name="Rounded Rectangle 26"/>
          <p:cNvSpPr/>
          <p:nvPr/>
        </p:nvSpPr>
        <p:spPr>
          <a:xfrm>
            <a:off x="4654296" y="2331720"/>
            <a:ext cx="1874519" cy="896112"/>
          </a:xfrm>
          <a:prstGeom prst="roundRect">
            <a:avLst/>
          </a:prstGeom>
          <a:solidFill>
            <a:srgbClr val="EAF5FC"/>
          </a:solidFill>
          <a:ln w="15240">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4764024" y="2441448"/>
            <a:ext cx="749808" cy="182880"/>
          </a:xfrm>
          <a:prstGeom prst="roundRect">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809744" y="2464308"/>
            <a:ext cx="658368" cy="146304"/>
          </a:xfrm>
          <a:prstGeom prst="rect">
            <a:avLst/>
          </a:prstGeom>
          <a:noFill/>
        </p:spPr>
        <p:txBody>
          <a:bodyPr wrap="none" lIns="0" tIns="0" rIns="0" bIns="0">
            <a:spAutoFit/>
          </a:bodyPr>
          <a:lstStyle/>
          <a:p>
            <a:pPr algn="ctr"/>
            <a:r>
              <a:rPr sz="630" b="1" i="0">
                <a:solidFill>
                  <a:srgbClr val="FFFFFF"/>
                </a:solidFill>
                <a:latin typeface="Arial"/>
              </a:rPr>
              <a:t>SEPTEMBER</a:t>
            </a:r>
          </a:p>
        </p:txBody>
      </p:sp>
      <p:sp>
        <p:nvSpPr>
          <p:cNvPr id="30" name="TextBox 29"/>
          <p:cNvSpPr txBox="1"/>
          <p:nvPr/>
        </p:nvSpPr>
        <p:spPr>
          <a:xfrm>
            <a:off x="4764024" y="2724912"/>
            <a:ext cx="1627632" cy="201168"/>
          </a:xfrm>
          <a:prstGeom prst="rect">
            <a:avLst/>
          </a:prstGeom>
          <a:noFill/>
        </p:spPr>
        <p:txBody>
          <a:bodyPr wrap="none" lIns="0" tIns="0" rIns="0" bIns="0">
            <a:spAutoFit/>
          </a:bodyPr>
          <a:lstStyle/>
          <a:p>
            <a:r>
              <a:rPr sz="1100" b="1" i="0">
                <a:solidFill>
                  <a:srgbClr val="005088"/>
                </a:solidFill>
                <a:latin typeface="Arial"/>
              </a:rPr>
              <a:t>[MVP Name]</a:t>
            </a:r>
          </a:p>
        </p:txBody>
      </p:sp>
      <p:sp>
        <p:nvSpPr>
          <p:cNvPr id="31" name="TextBox 30"/>
          <p:cNvSpPr txBox="1"/>
          <p:nvPr/>
        </p:nvSpPr>
        <p:spPr>
          <a:xfrm>
            <a:off x="4764024" y="2953512"/>
            <a:ext cx="1627632" cy="164592"/>
          </a:xfrm>
          <a:prstGeom prst="rect">
            <a:avLst/>
          </a:prstGeom>
          <a:noFill/>
        </p:spPr>
        <p:txBody>
          <a:bodyPr wrap="none" lIns="0" tIns="0" rIns="0" bIns="0">
            <a:spAutoFit/>
          </a:bodyPr>
          <a:lstStyle/>
          <a:p>
            <a:r>
              <a:rPr sz="750" b="0" i="0">
                <a:solidFill>
                  <a:srgbClr val="4F667A"/>
                </a:solidFill>
                <a:latin typeface="Arial"/>
              </a:rPr>
              <a:t>[Store]</a:t>
            </a:r>
          </a:p>
        </p:txBody>
      </p:sp>
      <p:sp>
        <p:nvSpPr>
          <p:cNvPr id="32" name="Rounded Rectangle 31"/>
          <p:cNvSpPr/>
          <p:nvPr/>
        </p:nvSpPr>
        <p:spPr>
          <a:xfrm>
            <a:off x="320040" y="3456432"/>
            <a:ext cx="1874519" cy="896112"/>
          </a:xfrm>
          <a:prstGeom prst="roundRect">
            <a:avLst/>
          </a:prstGeom>
          <a:solidFill>
            <a:srgbClr val="EAF5FC"/>
          </a:solidFill>
          <a:ln w="15240">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429768" y="3566160"/>
            <a:ext cx="749808" cy="182880"/>
          </a:xfrm>
          <a:prstGeom prst="roundRect">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75488" y="3589020"/>
            <a:ext cx="658368" cy="146304"/>
          </a:xfrm>
          <a:prstGeom prst="rect">
            <a:avLst/>
          </a:prstGeom>
          <a:noFill/>
        </p:spPr>
        <p:txBody>
          <a:bodyPr wrap="none" lIns="0" tIns="0" rIns="0" bIns="0">
            <a:spAutoFit/>
          </a:bodyPr>
          <a:lstStyle/>
          <a:p>
            <a:pPr algn="ctr"/>
            <a:r>
              <a:rPr sz="630" b="1" i="0">
                <a:solidFill>
                  <a:srgbClr val="FFFFFF"/>
                </a:solidFill>
                <a:latin typeface="Arial"/>
              </a:rPr>
              <a:t>OCTOBER</a:t>
            </a:r>
          </a:p>
        </p:txBody>
      </p:sp>
      <p:sp>
        <p:nvSpPr>
          <p:cNvPr id="35" name="TextBox 34"/>
          <p:cNvSpPr txBox="1"/>
          <p:nvPr/>
        </p:nvSpPr>
        <p:spPr>
          <a:xfrm>
            <a:off x="429768" y="3849624"/>
            <a:ext cx="1627632" cy="201168"/>
          </a:xfrm>
          <a:prstGeom prst="rect">
            <a:avLst/>
          </a:prstGeom>
          <a:noFill/>
        </p:spPr>
        <p:txBody>
          <a:bodyPr wrap="none" lIns="0" tIns="0" rIns="0" bIns="0">
            <a:spAutoFit/>
          </a:bodyPr>
          <a:lstStyle/>
          <a:p>
            <a:r>
              <a:rPr sz="1100" b="1" i="0">
                <a:solidFill>
                  <a:srgbClr val="005088"/>
                </a:solidFill>
                <a:latin typeface="Arial"/>
              </a:rPr>
              <a:t>[MVP Name]</a:t>
            </a:r>
          </a:p>
        </p:txBody>
      </p:sp>
      <p:sp>
        <p:nvSpPr>
          <p:cNvPr id="36" name="TextBox 35"/>
          <p:cNvSpPr txBox="1"/>
          <p:nvPr/>
        </p:nvSpPr>
        <p:spPr>
          <a:xfrm>
            <a:off x="429768" y="4078224"/>
            <a:ext cx="1627632" cy="164592"/>
          </a:xfrm>
          <a:prstGeom prst="rect">
            <a:avLst/>
          </a:prstGeom>
          <a:noFill/>
        </p:spPr>
        <p:txBody>
          <a:bodyPr wrap="none" lIns="0" tIns="0" rIns="0" bIns="0">
            <a:spAutoFit/>
          </a:bodyPr>
          <a:lstStyle/>
          <a:p>
            <a:r>
              <a:rPr sz="750" b="0" i="0">
                <a:solidFill>
                  <a:srgbClr val="4F667A"/>
                </a:solidFill>
                <a:latin typeface="Arial"/>
              </a:rPr>
              <a:t>[Store]</a:t>
            </a:r>
          </a:p>
        </p:txBody>
      </p:sp>
      <p:sp>
        <p:nvSpPr>
          <p:cNvPr id="37" name="Rounded Rectangle 36"/>
          <p:cNvSpPr/>
          <p:nvPr/>
        </p:nvSpPr>
        <p:spPr>
          <a:xfrm>
            <a:off x="2487168" y="3456432"/>
            <a:ext cx="1874519" cy="896112"/>
          </a:xfrm>
          <a:prstGeom prst="roundRect">
            <a:avLst/>
          </a:prstGeom>
          <a:solidFill>
            <a:srgbClr val="EAF5FC"/>
          </a:solidFill>
          <a:ln w="15240">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2596896" y="3566160"/>
            <a:ext cx="749808" cy="182880"/>
          </a:xfrm>
          <a:prstGeom prst="roundRect">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642616" y="3589020"/>
            <a:ext cx="658368" cy="146304"/>
          </a:xfrm>
          <a:prstGeom prst="rect">
            <a:avLst/>
          </a:prstGeom>
          <a:noFill/>
        </p:spPr>
        <p:txBody>
          <a:bodyPr wrap="none" lIns="0" tIns="0" rIns="0" bIns="0">
            <a:spAutoFit/>
          </a:bodyPr>
          <a:lstStyle/>
          <a:p>
            <a:pPr algn="ctr"/>
            <a:r>
              <a:rPr sz="630" b="1" i="0">
                <a:solidFill>
                  <a:srgbClr val="FFFFFF"/>
                </a:solidFill>
                <a:latin typeface="Arial"/>
              </a:rPr>
              <a:t>NOVEMBER</a:t>
            </a:r>
          </a:p>
        </p:txBody>
      </p:sp>
      <p:sp>
        <p:nvSpPr>
          <p:cNvPr id="40" name="TextBox 39"/>
          <p:cNvSpPr txBox="1"/>
          <p:nvPr/>
        </p:nvSpPr>
        <p:spPr>
          <a:xfrm>
            <a:off x="2596896" y="3849624"/>
            <a:ext cx="1627632" cy="201168"/>
          </a:xfrm>
          <a:prstGeom prst="rect">
            <a:avLst/>
          </a:prstGeom>
          <a:noFill/>
        </p:spPr>
        <p:txBody>
          <a:bodyPr wrap="none" lIns="0" tIns="0" rIns="0" bIns="0">
            <a:spAutoFit/>
          </a:bodyPr>
          <a:lstStyle/>
          <a:p>
            <a:r>
              <a:rPr sz="1100" b="1" i="0">
                <a:solidFill>
                  <a:srgbClr val="005088"/>
                </a:solidFill>
                <a:latin typeface="Arial"/>
              </a:rPr>
              <a:t>[MVP Name]</a:t>
            </a:r>
          </a:p>
        </p:txBody>
      </p:sp>
      <p:sp>
        <p:nvSpPr>
          <p:cNvPr id="41" name="TextBox 40"/>
          <p:cNvSpPr txBox="1"/>
          <p:nvPr/>
        </p:nvSpPr>
        <p:spPr>
          <a:xfrm>
            <a:off x="2596896" y="4078224"/>
            <a:ext cx="1627632" cy="164592"/>
          </a:xfrm>
          <a:prstGeom prst="rect">
            <a:avLst/>
          </a:prstGeom>
          <a:noFill/>
        </p:spPr>
        <p:txBody>
          <a:bodyPr wrap="none" lIns="0" tIns="0" rIns="0" bIns="0">
            <a:spAutoFit/>
          </a:bodyPr>
          <a:lstStyle/>
          <a:p>
            <a:r>
              <a:rPr sz="750" b="0" i="0">
                <a:solidFill>
                  <a:srgbClr val="4F667A"/>
                </a:solidFill>
                <a:latin typeface="Arial"/>
              </a:rPr>
              <a:t>[Store]</a:t>
            </a:r>
          </a:p>
        </p:txBody>
      </p:sp>
      <p:sp>
        <p:nvSpPr>
          <p:cNvPr id="42" name="Rounded Rectangle 41"/>
          <p:cNvSpPr/>
          <p:nvPr/>
        </p:nvSpPr>
        <p:spPr>
          <a:xfrm>
            <a:off x="4654296" y="3456432"/>
            <a:ext cx="1874519" cy="896112"/>
          </a:xfrm>
          <a:prstGeom prst="roundRect">
            <a:avLst/>
          </a:prstGeom>
          <a:solidFill>
            <a:srgbClr val="EAF5FC"/>
          </a:solidFill>
          <a:ln w="15240">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4764024" y="3566160"/>
            <a:ext cx="749808" cy="182880"/>
          </a:xfrm>
          <a:prstGeom prst="roundRect">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809744" y="3589020"/>
            <a:ext cx="658368" cy="146304"/>
          </a:xfrm>
          <a:prstGeom prst="rect">
            <a:avLst/>
          </a:prstGeom>
          <a:noFill/>
        </p:spPr>
        <p:txBody>
          <a:bodyPr wrap="none" lIns="0" tIns="0" rIns="0" bIns="0">
            <a:spAutoFit/>
          </a:bodyPr>
          <a:lstStyle/>
          <a:p>
            <a:pPr algn="ctr"/>
            <a:r>
              <a:rPr sz="630" b="1" i="0">
                <a:solidFill>
                  <a:srgbClr val="FFFFFF"/>
                </a:solidFill>
                <a:latin typeface="Arial"/>
              </a:rPr>
              <a:t>DECEMBER</a:t>
            </a:r>
          </a:p>
        </p:txBody>
      </p:sp>
      <p:sp>
        <p:nvSpPr>
          <p:cNvPr id="45" name="TextBox 44"/>
          <p:cNvSpPr txBox="1"/>
          <p:nvPr/>
        </p:nvSpPr>
        <p:spPr>
          <a:xfrm>
            <a:off x="4764024" y="3849624"/>
            <a:ext cx="1627632" cy="201168"/>
          </a:xfrm>
          <a:prstGeom prst="rect">
            <a:avLst/>
          </a:prstGeom>
          <a:noFill/>
        </p:spPr>
        <p:txBody>
          <a:bodyPr wrap="none" lIns="0" tIns="0" rIns="0" bIns="0">
            <a:spAutoFit/>
          </a:bodyPr>
          <a:lstStyle/>
          <a:p>
            <a:r>
              <a:rPr sz="1100" b="1" i="0">
                <a:solidFill>
                  <a:srgbClr val="005088"/>
                </a:solidFill>
                <a:latin typeface="Arial"/>
              </a:rPr>
              <a:t>[MVP Name]</a:t>
            </a:r>
          </a:p>
        </p:txBody>
      </p:sp>
      <p:sp>
        <p:nvSpPr>
          <p:cNvPr id="46" name="TextBox 45"/>
          <p:cNvSpPr txBox="1"/>
          <p:nvPr/>
        </p:nvSpPr>
        <p:spPr>
          <a:xfrm>
            <a:off x="4764024" y="4078224"/>
            <a:ext cx="1627632" cy="164592"/>
          </a:xfrm>
          <a:prstGeom prst="rect">
            <a:avLst/>
          </a:prstGeom>
          <a:noFill/>
        </p:spPr>
        <p:txBody>
          <a:bodyPr wrap="none" lIns="0" tIns="0" rIns="0" bIns="0">
            <a:spAutoFit/>
          </a:bodyPr>
          <a:lstStyle/>
          <a:p>
            <a:r>
              <a:rPr sz="750" b="0" i="0">
                <a:solidFill>
                  <a:srgbClr val="4F667A"/>
                </a:solidFill>
                <a:latin typeface="Arial"/>
              </a:rPr>
              <a:t>[Store]</a:t>
            </a:r>
          </a:p>
        </p:txBody>
      </p:sp>
      <p:sp>
        <p:nvSpPr>
          <p:cNvPr id="47" name="Rounded Rectangle 46"/>
          <p:cNvSpPr/>
          <p:nvPr/>
        </p:nvSpPr>
        <p:spPr>
          <a:xfrm>
            <a:off x="320040" y="4581144"/>
            <a:ext cx="1874519" cy="896112"/>
          </a:xfrm>
          <a:prstGeom prst="roundRect">
            <a:avLst/>
          </a:prstGeom>
          <a:solidFill>
            <a:srgbClr val="EAF5FC"/>
          </a:solidFill>
          <a:ln w="15240">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429768" y="4690872"/>
            <a:ext cx="749808" cy="182880"/>
          </a:xfrm>
          <a:prstGeom prst="roundRect">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75488" y="4713731"/>
            <a:ext cx="658368" cy="146304"/>
          </a:xfrm>
          <a:prstGeom prst="rect">
            <a:avLst/>
          </a:prstGeom>
          <a:noFill/>
        </p:spPr>
        <p:txBody>
          <a:bodyPr wrap="none" lIns="0" tIns="0" rIns="0" bIns="0">
            <a:spAutoFit/>
          </a:bodyPr>
          <a:lstStyle/>
          <a:p>
            <a:pPr algn="ctr"/>
            <a:r>
              <a:rPr sz="630" b="1" i="0">
                <a:solidFill>
                  <a:srgbClr val="FFFFFF"/>
                </a:solidFill>
                <a:latin typeface="Arial"/>
              </a:rPr>
              <a:t>JANUARY</a:t>
            </a:r>
          </a:p>
        </p:txBody>
      </p:sp>
      <p:sp>
        <p:nvSpPr>
          <p:cNvPr id="50" name="TextBox 49"/>
          <p:cNvSpPr txBox="1"/>
          <p:nvPr/>
        </p:nvSpPr>
        <p:spPr>
          <a:xfrm>
            <a:off x="429768" y="4974336"/>
            <a:ext cx="1627632" cy="201168"/>
          </a:xfrm>
          <a:prstGeom prst="rect">
            <a:avLst/>
          </a:prstGeom>
          <a:noFill/>
        </p:spPr>
        <p:txBody>
          <a:bodyPr wrap="none" lIns="0" tIns="0" rIns="0" bIns="0">
            <a:spAutoFit/>
          </a:bodyPr>
          <a:lstStyle/>
          <a:p>
            <a:r>
              <a:rPr sz="1100" b="1" i="0">
                <a:solidFill>
                  <a:srgbClr val="005088"/>
                </a:solidFill>
                <a:latin typeface="Arial"/>
              </a:rPr>
              <a:t>[MVP Name]</a:t>
            </a:r>
          </a:p>
        </p:txBody>
      </p:sp>
      <p:sp>
        <p:nvSpPr>
          <p:cNvPr id="51" name="TextBox 50"/>
          <p:cNvSpPr txBox="1"/>
          <p:nvPr/>
        </p:nvSpPr>
        <p:spPr>
          <a:xfrm>
            <a:off x="429768" y="5202936"/>
            <a:ext cx="1627632" cy="164592"/>
          </a:xfrm>
          <a:prstGeom prst="rect">
            <a:avLst/>
          </a:prstGeom>
          <a:noFill/>
        </p:spPr>
        <p:txBody>
          <a:bodyPr wrap="none" lIns="0" tIns="0" rIns="0" bIns="0">
            <a:spAutoFit/>
          </a:bodyPr>
          <a:lstStyle/>
          <a:p>
            <a:r>
              <a:rPr sz="750" b="0" i="0">
                <a:solidFill>
                  <a:srgbClr val="4F667A"/>
                </a:solidFill>
                <a:latin typeface="Arial"/>
              </a:rPr>
              <a:t>[Store]</a:t>
            </a:r>
          </a:p>
        </p:txBody>
      </p:sp>
      <p:sp>
        <p:nvSpPr>
          <p:cNvPr id="52" name="Rounded Rectangle 51"/>
          <p:cNvSpPr/>
          <p:nvPr/>
        </p:nvSpPr>
        <p:spPr>
          <a:xfrm>
            <a:off x="2487168" y="4581144"/>
            <a:ext cx="1874519" cy="896112"/>
          </a:xfrm>
          <a:prstGeom prst="roundRect">
            <a:avLst/>
          </a:prstGeom>
          <a:solidFill>
            <a:srgbClr val="EAF5FC"/>
          </a:solidFill>
          <a:ln w="15240">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ounded Rectangle 52"/>
          <p:cNvSpPr/>
          <p:nvPr/>
        </p:nvSpPr>
        <p:spPr>
          <a:xfrm>
            <a:off x="2596896" y="4690872"/>
            <a:ext cx="749808" cy="182880"/>
          </a:xfrm>
          <a:prstGeom prst="roundRect">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2642616" y="4713731"/>
            <a:ext cx="658368" cy="146304"/>
          </a:xfrm>
          <a:prstGeom prst="rect">
            <a:avLst/>
          </a:prstGeom>
          <a:noFill/>
        </p:spPr>
        <p:txBody>
          <a:bodyPr wrap="none" lIns="0" tIns="0" rIns="0" bIns="0">
            <a:spAutoFit/>
          </a:bodyPr>
          <a:lstStyle/>
          <a:p>
            <a:pPr algn="ctr"/>
            <a:r>
              <a:rPr sz="630" b="1" i="0">
                <a:solidFill>
                  <a:srgbClr val="FFFFFF"/>
                </a:solidFill>
                <a:latin typeface="Arial"/>
              </a:rPr>
              <a:t>FEBRUARY</a:t>
            </a:r>
          </a:p>
        </p:txBody>
      </p:sp>
      <p:sp>
        <p:nvSpPr>
          <p:cNvPr id="55" name="TextBox 54"/>
          <p:cNvSpPr txBox="1"/>
          <p:nvPr/>
        </p:nvSpPr>
        <p:spPr>
          <a:xfrm>
            <a:off x="2596896" y="4974336"/>
            <a:ext cx="1627632" cy="201168"/>
          </a:xfrm>
          <a:prstGeom prst="rect">
            <a:avLst/>
          </a:prstGeom>
          <a:noFill/>
        </p:spPr>
        <p:txBody>
          <a:bodyPr wrap="none" lIns="0" tIns="0" rIns="0" bIns="0">
            <a:spAutoFit/>
          </a:bodyPr>
          <a:lstStyle/>
          <a:p>
            <a:r>
              <a:rPr sz="1100" b="1" i="0">
                <a:solidFill>
                  <a:srgbClr val="005088"/>
                </a:solidFill>
                <a:latin typeface="Arial"/>
              </a:rPr>
              <a:t>[MVP Name]</a:t>
            </a:r>
          </a:p>
        </p:txBody>
      </p:sp>
      <p:sp>
        <p:nvSpPr>
          <p:cNvPr id="56" name="TextBox 55"/>
          <p:cNvSpPr txBox="1"/>
          <p:nvPr/>
        </p:nvSpPr>
        <p:spPr>
          <a:xfrm>
            <a:off x="2596896" y="5202936"/>
            <a:ext cx="1627632" cy="164592"/>
          </a:xfrm>
          <a:prstGeom prst="rect">
            <a:avLst/>
          </a:prstGeom>
          <a:noFill/>
        </p:spPr>
        <p:txBody>
          <a:bodyPr wrap="none" lIns="0" tIns="0" rIns="0" bIns="0">
            <a:spAutoFit/>
          </a:bodyPr>
          <a:lstStyle/>
          <a:p>
            <a:r>
              <a:rPr sz="750" b="0" i="0">
                <a:solidFill>
                  <a:srgbClr val="4F667A"/>
                </a:solidFill>
                <a:latin typeface="Arial"/>
              </a:rPr>
              <a:t>[Store]</a:t>
            </a:r>
          </a:p>
        </p:txBody>
      </p:sp>
      <p:sp>
        <p:nvSpPr>
          <p:cNvPr id="57" name="Rounded Rectangle 56"/>
          <p:cNvSpPr/>
          <p:nvPr/>
        </p:nvSpPr>
        <p:spPr>
          <a:xfrm>
            <a:off x="4654296" y="4581144"/>
            <a:ext cx="1874519" cy="896112"/>
          </a:xfrm>
          <a:prstGeom prst="roundRect">
            <a:avLst/>
          </a:prstGeom>
          <a:solidFill>
            <a:srgbClr val="EAF5FC"/>
          </a:solidFill>
          <a:ln w="15240">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ounded Rectangle 57"/>
          <p:cNvSpPr/>
          <p:nvPr/>
        </p:nvSpPr>
        <p:spPr>
          <a:xfrm>
            <a:off x="4764024" y="4690872"/>
            <a:ext cx="749808" cy="182880"/>
          </a:xfrm>
          <a:prstGeom prst="roundRect">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4809744" y="4713731"/>
            <a:ext cx="658368" cy="146304"/>
          </a:xfrm>
          <a:prstGeom prst="rect">
            <a:avLst/>
          </a:prstGeom>
          <a:noFill/>
        </p:spPr>
        <p:txBody>
          <a:bodyPr wrap="none" lIns="0" tIns="0" rIns="0" bIns="0">
            <a:spAutoFit/>
          </a:bodyPr>
          <a:lstStyle/>
          <a:p>
            <a:pPr algn="ctr"/>
            <a:r>
              <a:rPr sz="630" b="1" i="0">
                <a:solidFill>
                  <a:srgbClr val="FFFFFF"/>
                </a:solidFill>
                <a:latin typeface="Arial"/>
              </a:rPr>
              <a:t>MARCH</a:t>
            </a:r>
          </a:p>
        </p:txBody>
      </p:sp>
      <p:sp>
        <p:nvSpPr>
          <p:cNvPr id="60" name="TextBox 59"/>
          <p:cNvSpPr txBox="1"/>
          <p:nvPr/>
        </p:nvSpPr>
        <p:spPr>
          <a:xfrm>
            <a:off x="4764024" y="4974336"/>
            <a:ext cx="1627632" cy="201168"/>
          </a:xfrm>
          <a:prstGeom prst="rect">
            <a:avLst/>
          </a:prstGeom>
          <a:noFill/>
        </p:spPr>
        <p:txBody>
          <a:bodyPr wrap="none" lIns="0" tIns="0" rIns="0" bIns="0">
            <a:spAutoFit/>
          </a:bodyPr>
          <a:lstStyle/>
          <a:p>
            <a:r>
              <a:rPr sz="1100" b="1" i="0">
                <a:solidFill>
                  <a:srgbClr val="005088"/>
                </a:solidFill>
                <a:latin typeface="Arial"/>
              </a:rPr>
              <a:t>[MVP Name]</a:t>
            </a:r>
          </a:p>
        </p:txBody>
      </p:sp>
      <p:sp>
        <p:nvSpPr>
          <p:cNvPr id="61" name="TextBox 60"/>
          <p:cNvSpPr txBox="1"/>
          <p:nvPr/>
        </p:nvSpPr>
        <p:spPr>
          <a:xfrm>
            <a:off x="4764024" y="5202936"/>
            <a:ext cx="1627632" cy="164592"/>
          </a:xfrm>
          <a:prstGeom prst="rect">
            <a:avLst/>
          </a:prstGeom>
          <a:noFill/>
        </p:spPr>
        <p:txBody>
          <a:bodyPr wrap="none" lIns="0" tIns="0" rIns="0" bIns="0">
            <a:spAutoFit/>
          </a:bodyPr>
          <a:lstStyle/>
          <a:p>
            <a:r>
              <a:rPr sz="750" b="0" i="0">
                <a:solidFill>
                  <a:srgbClr val="4F667A"/>
                </a:solidFill>
                <a:latin typeface="Arial"/>
              </a:rPr>
              <a:t>[Store]</a:t>
            </a:r>
          </a:p>
        </p:txBody>
      </p:sp>
      <p:sp>
        <p:nvSpPr>
          <p:cNvPr id="62" name="Rounded Rectangle 61"/>
          <p:cNvSpPr/>
          <p:nvPr/>
        </p:nvSpPr>
        <p:spPr>
          <a:xfrm>
            <a:off x="320040" y="5705856"/>
            <a:ext cx="1874519" cy="896112"/>
          </a:xfrm>
          <a:prstGeom prst="roundRect">
            <a:avLst/>
          </a:prstGeom>
          <a:solidFill>
            <a:srgbClr val="EAF5FC"/>
          </a:solidFill>
          <a:ln w="15240">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ounded Rectangle 62"/>
          <p:cNvSpPr/>
          <p:nvPr/>
        </p:nvSpPr>
        <p:spPr>
          <a:xfrm>
            <a:off x="429768" y="5815584"/>
            <a:ext cx="749808" cy="182880"/>
          </a:xfrm>
          <a:prstGeom prst="roundRect">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475488" y="5838444"/>
            <a:ext cx="658368" cy="146304"/>
          </a:xfrm>
          <a:prstGeom prst="rect">
            <a:avLst/>
          </a:prstGeom>
          <a:noFill/>
        </p:spPr>
        <p:txBody>
          <a:bodyPr wrap="none" lIns="0" tIns="0" rIns="0" bIns="0">
            <a:spAutoFit/>
          </a:bodyPr>
          <a:lstStyle/>
          <a:p>
            <a:pPr algn="ctr"/>
            <a:r>
              <a:rPr sz="630" b="1" i="0">
                <a:solidFill>
                  <a:srgbClr val="FFFFFF"/>
                </a:solidFill>
                <a:latin typeface="Arial"/>
              </a:rPr>
              <a:t>APRIL</a:t>
            </a:r>
          </a:p>
        </p:txBody>
      </p:sp>
      <p:sp>
        <p:nvSpPr>
          <p:cNvPr id="65" name="TextBox 64"/>
          <p:cNvSpPr txBox="1"/>
          <p:nvPr/>
        </p:nvSpPr>
        <p:spPr>
          <a:xfrm>
            <a:off x="429768" y="6099048"/>
            <a:ext cx="1627632" cy="201168"/>
          </a:xfrm>
          <a:prstGeom prst="rect">
            <a:avLst/>
          </a:prstGeom>
          <a:noFill/>
        </p:spPr>
        <p:txBody>
          <a:bodyPr wrap="none" lIns="0" tIns="0" rIns="0" bIns="0">
            <a:spAutoFit/>
          </a:bodyPr>
          <a:lstStyle/>
          <a:p>
            <a:r>
              <a:rPr sz="1100" b="1" i="0">
                <a:solidFill>
                  <a:srgbClr val="005088"/>
                </a:solidFill>
                <a:latin typeface="Arial"/>
              </a:rPr>
              <a:t>[MVP Name]</a:t>
            </a:r>
          </a:p>
        </p:txBody>
      </p:sp>
      <p:sp>
        <p:nvSpPr>
          <p:cNvPr id="66" name="TextBox 65"/>
          <p:cNvSpPr txBox="1"/>
          <p:nvPr/>
        </p:nvSpPr>
        <p:spPr>
          <a:xfrm>
            <a:off x="429768" y="6327648"/>
            <a:ext cx="1627632" cy="164592"/>
          </a:xfrm>
          <a:prstGeom prst="rect">
            <a:avLst/>
          </a:prstGeom>
          <a:noFill/>
        </p:spPr>
        <p:txBody>
          <a:bodyPr wrap="none" lIns="0" tIns="0" rIns="0" bIns="0">
            <a:spAutoFit/>
          </a:bodyPr>
          <a:lstStyle/>
          <a:p>
            <a:r>
              <a:rPr sz="750" b="0" i="0">
                <a:solidFill>
                  <a:srgbClr val="4F667A"/>
                </a:solidFill>
                <a:latin typeface="Arial"/>
              </a:rPr>
              <a:t>[Store]</a:t>
            </a:r>
          </a:p>
        </p:txBody>
      </p:sp>
      <p:sp>
        <p:nvSpPr>
          <p:cNvPr id="67" name="Rounded Rectangle 66"/>
          <p:cNvSpPr/>
          <p:nvPr/>
        </p:nvSpPr>
        <p:spPr>
          <a:xfrm>
            <a:off x="2487168" y="5705856"/>
            <a:ext cx="1874519" cy="896112"/>
          </a:xfrm>
          <a:prstGeom prst="roundRect">
            <a:avLst/>
          </a:prstGeom>
          <a:solidFill>
            <a:srgbClr val="EAF5FC"/>
          </a:solidFill>
          <a:ln w="15240">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ounded Rectangle 67"/>
          <p:cNvSpPr/>
          <p:nvPr/>
        </p:nvSpPr>
        <p:spPr>
          <a:xfrm>
            <a:off x="2596896" y="5815584"/>
            <a:ext cx="749808" cy="182880"/>
          </a:xfrm>
          <a:prstGeom prst="roundRect">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2642616" y="5838444"/>
            <a:ext cx="658368" cy="146304"/>
          </a:xfrm>
          <a:prstGeom prst="rect">
            <a:avLst/>
          </a:prstGeom>
          <a:noFill/>
        </p:spPr>
        <p:txBody>
          <a:bodyPr wrap="none" lIns="0" tIns="0" rIns="0" bIns="0">
            <a:spAutoFit/>
          </a:bodyPr>
          <a:lstStyle/>
          <a:p>
            <a:pPr algn="ctr"/>
            <a:r>
              <a:rPr sz="630" b="1" i="0">
                <a:solidFill>
                  <a:srgbClr val="FFFFFF"/>
                </a:solidFill>
                <a:latin typeface="Arial"/>
              </a:rPr>
              <a:t>MAY</a:t>
            </a:r>
          </a:p>
        </p:txBody>
      </p:sp>
      <p:sp>
        <p:nvSpPr>
          <p:cNvPr id="70" name="TextBox 69"/>
          <p:cNvSpPr txBox="1"/>
          <p:nvPr/>
        </p:nvSpPr>
        <p:spPr>
          <a:xfrm>
            <a:off x="2596896" y="6099048"/>
            <a:ext cx="1627632" cy="201168"/>
          </a:xfrm>
          <a:prstGeom prst="rect">
            <a:avLst/>
          </a:prstGeom>
          <a:noFill/>
        </p:spPr>
        <p:txBody>
          <a:bodyPr wrap="none" lIns="0" tIns="0" rIns="0" bIns="0">
            <a:spAutoFit/>
          </a:bodyPr>
          <a:lstStyle/>
          <a:p>
            <a:r>
              <a:rPr sz="1100" b="1" i="0">
                <a:solidFill>
                  <a:srgbClr val="005088"/>
                </a:solidFill>
                <a:latin typeface="Arial"/>
              </a:rPr>
              <a:t>[MVP Name]</a:t>
            </a:r>
          </a:p>
        </p:txBody>
      </p:sp>
      <p:sp>
        <p:nvSpPr>
          <p:cNvPr id="71" name="TextBox 70"/>
          <p:cNvSpPr txBox="1"/>
          <p:nvPr/>
        </p:nvSpPr>
        <p:spPr>
          <a:xfrm>
            <a:off x="2596896" y="6327648"/>
            <a:ext cx="1627632" cy="164592"/>
          </a:xfrm>
          <a:prstGeom prst="rect">
            <a:avLst/>
          </a:prstGeom>
          <a:noFill/>
        </p:spPr>
        <p:txBody>
          <a:bodyPr wrap="none" lIns="0" tIns="0" rIns="0" bIns="0">
            <a:spAutoFit/>
          </a:bodyPr>
          <a:lstStyle/>
          <a:p>
            <a:r>
              <a:rPr sz="750" b="0" i="0">
                <a:solidFill>
                  <a:srgbClr val="4F667A"/>
                </a:solidFill>
                <a:latin typeface="Arial"/>
              </a:rPr>
              <a:t>[Store]</a:t>
            </a:r>
          </a:p>
        </p:txBody>
      </p:sp>
      <p:sp>
        <p:nvSpPr>
          <p:cNvPr id="72" name="Rounded Rectangle 71"/>
          <p:cNvSpPr/>
          <p:nvPr/>
        </p:nvSpPr>
        <p:spPr>
          <a:xfrm>
            <a:off x="4654296" y="5705856"/>
            <a:ext cx="1874519" cy="896112"/>
          </a:xfrm>
          <a:prstGeom prst="roundRect">
            <a:avLst/>
          </a:prstGeom>
          <a:solidFill>
            <a:srgbClr val="EAF5FC"/>
          </a:solidFill>
          <a:ln w="15240">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ounded Rectangle 72"/>
          <p:cNvSpPr/>
          <p:nvPr/>
        </p:nvSpPr>
        <p:spPr>
          <a:xfrm>
            <a:off x="4764024" y="5815584"/>
            <a:ext cx="749808" cy="182880"/>
          </a:xfrm>
          <a:prstGeom prst="roundRect">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4809744" y="5838444"/>
            <a:ext cx="658368" cy="146304"/>
          </a:xfrm>
          <a:prstGeom prst="rect">
            <a:avLst/>
          </a:prstGeom>
          <a:noFill/>
        </p:spPr>
        <p:txBody>
          <a:bodyPr wrap="none" lIns="0" tIns="0" rIns="0" bIns="0">
            <a:spAutoFit/>
          </a:bodyPr>
          <a:lstStyle/>
          <a:p>
            <a:pPr algn="ctr"/>
            <a:r>
              <a:rPr sz="630" b="1" i="0">
                <a:solidFill>
                  <a:srgbClr val="FFFFFF"/>
                </a:solidFill>
                <a:latin typeface="Arial"/>
              </a:rPr>
              <a:t>JUNE</a:t>
            </a:r>
          </a:p>
        </p:txBody>
      </p:sp>
      <p:sp>
        <p:nvSpPr>
          <p:cNvPr id="75" name="TextBox 74"/>
          <p:cNvSpPr txBox="1"/>
          <p:nvPr/>
        </p:nvSpPr>
        <p:spPr>
          <a:xfrm>
            <a:off x="4764024" y="6099048"/>
            <a:ext cx="1627632" cy="201168"/>
          </a:xfrm>
          <a:prstGeom prst="rect">
            <a:avLst/>
          </a:prstGeom>
          <a:noFill/>
        </p:spPr>
        <p:txBody>
          <a:bodyPr wrap="none" lIns="0" tIns="0" rIns="0" bIns="0">
            <a:spAutoFit/>
          </a:bodyPr>
          <a:lstStyle/>
          <a:p>
            <a:r>
              <a:rPr sz="1100" b="1" i="0">
                <a:solidFill>
                  <a:srgbClr val="005088"/>
                </a:solidFill>
                <a:latin typeface="Arial"/>
              </a:rPr>
              <a:t>[MVP Name]</a:t>
            </a:r>
          </a:p>
        </p:txBody>
      </p:sp>
      <p:sp>
        <p:nvSpPr>
          <p:cNvPr id="76" name="TextBox 75"/>
          <p:cNvSpPr txBox="1"/>
          <p:nvPr/>
        </p:nvSpPr>
        <p:spPr>
          <a:xfrm>
            <a:off x="4764024" y="6327648"/>
            <a:ext cx="1627632" cy="164592"/>
          </a:xfrm>
          <a:prstGeom prst="rect">
            <a:avLst/>
          </a:prstGeom>
          <a:noFill/>
        </p:spPr>
        <p:txBody>
          <a:bodyPr wrap="none" lIns="0" tIns="0" rIns="0" bIns="0">
            <a:spAutoFit/>
          </a:bodyPr>
          <a:lstStyle/>
          <a:p>
            <a:r>
              <a:rPr sz="750" b="0" i="0">
                <a:solidFill>
                  <a:srgbClr val="4F667A"/>
                </a:solidFill>
                <a:latin typeface="Arial"/>
              </a:rPr>
              <a:t>[Store]</a:t>
            </a:r>
          </a:p>
        </p:txBody>
      </p:sp>
      <p:sp>
        <p:nvSpPr>
          <p:cNvPr id="77" name="Rounded Rectangle 76"/>
          <p:cNvSpPr/>
          <p:nvPr/>
        </p:nvSpPr>
        <p:spPr>
          <a:xfrm>
            <a:off x="594360" y="7086600"/>
            <a:ext cx="5669280" cy="868680"/>
          </a:xfrm>
          <a:prstGeom prst="roundRect">
            <a:avLst/>
          </a:prstGeom>
          <a:solidFill>
            <a:srgbClr val="005088"/>
          </a:solidFill>
          <a:ln w="15240">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841248" y="7260336"/>
            <a:ext cx="5212080" cy="237744"/>
          </a:xfrm>
          <a:prstGeom prst="rect">
            <a:avLst/>
          </a:prstGeom>
          <a:noFill/>
        </p:spPr>
        <p:txBody>
          <a:bodyPr wrap="none" lIns="0" tIns="0" rIns="0" bIns="0">
            <a:spAutoFit/>
          </a:bodyPr>
          <a:lstStyle/>
          <a:p>
            <a:pPr algn="ctr"/>
            <a:r>
              <a:rPr sz="1300" b="1" i="0">
                <a:solidFill>
                  <a:srgbClr val="FFFFFF"/>
                </a:solidFill>
                <a:latin typeface="Cambria"/>
              </a:rPr>
              <a:t>PINNACLE TEAM MEMBER OF THE YEAR  •  FY26</a:t>
            </a:r>
          </a:p>
        </p:txBody>
      </p:sp>
      <p:sp>
        <p:nvSpPr>
          <p:cNvPr id="79" name="TextBox 78"/>
          <p:cNvSpPr txBox="1"/>
          <p:nvPr/>
        </p:nvSpPr>
        <p:spPr>
          <a:xfrm>
            <a:off x="868680" y="7571231"/>
            <a:ext cx="5120640" cy="256032"/>
          </a:xfrm>
          <a:prstGeom prst="rect">
            <a:avLst/>
          </a:prstGeom>
          <a:noFill/>
        </p:spPr>
        <p:txBody>
          <a:bodyPr wrap="none" lIns="0" tIns="0" rIns="0" bIns="0">
            <a:spAutoFit/>
          </a:bodyPr>
          <a:lstStyle/>
          <a:p>
            <a:pPr algn="ctr"/>
            <a:r>
              <a:rPr sz="900" b="0" i="1">
                <a:solidFill>
                  <a:srgbClr val="FFFFFF"/>
                </a:solidFill>
                <a:latin typeface="Arial"/>
              </a:rPr>
              <a:t>Selected from the 12 monthly MVPs and announced at the end of June.</a:t>
            </a:r>
          </a:p>
        </p:txBody>
      </p:sp>
      <p:sp>
        <p:nvSpPr>
          <p:cNvPr id="80" name="Rounded Rectangle 79"/>
          <p:cNvSpPr/>
          <p:nvPr/>
        </p:nvSpPr>
        <p:spPr>
          <a:xfrm>
            <a:off x="3532903" y="2404872"/>
            <a:ext cx="712318" cy="745236"/>
          </a:xfrm>
          <a:prstGeom prst="roundRect">
            <a:avLst/>
          </a:prstGeom>
          <a:solidFill>
            <a:srgbClr val="FFFFFF"/>
          </a:solidFill>
          <a:ln w="13970">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Rounded Rectangle 81">
            <a:extLst>
              <a:ext uri="{FF2B5EF4-FFF2-40B4-BE49-F238E27FC236}">
                <a16:creationId xmlns:a16="http://schemas.microsoft.com/office/drawing/2014/main" id="{BED5BA36-412F-7EF2-9357-4E0BA79A942A}"/>
              </a:ext>
            </a:extLst>
          </p:cNvPr>
          <p:cNvSpPr/>
          <p:nvPr/>
        </p:nvSpPr>
        <p:spPr>
          <a:xfrm>
            <a:off x="1382115" y="2398014"/>
            <a:ext cx="712318" cy="745236"/>
          </a:xfrm>
          <a:prstGeom prst="roundRect">
            <a:avLst/>
          </a:prstGeom>
          <a:solidFill>
            <a:srgbClr val="FFFFFF"/>
          </a:solidFill>
          <a:ln w="13970">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1146</Words>
  <Application>Microsoft Macintosh PowerPoint</Application>
  <PresentationFormat>On-screen Show (4:3)</PresentationFormat>
  <Paragraphs>195</Paragraphs>
  <Slides>5</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PHG Pinnacle Pulse</dc:title>
  <dc:subject>PptxGenJS Presentation</dc:subject>
  <dc:creator>PptxGenJS</dc:creator>
  <cp:lastModifiedBy>Ash Hanley</cp:lastModifiedBy>
  <cp:revision>10</cp:revision>
  <dcterms:created xsi:type="dcterms:W3CDTF">2026-06-19T01:16:22Z</dcterms:created>
  <dcterms:modified xsi:type="dcterms:W3CDTF">2026-07-28T10:31:07Z</dcterms:modified>
</cp:coreProperties>
</file>